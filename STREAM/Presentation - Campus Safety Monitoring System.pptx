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nva Sans" panose="020B0604020202020204" charset="0"/>
      <p:regular r:id="rId13"/>
    </p:embeddedFont>
    <p:embeddedFont>
      <p:font typeface="Canva Sans Bold" panose="020B0604020202020204" charset="0"/>
      <p:regular r:id="rId14"/>
    </p:embeddedFont>
    <p:embeddedFont>
      <p:font typeface="Lekton" panose="020B0604020202020204" charset="0"/>
      <p:regular r:id="rId15"/>
    </p:embeddedFont>
    <p:embeddedFont>
      <p:font typeface="Lekton Bold" panose="020B0604020202020204" charset="0"/>
      <p:regular r:id="rId16"/>
    </p:embeddedFont>
    <p:embeddedFont>
      <p:font typeface="Roboto Mono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1092"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latsi Malise Mashilo" userId="d182f47a-1742-4aad-afcd-5fcfe6d53da5" providerId="ADAL" clId="{EF2C793C-3817-480E-8C69-13C9B8AF2F77}"/>
    <pc:docChg chg="modSld">
      <pc:chgData name="Mahlatsi Malise Mashilo" userId="d182f47a-1742-4aad-afcd-5fcfe6d53da5" providerId="ADAL" clId="{EF2C793C-3817-480E-8C69-13C9B8AF2F77}" dt="2025-10-13T13:17:50.093" v="10" actId="20577"/>
      <pc:docMkLst>
        <pc:docMk/>
      </pc:docMkLst>
      <pc:sldChg chg="modSp mod">
        <pc:chgData name="Mahlatsi Malise Mashilo" userId="d182f47a-1742-4aad-afcd-5fcfe6d53da5" providerId="ADAL" clId="{EF2C793C-3817-480E-8C69-13C9B8AF2F77}" dt="2025-10-13T13:17:50.093" v="10" actId="20577"/>
        <pc:sldMkLst>
          <pc:docMk/>
          <pc:sldMk cId="0" sldId="257"/>
        </pc:sldMkLst>
        <pc:spChg chg="mod">
          <ac:chgData name="Mahlatsi Malise Mashilo" userId="d182f47a-1742-4aad-afcd-5fcfe6d53da5" providerId="ADAL" clId="{EF2C793C-3817-480E-8C69-13C9B8AF2F77}" dt="2025-10-13T13:17:50.093" v="10" actId="20577"/>
          <ac:spMkLst>
            <pc:docMk/>
            <pc:sldMk cId="0" sldId="257"/>
            <ac:spMk id="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23C377-5360-4AAA-A10C-2E02D90C744A}" type="datetimeFigureOut">
              <a:rPr lang="en-ZA" smtClean="0"/>
              <a:t>2025/10/13</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3AF05-1602-4172-8F55-BF79282E40C7}" type="slidenum">
              <a:rPr lang="en-ZA" smtClean="0"/>
              <a:t>‹#›</a:t>
            </a:fld>
            <a:endParaRPr lang="en-ZA"/>
          </a:p>
        </p:txBody>
      </p:sp>
    </p:spTree>
    <p:extLst>
      <p:ext uri="{BB962C8B-B14F-4D97-AF65-F5344CB8AC3E}">
        <p14:creationId xmlns:p14="http://schemas.microsoft.com/office/powerpoint/2010/main" val="2625076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A873AF05-1602-4172-8F55-BF79282E40C7}" type="slidenum">
              <a:rPr lang="en-ZA" smtClean="0"/>
              <a:t>2</a:t>
            </a:fld>
            <a:endParaRPr lang="en-ZA"/>
          </a:p>
        </p:txBody>
      </p:sp>
    </p:spTree>
    <p:extLst>
      <p:ext uri="{BB962C8B-B14F-4D97-AF65-F5344CB8AC3E}">
        <p14:creationId xmlns:p14="http://schemas.microsoft.com/office/powerpoint/2010/main" val="951945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8" Type="http://schemas.openxmlformats.org/officeDocument/2006/relationships/hyperlink" Target="https://academic.oup.com/jamia/article/27/2/330/5585394?utm_source=chatgpt.com" TargetMode="External"/><Relationship Id="rId3" Type="http://schemas.openxmlformats.org/officeDocument/2006/relationships/hyperlink" Target="https://pmc.ncbi.nlm.nih.gov/articles/PMC10514684/?utm_source=chatgpt.com" TargetMode="External"/><Relationship Id="rId7" Type="http://schemas.openxmlformats.org/officeDocument/2006/relationships/hyperlink" Target="https://www.theverge.com/news/642121/driving-smartphone-app-track-safety-ubi-aaa-research?utm_source=chatgpt.com" TargetMode="External"/><Relationship Id="rId2" Type="http://schemas.openxmlformats.org/officeDocument/2006/relationships/hyperlink" Target="https://pmc.ncbi.nlm.nih.gov/articles/PMC11271019/?utm_source=chatgpt.com" TargetMode="External"/><Relationship Id="rId1" Type="http://schemas.openxmlformats.org/officeDocument/2006/relationships/slideLayout" Target="../slideLayouts/slideLayout7.xml"/><Relationship Id="rId6" Type="http://schemas.openxmlformats.org/officeDocument/2006/relationships/hyperlink" Target="https://www.mayo.edu/research/documents/43-data-and-safety-monitoring-guidelinespdf/doc-10026780?utm_source=chatgpt.com" TargetMode="External"/><Relationship Id="rId5" Type="http://schemas.openxmlformats.org/officeDocument/2006/relationships/hyperlink" Target="https://research.uci.edu/human-research-protections/clinical-research/data-and-safety-monitoring-for-clinical-research/?utm_source=chatgpt.com" TargetMode="External"/><Relationship Id="rId4" Type="http://schemas.openxmlformats.org/officeDocument/2006/relationships/hyperlink" Target="https://www.researchgo.ucla.edu/data-safety-monitoring-clinical-trials?utm_source=chatgpt.com" TargetMode="External"/><Relationship Id="rId9" Type="http://schemas.openxmlformats.org/officeDocument/2006/relationships/hyperlink" Target="https://arxiv.org/abs/2008.05864?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BDB9"/>
        </a:solidFill>
        <a:effectLst/>
      </p:bgPr>
    </p:bg>
    <p:spTree>
      <p:nvGrpSpPr>
        <p:cNvPr id="1" name=""/>
        <p:cNvGrpSpPr/>
        <p:nvPr/>
      </p:nvGrpSpPr>
      <p:grpSpPr>
        <a:xfrm>
          <a:off x="0" y="0"/>
          <a:ext cx="0" cy="0"/>
          <a:chOff x="0" y="0"/>
          <a:chExt cx="0" cy="0"/>
        </a:xfrm>
      </p:grpSpPr>
      <p:sp>
        <p:nvSpPr>
          <p:cNvPr id="2" name="AutoShape 2"/>
          <p:cNvSpPr/>
          <p:nvPr/>
        </p:nvSpPr>
        <p:spPr>
          <a:xfrm>
            <a:off x="0" y="0"/>
            <a:ext cx="18532990" cy="2835383"/>
          </a:xfrm>
          <a:prstGeom prst="rect">
            <a:avLst/>
          </a:prstGeom>
          <a:solidFill>
            <a:srgbClr val="FCDFDD"/>
          </a:solidFill>
        </p:spPr>
        <p:txBody>
          <a:bodyPr/>
          <a:lstStyle/>
          <a:p>
            <a:endParaRPr lang="en-ZA"/>
          </a:p>
        </p:txBody>
      </p:sp>
      <p:grpSp>
        <p:nvGrpSpPr>
          <p:cNvPr id="3" name="Group 3"/>
          <p:cNvGrpSpPr/>
          <p:nvPr/>
        </p:nvGrpSpPr>
        <p:grpSpPr>
          <a:xfrm rot="5400000">
            <a:off x="8846997" y="4895388"/>
            <a:ext cx="1713576" cy="10287000"/>
            <a:chOff x="0" y="0"/>
            <a:chExt cx="2284768" cy="13716000"/>
          </a:xfrm>
        </p:grpSpPr>
        <p:sp>
          <p:nvSpPr>
            <p:cNvPr id="4" name="AutoShape 4"/>
            <p:cNvSpPr/>
            <p:nvPr/>
          </p:nvSpPr>
          <p:spPr>
            <a:xfrm rot="-5400000">
              <a:off x="0" y="0"/>
              <a:ext cx="761589" cy="761589"/>
            </a:xfrm>
            <a:prstGeom prst="rect">
              <a:avLst/>
            </a:prstGeom>
            <a:solidFill>
              <a:srgbClr val="FCDFDD"/>
            </a:solidFill>
          </p:spPr>
          <p:txBody>
            <a:bodyPr/>
            <a:lstStyle/>
            <a:p>
              <a:endParaRPr lang="en-ZA"/>
            </a:p>
          </p:txBody>
        </p:sp>
        <p:sp>
          <p:nvSpPr>
            <p:cNvPr id="5" name="AutoShape 5"/>
            <p:cNvSpPr/>
            <p:nvPr/>
          </p:nvSpPr>
          <p:spPr>
            <a:xfrm rot="-5400000">
              <a:off x="1142384" y="4199344"/>
              <a:ext cx="1523178" cy="761589"/>
            </a:xfrm>
            <a:prstGeom prst="rect">
              <a:avLst/>
            </a:prstGeom>
            <a:solidFill>
              <a:srgbClr val="BDA565"/>
            </a:solidFill>
          </p:spPr>
          <p:txBody>
            <a:bodyPr/>
            <a:lstStyle/>
            <a:p>
              <a:endParaRPr lang="en-ZA"/>
            </a:p>
          </p:txBody>
        </p:sp>
        <p:sp>
          <p:nvSpPr>
            <p:cNvPr id="6" name="AutoShape 6"/>
            <p:cNvSpPr/>
            <p:nvPr/>
          </p:nvSpPr>
          <p:spPr>
            <a:xfrm rot="-5400000">
              <a:off x="1142384" y="1903973"/>
              <a:ext cx="1523178" cy="761589"/>
            </a:xfrm>
            <a:prstGeom prst="rect">
              <a:avLst/>
            </a:prstGeom>
            <a:solidFill>
              <a:srgbClr val="DAA29E"/>
            </a:solidFill>
          </p:spPr>
          <p:txBody>
            <a:bodyPr/>
            <a:lstStyle/>
            <a:p>
              <a:endParaRPr lang="en-ZA"/>
            </a:p>
          </p:txBody>
        </p:sp>
        <p:sp>
          <p:nvSpPr>
            <p:cNvPr id="7" name="AutoShape 7"/>
            <p:cNvSpPr/>
            <p:nvPr/>
          </p:nvSpPr>
          <p:spPr>
            <a:xfrm rot="-5400000">
              <a:off x="0" y="2284768"/>
              <a:ext cx="761589" cy="761589"/>
            </a:xfrm>
            <a:prstGeom prst="rect">
              <a:avLst/>
            </a:prstGeom>
            <a:solidFill>
              <a:srgbClr val="BDA565"/>
            </a:solidFill>
          </p:spPr>
          <p:txBody>
            <a:bodyPr/>
            <a:lstStyle/>
            <a:p>
              <a:endParaRPr lang="en-ZA"/>
            </a:p>
          </p:txBody>
        </p:sp>
        <p:sp>
          <p:nvSpPr>
            <p:cNvPr id="8" name="AutoShape 8"/>
            <p:cNvSpPr/>
            <p:nvPr/>
          </p:nvSpPr>
          <p:spPr>
            <a:xfrm rot="-5400000">
              <a:off x="761589" y="1523178"/>
              <a:ext cx="761589" cy="761589"/>
            </a:xfrm>
            <a:prstGeom prst="rect">
              <a:avLst/>
            </a:prstGeom>
            <a:solidFill>
              <a:srgbClr val="FCDFDD"/>
            </a:solidFill>
          </p:spPr>
          <p:txBody>
            <a:bodyPr/>
            <a:lstStyle/>
            <a:p>
              <a:endParaRPr lang="en-ZA"/>
            </a:p>
          </p:txBody>
        </p:sp>
        <p:sp>
          <p:nvSpPr>
            <p:cNvPr id="9" name="AutoShape 9"/>
            <p:cNvSpPr/>
            <p:nvPr/>
          </p:nvSpPr>
          <p:spPr>
            <a:xfrm rot="-5400000">
              <a:off x="1523178" y="761589"/>
              <a:ext cx="761589" cy="761589"/>
            </a:xfrm>
            <a:prstGeom prst="rect">
              <a:avLst/>
            </a:prstGeom>
            <a:solidFill>
              <a:srgbClr val="BDA565"/>
            </a:solidFill>
          </p:spPr>
          <p:txBody>
            <a:bodyPr/>
            <a:lstStyle/>
            <a:p>
              <a:endParaRPr lang="en-ZA"/>
            </a:p>
          </p:txBody>
        </p:sp>
        <p:sp>
          <p:nvSpPr>
            <p:cNvPr id="10" name="AutoShape 10"/>
            <p:cNvSpPr/>
            <p:nvPr/>
          </p:nvSpPr>
          <p:spPr>
            <a:xfrm rot="-5400000">
              <a:off x="761589" y="8384876"/>
              <a:ext cx="761589" cy="761589"/>
            </a:xfrm>
            <a:prstGeom prst="rect">
              <a:avLst/>
            </a:prstGeom>
            <a:solidFill>
              <a:srgbClr val="FCDFDD"/>
            </a:solidFill>
          </p:spPr>
          <p:txBody>
            <a:bodyPr/>
            <a:lstStyle/>
            <a:p>
              <a:endParaRPr lang="en-ZA"/>
            </a:p>
          </p:txBody>
        </p:sp>
        <p:sp>
          <p:nvSpPr>
            <p:cNvPr id="11" name="AutoShape 11"/>
            <p:cNvSpPr/>
            <p:nvPr/>
          </p:nvSpPr>
          <p:spPr>
            <a:xfrm rot="-5400000">
              <a:off x="0" y="3818550"/>
              <a:ext cx="761589" cy="761589"/>
            </a:xfrm>
            <a:prstGeom prst="rect">
              <a:avLst/>
            </a:prstGeom>
            <a:solidFill>
              <a:srgbClr val="BDA565"/>
            </a:solidFill>
          </p:spPr>
          <p:txBody>
            <a:bodyPr/>
            <a:lstStyle/>
            <a:p>
              <a:endParaRPr lang="en-ZA"/>
            </a:p>
          </p:txBody>
        </p:sp>
        <p:sp>
          <p:nvSpPr>
            <p:cNvPr id="12" name="AutoShape 12"/>
            <p:cNvSpPr/>
            <p:nvPr/>
          </p:nvSpPr>
          <p:spPr>
            <a:xfrm rot="-5400000">
              <a:off x="1523178" y="6103317"/>
              <a:ext cx="761589" cy="761589"/>
            </a:xfrm>
            <a:prstGeom prst="rect">
              <a:avLst/>
            </a:prstGeom>
            <a:solidFill>
              <a:srgbClr val="BDA565"/>
            </a:solidFill>
          </p:spPr>
          <p:txBody>
            <a:bodyPr/>
            <a:lstStyle/>
            <a:p>
              <a:endParaRPr lang="en-ZA"/>
            </a:p>
          </p:txBody>
        </p:sp>
        <p:sp>
          <p:nvSpPr>
            <p:cNvPr id="13" name="AutoShape 13"/>
            <p:cNvSpPr/>
            <p:nvPr/>
          </p:nvSpPr>
          <p:spPr>
            <a:xfrm rot="-5400000">
              <a:off x="1523178" y="7623286"/>
              <a:ext cx="761589" cy="761589"/>
            </a:xfrm>
            <a:prstGeom prst="rect">
              <a:avLst/>
            </a:prstGeom>
            <a:solidFill>
              <a:srgbClr val="DAA29E"/>
            </a:solidFill>
          </p:spPr>
          <p:txBody>
            <a:bodyPr/>
            <a:lstStyle/>
            <a:p>
              <a:endParaRPr lang="en-ZA"/>
            </a:p>
          </p:txBody>
        </p:sp>
        <p:sp>
          <p:nvSpPr>
            <p:cNvPr id="14" name="AutoShape 14"/>
            <p:cNvSpPr/>
            <p:nvPr/>
          </p:nvSpPr>
          <p:spPr>
            <a:xfrm rot="-5400000">
              <a:off x="0" y="7623286"/>
              <a:ext cx="761589" cy="761589"/>
            </a:xfrm>
            <a:prstGeom prst="rect">
              <a:avLst/>
            </a:prstGeom>
            <a:solidFill>
              <a:srgbClr val="BDA565"/>
            </a:solidFill>
          </p:spPr>
          <p:txBody>
            <a:bodyPr/>
            <a:lstStyle/>
            <a:p>
              <a:endParaRPr lang="en-ZA"/>
            </a:p>
          </p:txBody>
        </p:sp>
        <p:sp>
          <p:nvSpPr>
            <p:cNvPr id="15" name="AutoShape 15"/>
            <p:cNvSpPr/>
            <p:nvPr/>
          </p:nvSpPr>
          <p:spPr>
            <a:xfrm rot="-5400000">
              <a:off x="1523178" y="9908054"/>
              <a:ext cx="761589" cy="761589"/>
            </a:xfrm>
            <a:prstGeom prst="rect">
              <a:avLst/>
            </a:prstGeom>
            <a:solidFill>
              <a:srgbClr val="BDA565"/>
            </a:solidFill>
          </p:spPr>
          <p:txBody>
            <a:bodyPr/>
            <a:lstStyle/>
            <a:p>
              <a:endParaRPr lang="en-ZA"/>
            </a:p>
          </p:txBody>
        </p:sp>
        <p:sp>
          <p:nvSpPr>
            <p:cNvPr id="16" name="AutoShape 16"/>
            <p:cNvSpPr/>
            <p:nvPr/>
          </p:nvSpPr>
          <p:spPr>
            <a:xfrm rot="-5400000">
              <a:off x="761589" y="12192822"/>
              <a:ext cx="761589" cy="761589"/>
            </a:xfrm>
            <a:prstGeom prst="rect">
              <a:avLst/>
            </a:prstGeom>
            <a:solidFill>
              <a:srgbClr val="BDA565"/>
            </a:solidFill>
          </p:spPr>
          <p:txBody>
            <a:bodyPr/>
            <a:lstStyle/>
            <a:p>
              <a:endParaRPr lang="en-ZA"/>
            </a:p>
          </p:txBody>
        </p:sp>
        <p:sp>
          <p:nvSpPr>
            <p:cNvPr id="17" name="AutoShape 17"/>
            <p:cNvSpPr/>
            <p:nvPr/>
          </p:nvSpPr>
          <p:spPr>
            <a:xfrm rot="-5400000">
              <a:off x="761589" y="12954411"/>
              <a:ext cx="761589" cy="761589"/>
            </a:xfrm>
            <a:prstGeom prst="rect">
              <a:avLst/>
            </a:prstGeom>
            <a:solidFill>
              <a:srgbClr val="DAA29E"/>
            </a:solidFill>
          </p:spPr>
          <p:txBody>
            <a:bodyPr/>
            <a:lstStyle/>
            <a:p>
              <a:endParaRPr lang="en-ZA"/>
            </a:p>
          </p:txBody>
        </p:sp>
        <p:sp>
          <p:nvSpPr>
            <p:cNvPr id="18" name="AutoShape 18"/>
            <p:cNvSpPr/>
            <p:nvPr/>
          </p:nvSpPr>
          <p:spPr>
            <a:xfrm rot="-5400000">
              <a:off x="0" y="10669643"/>
              <a:ext cx="761589" cy="761589"/>
            </a:xfrm>
            <a:prstGeom prst="rect">
              <a:avLst/>
            </a:prstGeom>
            <a:solidFill>
              <a:srgbClr val="DAA29E"/>
            </a:solidFill>
          </p:spPr>
          <p:txBody>
            <a:bodyPr/>
            <a:lstStyle/>
            <a:p>
              <a:endParaRPr lang="en-ZA"/>
            </a:p>
          </p:txBody>
        </p:sp>
        <p:sp>
          <p:nvSpPr>
            <p:cNvPr id="19" name="AutoShape 19"/>
            <p:cNvSpPr/>
            <p:nvPr/>
          </p:nvSpPr>
          <p:spPr>
            <a:xfrm rot="-5400000">
              <a:off x="761589" y="9146465"/>
              <a:ext cx="761589" cy="761589"/>
            </a:xfrm>
            <a:prstGeom prst="rect">
              <a:avLst/>
            </a:prstGeom>
            <a:solidFill>
              <a:srgbClr val="DAA29E"/>
            </a:solidFill>
          </p:spPr>
          <p:txBody>
            <a:bodyPr/>
            <a:lstStyle/>
            <a:p>
              <a:endParaRPr lang="en-ZA"/>
            </a:p>
          </p:txBody>
        </p:sp>
        <p:sp>
          <p:nvSpPr>
            <p:cNvPr id="20" name="AutoShape 20"/>
            <p:cNvSpPr/>
            <p:nvPr/>
          </p:nvSpPr>
          <p:spPr>
            <a:xfrm rot="-5400000">
              <a:off x="380795" y="4960933"/>
              <a:ext cx="1523178" cy="761589"/>
            </a:xfrm>
            <a:prstGeom prst="rect">
              <a:avLst/>
            </a:prstGeom>
            <a:solidFill>
              <a:srgbClr val="FCDFDD"/>
            </a:solidFill>
          </p:spPr>
          <p:txBody>
            <a:bodyPr/>
            <a:lstStyle/>
            <a:p>
              <a:endParaRPr lang="en-ZA"/>
            </a:p>
          </p:txBody>
        </p:sp>
        <p:sp>
          <p:nvSpPr>
            <p:cNvPr id="21" name="AutoShape 21"/>
            <p:cNvSpPr/>
            <p:nvPr/>
          </p:nvSpPr>
          <p:spPr>
            <a:xfrm rot="-5400000">
              <a:off x="1142384" y="11050438"/>
              <a:ext cx="1523178" cy="761589"/>
            </a:xfrm>
            <a:prstGeom prst="rect">
              <a:avLst/>
            </a:prstGeom>
            <a:solidFill>
              <a:srgbClr val="DAA29E"/>
            </a:solidFill>
          </p:spPr>
          <p:txBody>
            <a:bodyPr/>
            <a:lstStyle/>
            <a:p>
              <a:endParaRPr lang="en-ZA"/>
            </a:p>
          </p:txBody>
        </p:sp>
      </p:grpSp>
      <p:grpSp>
        <p:nvGrpSpPr>
          <p:cNvPr id="22" name="Group 22"/>
          <p:cNvGrpSpPr/>
          <p:nvPr/>
        </p:nvGrpSpPr>
        <p:grpSpPr>
          <a:xfrm rot="5400000">
            <a:off x="19133997" y="4895388"/>
            <a:ext cx="1713576" cy="10287000"/>
            <a:chOff x="0" y="0"/>
            <a:chExt cx="2284768" cy="13716000"/>
          </a:xfrm>
        </p:grpSpPr>
        <p:sp>
          <p:nvSpPr>
            <p:cNvPr id="23" name="AutoShape 23"/>
            <p:cNvSpPr/>
            <p:nvPr/>
          </p:nvSpPr>
          <p:spPr>
            <a:xfrm rot="-5400000">
              <a:off x="0" y="0"/>
              <a:ext cx="761589" cy="761589"/>
            </a:xfrm>
            <a:prstGeom prst="rect">
              <a:avLst/>
            </a:prstGeom>
            <a:solidFill>
              <a:srgbClr val="BDA565"/>
            </a:solidFill>
          </p:spPr>
          <p:txBody>
            <a:bodyPr/>
            <a:lstStyle/>
            <a:p>
              <a:endParaRPr lang="en-ZA"/>
            </a:p>
          </p:txBody>
        </p:sp>
        <p:sp>
          <p:nvSpPr>
            <p:cNvPr id="24" name="AutoShape 24"/>
            <p:cNvSpPr/>
            <p:nvPr/>
          </p:nvSpPr>
          <p:spPr>
            <a:xfrm rot="-5400000">
              <a:off x="1142384" y="4199344"/>
              <a:ext cx="1523178" cy="761589"/>
            </a:xfrm>
            <a:prstGeom prst="rect">
              <a:avLst/>
            </a:prstGeom>
            <a:solidFill>
              <a:srgbClr val="BDA565"/>
            </a:solidFill>
          </p:spPr>
          <p:txBody>
            <a:bodyPr/>
            <a:lstStyle/>
            <a:p>
              <a:endParaRPr lang="en-ZA"/>
            </a:p>
          </p:txBody>
        </p:sp>
        <p:sp>
          <p:nvSpPr>
            <p:cNvPr id="25" name="AutoShape 25"/>
            <p:cNvSpPr/>
            <p:nvPr/>
          </p:nvSpPr>
          <p:spPr>
            <a:xfrm rot="-5400000">
              <a:off x="1142384" y="1903973"/>
              <a:ext cx="1523178" cy="761589"/>
            </a:xfrm>
            <a:prstGeom prst="rect">
              <a:avLst/>
            </a:prstGeom>
            <a:solidFill>
              <a:srgbClr val="DAA29E"/>
            </a:solidFill>
          </p:spPr>
          <p:txBody>
            <a:bodyPr/>
            <a:lstStyle/>
            <a:p>
              <a:endParaRPr lang="en-ZA"/>
            </a:p>
          </p:txBody>
        </p:sp>
        <p:sp>
          <p:nvSpPr>
            <p:cNvPr id="26" name="AutoShape 26"/>
            <p:cNvSpPr/>
            <p:nvPr/>
          </p:nvSpPr>
          <p:spPr>
            <a:xfrm rot="-5400000">
              <a:off x="0" y="2284768"/>
              <a:ext cx="761589" cy="761589"/>
            </a:xfrm>
            <a:prstGeom prst="rect">
              <a:avLst/>
            </a:prstGeom>
            <a:solidFill>
              <a:srgbClr val="BDA565"/>
            </a:solidFill>
          </p:spPr>
          <p:txBody>
            <a:bodyPr/>
            <a:lstStyle/>
            <a:p>
              <a:endParaRPr lang="en-ZA"/>
            </a:p>
          </p:txBody>
        </p:sp>
        <p:sp>
          <p:nvSpPr>
            <p:cNvPr id="27" name="AutoShape 27"/>
            <p:cNvSpPr/>
            <p:nvPr/>
          </p:nvSpPr>
          <p:spPr>
            <a:xfrm rot="-5400000">
              <a:off x="761589" y="1523178"/>
              <a:ext cx="761589" cy="761589"/>
            </a:xfrm>
            <a:prstGeom prst="rect">
              <a:avLst/>
            </a:prstGeom>
            <a:solidFill>
              <a:srgbClr val="BDA565"/>
            </a:solidFill>
          </p:spPr>
          <p:txBody>
            <a:bodyPr/>
            <a:lstStyle/>
            <a:p>
              <a:endParaRPr lang="en-ZA"/>
            </a:p>
          </p:txBody>
        </p:sp>
        <p:sp>
          <p:nvSpPr>
            <p:cNvPr id="28" name="AutoShape 28"/>
            <p:cNvSpPr/>
            <p:nvPr/>
          </p:nvSpPr>
          <p:spPr>
            <a:xfrm rot="-5400000">
              <a:off x="1523178" y="761589"/>
              <a:ext cx="761589" cy="761589"/>
            </a:xfrm>
            <a:prstGeom prst="rect">
              <a:avLst/>
            </a:prstGeom>
            <a:solidFill>
              <a:srgbClr val="BDA565"/>
            </a:solidFill>
          </p:spPr>
          <p:txBody>
            <a:bodyPr/>
            <a:lstStyle/>
            <a:p>
              <a:endParaRPr lang="en-ZA"/>
            </a:p>
          </p:txBody>
        </p:sp>
        <p:sp>
          <p:nvSpPr>
            <p:cNvPr id="29" name="AutoShape 29"/>
            <p:cNvSpPr/>
            <p:nvPr/>
          </p:nvSpPr>
          <p:spPr>
            <a:xfrm rot="-5400000">
              <a:off x="761589" y="8384876"/>
              <a:ext cx="761589" cy="761589"/>
            </a:xfrm>
            <a:prstGeom prst="rect">
              <a:avLst/>
            </a:prstGeom>
            <a:solidFill>
              <a:srgbClr val="BDA565"/>
            </a:solidFill>
          </p:spPr>
          <p:txBody>
            <a:bodyPr/>
            <a:lstStyle/>
            <a:p>
              <a:endParaRPr lang="en-ZA"/>
            </a:p>
          </p:txBody>
        </p:sp>
        <p:sp>
          <p:nvSpPr>
            <p:cNvPr id="30" name="AutoShape 30"/>
            <p:cNvSpPr/>
            <p:nvPr/>
          </p:nvSpPr>
          <p:spPr>
            <a:xfrm rot="-5400000">
              <a:off x="0" y="3818550"/>
              <a:ext cx="761589" cy="761589"/>
            </a:xfrm>
            <a:prstGeom prst="rect">
              <a:avLst/>
            </a:prstGeom>
            <a:solidFill>
              <a:srgbClr val="BDA565"/>
            </a:solidFill>
          </p:spPr>
          <p:txBody>
            <a:bodyPr/>
            <a:lstStyle/>
            <a:p>
              <a:endParaRPr lang="en-ZA"/>
            </a:p>
          </p:txBody>
        </p:sp>
        <p:sp>
          <p:nvSpPr>
            <p:cNvPr id="31" name="AutoShape 31"/>
            <p:cNvSpPr/>
            <p:nvPr/>
          </p:nvSpPr>
          <p:spPr>
            <a:xfrm rot="-5400000">
              <a:off x="1523178" y="6103317"/>
              <a:ext cx="761589" cy="761589"/>
            </a:xfrm>
            <a:prstGeom prst="rect">
              <a:avLst/>
            </a:prstGeom>
            <a:solidFill>
              <a:srgbClr val="BDA565"/>
            </a:solidFill>
          </p:spPr>
          <p:txBody>
            <a:bodyPr/>
            <a:lstStyle/>
            <a:p>
              <a:endParaRPr lang="en-ZA"/>
            </a:p>
          </p:txBody>
        </p:sp>
        <p:sp>
          <p:nvSpPr>
            <p:cNvPr id="32" name="AutoShape 32"/>
            <p:cNvSpPr/>
            <p:nvPr/>
          </p:nvSpPr>
          <p:spPr>
            <a:xfrm rot="-5400000">
              <a:off x="1523178" y="7623286"/>
              <a:ext cx="761589" cy="761589"/>
            </a:xfrm>
            <a:prstGeom prst="rect">
              <a:avLst/>
            </a:prstGeom>
            <a:solidFill>
              <a:srgbClr val="DAA29E"/>
            </a:solidFill>
          </p:spPr>
          <p:txBody>
            <a:bodyPr/>
            <a:lstStyle/>
            <a:p>
              <a:endParaRPr lang="en-ZA"/>
            </a:p>
          </p:txBody>
        </p:sp>
        <p:sp>
          <p:nvSpPr>
            <p:cNvPr id="33" name="AutoShape 33"/>
            <p:cNvSpPr/>
            <p:nvPr/>
          </p:nvSpPr>
          <p:spPr>
            <a:xfrm rot="-5400000">
              <a:off x="0" y="7623286"/>
              <a:ext cx="761589" cy="761589"/>
            </a:xfrm>
            <a:prstGeom prst="rect">
              <a:avLst/>
            </a:prstGeom>
            <a:solidFill>
              <a:srgbClr val="BDA565"/>
            </a:solidFill>
          </p:spPr>
          <p:txBody>
            <a:bodyPr/>
            <a:lstStyle/>
            <a:p>
              <a:endParaRPr lang="en-ZA"/>
            </a:p>
          </p:txBody>
        </p:sp>
        <p:sp>
          <p:nvSpPr>
            <p:cNvPr id="34" name="AutoShape 34"/>
            <p:cNvSpPr/>
            <p:nvPr/>
          </p:nvSpPr>
          <p:spPr>
            <a:xfrm rot="-5400000">
              <a:off x="1523178" y="9908054"/>
              <a:ext cx="761589" cy="761589"/>
            </a:xfrm>
            <a:prstGeom prst="rect">
              <a:avLst/>
            </a:prstGeom>
            <a:solidFill>
              <a:srgbClr val="BDA565"/>
            </a:solidFill>
          </p:spPr>
          <p:txBody>
            <a:bodyPr/>
            <a:lstStyle/>
            <a:p>
              <a:endParaRPr lang="en-ZA"/>
            </a:p>
          </p:txBody>
        </p:sp>
        <p:sp>
          <p:nvSpPr>
            <p:cNvPr id="35" name="AutoShape 35"/>
            <p:cNvSpPr/>
            <p:nvPr/>
          </p:nvSpPr>
          <p:spPr>
            <a:xfrm rot="-5400000">
              <a:off x="761589" y="12192822"/>
              <a:ext cx="761589" cy="761589"/>
            </a:xfrm>
            <a:prstGeom prst="rect">
              <a:avLst/>
            </a:prstGeom>
            <a:solidFill>
              <a:srgbClr val="BDA565"/>
            </a:solidFill>
          </p:spPr>
          <p:txBody>
            <a:bodyPr/>
            <a:lstStyle/>
            <a:p>
              <a:endParaRPr lang="en-ZA"/>
            </a:p>
          </p:txBody>
        </p:sp>
        <p:sp>
          <p:nvSpPr>
            <p:cNvPr id="36" name="AutoShape 36"/>
            <p:cNvSpPr/>
            <p:nvPr/>
          </p:nvSpPr>
          <p:spPr>
            <a:xfrm rot="-5400000">
              <a:off x="761589" y="12954411"/>
              <a:ext cx="761589" cy="761589"/>
            </a:xfrm>
            <a:prstGeom prst="rect">
              <a:avLst/>
            </a:prstGeom>
            <a:solidFill>
              <a:srgbClr val="DAA29E"/>
            </a:solidFill>
          </p:spPr>
          <p:txBody>
            <a:bodyPr/>
            <a:lstStyle/>
            <a:p>
              <a:endParaRPr lang="en-ZA"/>
            </a:p>
          </p:txBody>
        </p:sp>
        <p:sp>
          <p:nvSpPr>
            <p:cNvPr id="37" name="AutoShape 37"/>
            <p:cNvSpPr/>
            <p:nvPr/>
          </p:nvSpPr>
          <p:spPr>
            <a:xfrm rot="-5400000">
              <a:off x="0" y="10669643"/>
              <a:ext cx="761589" cy="761589"/>
            </a:xfrm>
            <a:prstGeom prst="rect">
              <a:avLst/>
            </a:prstGeom>
            <a:solidFill>
              <a:srgbClr val="DAA29E"/>
            </a:solidFill>
          </p:spPr>
          <p:txBody>
            <a:bodyPr/>
            <a:lstStyle/>
            <a:p>
              <a:endParaRPr lang="en-ZA"/>
            </a:p>
          </p:txBody>
        </p:sp>
        <p:sp>
          <p:nvSpPr>
            <p:cNvPr id="38" name="AutoShape 38"/>
            <p:cNvSpPr/>
            <p:nvPr/>
          </p:nvSpPr>
          <p:spPr>
            <a:xfrm rot="-5400000">
              <a:off x="761589" y="9146465"/>
              <a:ext cx="761589" cy="761589"/>
            </a:xfrm>
            <a:prstGeom prst="rect">
              <a:avLst/>
            </a:prstGeom>
            <a:solidFill>
              <a:srgbClr val="FCDFDD"/>
            </a:solidFill>
          </p:spPr>
          <p:txBody>
            <a:bodyPr/>
            <a:lstStyle/>
            <a:p>
              <a:endParaRPr lang="en-ZA"/>
            </a:p>
          </p:txBody>
        </p:sp>
        <p:sp>
          <p:nvSpPr>
            <p:cNvPr id="39" name="AutoShape 39"/>
            <p:cNvSpPr/>
            <p:nvPr/>
          </p:nvSpPr>
          <p:spPr>
            <a:xfrm rot="-5400000">
              <a:off x="380795" y="4960933"/>
              <a:ext cx="1523178" cy="761589"/>
            </a:xfrm>
            <a:prstGeom prst="rect">
              <a:avLst/>
            </a:prstGeom>
            <a:solidFill>
              <a:srgbClr val="DAA29E"/>
            </a:solidFill>
          </p:spPr>
          <p:txBody>
            <a:bodyPr/>
            <a:lstStyle/>
            <a:p>
              <a:endParaRPr lang="en-ZA"/>
            </a:p>
          </p:txBody>
        </p:sp>
        <p:sp>
          <p:nvSpPr>
            <p:cNvPr id="40" name="AutoShape 40"/>
            <p:cNvSpPr/>
            <p:nvPr/>
          </p:nvSpPr>
          <p:spPr>
            <a:xfrm rot="-5400000">
              <a:off x="1142384" y="11050438"/>
              <a:ext cx="1523178" cy="761589"/>
            </a:xfrm>
            <a:prstGeom prst="rect">
              <a:avLst/>
            </a:prstGeom>
            <a:solidFill>
              <a:srgbClr val="DAA29E"/>
            </a:solidFill>
          </p:spPr>
          <p:txBody>
            <a:bodyPr/>
            <a:lstStyle/>
            <a:p>
              <a:endParaRPr lang="en-ZA"/>
            </a:p>
          </p:txBody>
        </p:sp>
      </p:grpSp>
      <p:grpSp>
        <p:nvGrpSpPr>
          <p:cNvPr id="41" name="Group 41"/>
          <p:cNvGrpSpPr/>
          <p:nvPr/>
        </p:nvGrpSpPr>
        <p:grpSpPr>
          <a:xfrm>
            <a:off x="-633771" y="0"/>
            <a:ext cx="5975933" cy="10287000"/>
            <a:chOff x="0" y="0"/>
            <a:chExt cx="7233034" cy="12450980"/>
          </a:xfrm>
        </p:grpSpPr>
        <p:sp>
          <p:nvSpPr>
            <p:cNvPr id="42" name="Freeform 42"/>
            <p:cNvSpPr/>
            <p:nvPr/>
          </p:nvSpPr>
          <p:spPr>
            <a:xfrm>
              <a:off x="0" y="0"/>
              <a:ext cx="7233034" cy="12450980"/>
            </a:xfrm>
            <a:custGeom>
              <a:avLst/>
              <a:gdLst/>
              <a:ahLst/>
              <a:cxnLst/>
              <a:rect l="l" t="t" r="r" b="b"/>
              <a:pathLst>
                <a:path w="7233034" h="12450980">
                  <a:moveTo>
                    <a:pt x="7082346" y="1245098"/>
                  </a:moveTo>
                  <a:cubicBezTo>
                    <a:pt x="7082346" y="1120588"/>
                    <a:pt x="7082346" y="871569"/>
                    <a:pt x="7082346" y="747059"/>
                  </a:cubicBezTo>
                  <a:lnTo>
                    <a:pt x="6931658" y="747059"/>
                  </a:lnTo>
                  <a:lnTo>
                    <a:pt x="6931658" y="498039"/>
                  </a:lnTo>
                  <a:lnTo>
                    <a:pt x="6780969" y="498039"/>
                  </a:lnTo>
                  <a:lnTo>
                    <a:pt x="6780969" y="249020"/>
                  </a:lnTo>
                  <a:cubicBezTo>
                    <a:pt x="6705625" y="249020"/>
                    <a:pt x="6554937" y="249020"/>
                    <a:pt x="6479593" y="249020"/>
                  </a:cubicBezTo>
                  <a:lnTo>
                    <a:pt x="6479593" y="0"/>
                  </a:lnTo>
                  <a:cubicBezTo>
                    <a:pt x="4571880" y="0"/>
                    <a:pt x="2661154" y="0"/>
                    <a:pt x="753441" y="0"/>
                  </a:cubicBezTo>
                  <a:lnTo>
                    <a:pt x="753441" y="249020"/>
                  </a:lnTo>
                  <a:cubicBezTo>
                    <a:pt x="678097" y="249020"/>
                    <a:pt x="527409" y="249020"/>
                    <a:pt x="452065" y="249020"/>
                  </a:cubicBezTo>
                  <a:lnTo>
                    <a:pt x="452065" y="498039"/>
                  </a:lnTo>
                  <a:lnTo>
                    <a:pt x="301376" y="498039"/>
                  </a:lnTo>
                  <a:lnTo>
                    <a:pt x="301376" y="747059"/>
                  </a:lnTo>
                  <a:lnTo>
                    <a:pt x="150688" y="747059"/>
                  </a:lnTo>
                  <a:cubicBezTo>
                    <a:pt x="150688" y="871569"/>
                    <a:pt x="150688" y="1120588"/>
                    <a:pt x="150688" y="1245098"/>
                  </a:cubicBezTo>
                  <a:lnTo>
                    <a:pt x="0" y="1245098"/>
                  </a:lnTo>
                  <a:cubicBezTo>
                    <a:pt x="0" y="4564530"/>
                    <a:pt x="0" y="7886451"/>
                    <a:pt x="0" y="11205883"/>
                  </a:cubicBezTo>
                  <a:lnTo>
                    <a:pt x="150688" y="11205883"/>
                  </a:lnTo>
                  <a:cubicBezTo>
                    <a:pt x="150688" y="11330392"/>
                    <a:pt x="150688" y="11579412"/>
                    <a:pt x="150688" y="11703921"/>
                  </a:cubicBezTo>
                  <a:lnTo>
                    <a:pt x="301376" y="11703921"/>
                  </a:lnTo>
                  <a:lnTo>
                    <a:pt x="301376" y="11952941"/>
                  </a:lnTo>
                  <a:lnTo>
                    <a:pt x="452065" y="11952941"/>
                  </a:lnTo>
                  <a:lnTo>
                    <a:pt x="452065" y="12201961"/>
                  </a:lnTo>
                  <a:cubicBezTo>
                    <a:pt x="527409" y="12201961"/>
                    <a:pt x="678097" y="12201961"/>
                    <a:pt x="753441" y="12201961"/>
                  </a:cubicBezTo>
                  <a:lnTo>
                    <a:pt x="753441" y="12450980"/>
                  </a:lnTo>
                  <a:cubicBezTo>
                    <a:pt x="2661154" y="12450980"/>
                    <a:pt x="4571880" y="12450980"/>
                    <a:pt x="6479593" y="12450980"/>
                  </a:cubicBezTo>
                  <a:lnTo>
                    <a:pt x="6479593" y="12201961"/>
                  </a:lnTo>
                  <a:cubicBezTo>
                    <a:pt x="6554937" y="12201961"/>
                    <a:pt x="6705625" y="12201961"/>
                    <a:pt x="6780969" y="12201961"/>
                  </a:cubicBezTo>
                  <a:lnTo>
                    <a:pt x="6780969" y="11952941"/>
                  </a:lnTo>
                  <a:lnTo>
                    <a:pt x="6931658" y="11952941"/>
                  </a:lnTo>
                  <a:lnTo>
                    <a:pt x="6931658" y="11703921"/>
                  </a:lnTo>
                  <a:lnTo>
                    <a:pt x="7082346" y="11703921"/>
                  </a:lnTo>
                  <a:cubicBezTo>
                    <a:pt x="7082346" y="11579412"/>
                    <a:pt x="7082346" y="11330392"/>
                    <a:pt x="7082346" y="11205883"/>
                  </a:cubicBezTo>
                  <a:lnTo>
                    <a:pt x="7233034" y="11205883"/>
                  </a:lnTo>
                  <a:cubicBezTo>
                    <a:pt x="7233034" y="7886451"/>
                    <a:pt x="7233034" y="4564529"/>
                    <a:pt x="7233034" y="1245098"/>
                  </a:cubicBezTo>
                  <a:lnTo>
                    <a:pt x="7082346" y="1245098"/>
                  </a:lnTo>
                  <a:close/>
                </a:path>
              </a:pathLst>
            </a:custGeom>
            <a:blipFill>
              <a:blip r:embed="rId2"/>
              <a:stretch>
                <a:fillRect l="-31312" r="-31312"/>
              </a:stretch>
            </a:blipFill>
          </p:spPr>
          <p:txBody>
            <a:bodyPr/>
            <a:lstStyle/>
            <a:p>
              <a:endParaRPr lang="en-ZA"/>
            </a:p>
          </p:txBody>
        </p:sp>
      </p:grpSp>
      <p:grpSp>
        <p:nvGrpSpPr>
          <p:cNvPr id="43" name="Group 43"/>
          <p:cNvGrpSpPr/>
          <p:nvPr/>
        </p:nvGrpSpPr>
        <p:grpSpPr>
          <a:xfrm rot="5400000">
            <a:off x="-1954353" y="4895388"/>
            <a:ext cx="1713576" cy="10287000"/>
            <a:chOff x="0" y="0"/>
            <a:chExt cx="2284768" cy="13716000"/>
          </a:xfrm>
        </p:grpSpPr>
        <p:sp>
          <p:nvSpPr>
            <p:cNvPr id="44" name="AutoShape 44"/>
            <p:cNvSpPr/>
            <p:nvPr/>
          </p:nvSpPr>
          <p:spPr>
            <a:xfrm rot="-5400000">
              <a:off x="0" y="0"/>
              <a:ext cx="761589" cy="761589"/>
            </a:xfrm>
            <a:prstGeom prst="rect">
              <a:avLst/>
            </a:prstGeom>
            <a:solidFill>
              <a:srgbClr val="BDA565"/>
            </a:solidFill>
          </p:spPr>
          <p:txBody>
            <a:bodyPr/>
            <a:lstStyle/>
            <a:p>
              <a:endParaRPr lang="en-ZA"/>
            </a:p>
          </p:txBody>
        </p:sp>
        <p:sp>
          <p:nvSpPr>
            <p:cNvPr id="45" name="AutoShape 45"/>
            <p:cNvSpPr/>
            <p:nvPr/>
          </p:nvSpPr>
          <p:spPr>
            <a:xfrm rot="-5400000">
              <a:off x="1142384" y="4199344"/>
              <a:ext cx="1523178" cy="761589"/>
            </a:xfrm>
            <a:prstGeom prst="rect">
              <a:avLst/>
            </a:prstGeom>
            <a:solidFill>
              <a:srgbClr val="BDA565"/>
            </a:solidFill>
          </p:spPr>
          <p:txBody>
            <a:bodyPr/>
            <a:lstStyle/>
            <a:p>
              <a:endParaRPr lang="en-ZA"/>
            </a:p>
          </p:txBody>
        </p:sp>
        <p:sp>
          <p:nvSpPr>
            <p:cNvPr id="46" name="AutoShape 46"/>
            <p:cNvSpPr/>
            <p:nvPr/>
          </p:nvSpPr>
          <p:spPr>
            <a:xfrm rot="-5400000">
              <a:off x="1142384" y="1903973"/>
              <a:ext cx="1523178" cy="761589"/>
            </a:xfrm>
            <a:prstGeom prst="rect">
              <a:avLst/>
            </a:prstGeom>
            <a:solidFill>
              <a:srgbClr val="DAA29E"/>
            </a:solidFill>
          </p:spPr>
          <p:txBody>
            <a:bodyPr/>
            <a:lstStyle/>
            <a:p>
              <a:endParaRPr lang="en-ZA"/>
            </a:p>
          </p:txBody>
        </p:sp>
        <p:sp>
          <p:nvSpPr>
            <p:cNvPr id="47" name="AutoShape 47"/>
            <p:cNvSpPr/>
            <p:nvPr/>
          </p:nvSpPr>
          <p:spPr>
            <a:xfrm rot="-5400000">
              <a:off x="0" y="2284768"/>
              <a:ext cx="761589" cy="761589"/>
            </a:xfrm>
            <a:prstGeom prst="rect">
              <a:avLst/>
            </a:prstGeom>
            <a:solidFill>
              <a:srgbClr val="DAA29E"/>
            </a:solidFill>
          </p:spPr>
          <p:txBody>
            <a:bodyPr/>
            <a:lstStyle/>
            <a:p>
              <a:endParaRPr lang="en-ZA"/>
            </a:p>
          </p:txBody>
        </p:sp>
        <p:sp>
          <p:nvSpPr>
            <p:cNvPr id="48" name="AutoShape 48"/>
            <p:cNvSpPr/>
            <p:nvPr/>
          </p:nvSpPr>
          <p:spPr>
            <a:xfrm rot="-5400000">
              <a:off x="761589" y="1523178"/>
              <a:ext cx="761589" cy="761589"/>
            </a:xfrm>
            <a:prstGeom prst="rect">
              <a:avLst/>
            </a:prstGeom>
            <a:solidFill>
              <a:srgbClr val="FCDFDD"/>
            </a:solidFill>
          </p:spPr>
          <p:txBody>
            <a:bodyPr/>
            <a:lstStyle/>
            <a:p>
              <a:endParaRPr lang="en-ZA"/>
            </a:p>
          </p:txBody>
        </p:sp>
        <p:sp>
          <p:nvSpPr>
            <p:cNvPr id="49" name="AutoShape 49"/>
            <p:cNvSpPr/>
            <p:nvPr/>
          </p:nvSpPr>
          <p:spPr>
            <a:xfrm rot="-5400000">
              <a:off x="1523178" y="761589"/>
              <a:ext cx="761589" cy="761589"/>
            </a:xfrm>
            <a:prstGeom prst="rect">
              <a:avLst/>
            </a:prstGeom>
            <a:solidFill>
              <a:srgbClr val="BDA565"/>
            </a:solidFill>
          </p:spPr>
          <p:txBody>
            <a:bodyPr/>
            <a:lstStyle/>
            <a:p>
              <a:endParaRPr lang="en-ZA"/>
            </a:p>
          </p:txBody>
        </p:sp>
        <p:sp>
          <p:nvSpPr>
            <p:cNvPr id="50" name="AutoShape 50"/>
            <p:cNvSpPr/>
            <p:nvPr/>
          </p:nvSpPr>
          <p:spPr>
            <a:xfrm rot="-5400000">
              <a:off x="761589" y="8384876"/>
              <a:ext cx="761589" cy="761589"/>
            </a:xfrm>
            <a:prstGeom prst="rect">
              <a:avLst/>
            </a:prstGeom>
            <a:solidFill>
              <a:srgbClr val="BDA565"/>
            </a:solidFill>
          </p:spPr>
          <p:txBody>
            <a:bodyPr/>
            <a:lstStyle/>
            <a:p>
              <a:endParaRPr lang="en-ZA"/>
            </a:p>
          </p:txBody>
        </p:sp>
        <p:sp>
          <p:nvSpPr>
            <p:cNvPr id="51" name="AutoShape 51"/>
            <p:cNvSpPr/>
            <p:nvPr/>
          </p:nvSpPr>
          <p:spPr>
            <a:xfrm rot="-5400000">
              <a:off x="0" y="3818550"/>
              <a:ext cx="761589" cy="761589"/>
            </a:xfrm>
            <a:prstGeom prst="rect">
              <a:avLst/>
            </a:prstGeom>
            <a:solidFill>
              <a:srgbClr val="BDA565"/>
            </a:solidFill>
          </p:spPr>
          <p:txBody>
            <a:bodyPr/>
            <a:lstStyle/>
            <a:p>
              <a:endParaRPr lang="en-ZA"/>
            </a:p>
          </p:txBody>
        </p:sp>
        <p:sp>
          <p:nvSpPr>
            <p:cNvPr id="52" name="AutoShape 52"/>
            <p:cNvSpPr/>
            <p:nvPr/>
          </p:nvSpPr>
          <p:spPr>
            <a:xfrm rot="-5400000">
              <a:off x="1523178" y="6103317"/>
              <a:ext cx="761589" cy="761589"/>
            </a:xfrm>
            <a:prstGeom prst="rect">
              <a:avLst/>
            </a:prstGeom>
            <a:solidFill>
              <a:srgbClr val="BDA565"/>
            </a:solidFill>
          </p:spPr>
          <p:txBody>
            <a:bodyPr/>
            <a:lstStyle/>
            <a:p>
              <a:endParaRPr lang="en-ZA"/>
            </a:p>
          </p:txBody>
        </p:sp>
        <p:sp>
          <p:nvSpPr>
            <p:cNvPr id="53" name="AutoShape 53"/>
            <p:cNvSpPr/>
            <p:nvPr/>
          </p:nvSpPr>
          <p:spPr>
            <a:xfrm rot="-5400000">
              <a:off x="1523178" y="7623286"/>
              <a:ext cx="761589" cy="761589"/>
            </a:xfrm>
            <a:prstGeom prst="rect">
              <a:avLst/>
            </a:prstGeom>
            <a:solidFill>
              <a:srgbClr val="DAA29E"/>
            </a:solidFill>
          </p:spPr>
          <p:txBody>
            <a:bodyPr/>
            <a:lstStyle/>
            <a:p>
              <a:endParaRPr lang="en-ZA"/>
            </a:p>
          </p:txBody>
        </p:sp>
        <p:sp>
          <p:nvSpPr>
            <p:cNvPr id="54" name="AutoShape 54"/>
            <p:cNvSpPr/>
            <p:nvPr/>
          </p:nvSpPr>
          <p:spPr>
            <a:xfrm rot="-5400000">
              <a:off x="0" y="7623286"/>
              <a:ext cx="761589" cy="761589"/>
            </a:xfrm>
            <a:prstGeom prst="rect">
              <a:avLst/>
            </a:prstGeom>
            <a:solidFill>
              <a:srgbClr val="BDA565"/>
            </a:solidFill>
          </p:spPr>
          <p:txBody>
            <a:bodyPr/>
            <a:lstStyle/>
            <a:p>
              <a:endParaRPr lang="en-ZA"/>
            </a:p>
          </p:txBody>
        </p:sp>
        <p:sp>
          <p:nvSpPr>
            <p:cNvPr id="55" name="AutoShape 55"/>
            <p:cNvSpPr/>
            <p:nvPr/>
          </p:nvSpPr>
          <p:spPr>
            <a:xfrm rot="-5400000">
              <a:off x="1523178" y="9908054"/>
              <a:ext cx="761589" cy="761589"/>
            </a:xfrm>
            <a:prstGeom prst="rect">
              <a:avLst/>
            </a:prstGeom>
            <a:solidFill>
              <a:srgbClr val="BDA565"/>
            </a:solidFill>
          </p:spPr>
          <p:txBody>
            <a:bodyPr/>
            <a:lstStyle/>
            <a:p>
              <a:endParaRPr lang="en-ZA"/>
            </a:p>
          </p:txBody>
        </p:sp>
        <p:sp>
          <p:nvSpPr>
            <p:cNvPr id="56" name="AutoShape 56"/>
            <p:cNvSpPr/>
            <p:nvPr/>
          </p:nvSpPr>
          <p:spPr>
            <a:xfrm rot="-5400000">
              <a:off x="761589" y="12192822"/>
              <a:ext cx="761589" cy="761589"/>
            </a:xfrm>
            <a:prstGeom prst="rect">
              <a:avLst/>
            </a:prstGeom>
            <a:solidFill>
              <a:srgbClr val="BDA565"/>
            </a:solidFill>
          </p:spPr>
          <p:txBody>
            <a:bodyPr/>
            <a:lstStyle/>
            <a:p>
              <a:endParaRPr lang="en-ZA"/>
            </a:p>
          </p:txBody>
        </p:sp>
        <p:sp>
          <p:nvSpPr>
            <p:cNvPr id="57" name="AutoShape 57"/>
            <p:cNvSpPr/>
            <p:nvPr/>
          </p:nvSpPr>
          <p:spPr>
            <a:xfrm rot="-5400000">
              <a:off x="761589" y="12954411"/>
              <a:ext cx="761589" cy="761589"/>
            </a:xfrm>
            <a:prstGeom prst="rect">
              <a:avLst/>
            </a:prstGeom>
            <a:solidFill>
              <a:srgbClr val="DAA29E"/>
            </a:solidFill>
          </p:spPr>
          <p:txBody>
            <a:bodyPr/>
            <a:lstStyle/>
            <a:p>
              <a:endParaRPr lang="en-ZA"/>
            </a:p>
          </p:txBody>
        </p:sp>
        <p:sp>
          <p:nvSpPr>
            <p:cNvPr id="58" name="AutoShape 58"/>
            <p:cNvSpPr/>
            <p:nvPr/>
          </p:nvSpPr>
          <p:spPr>
            <a:xfrm rot="-5400000">
              <a:off x="0" y="10669643"/>
              <a:ext cx="761589" cy="761589"/>
            </a:xfrm>
            <a:prstGeom prst="rect">
              <a:avLst/>
            </a:prstGeom>
            <a:solidFill>
              <a:srgbClr val="DAA29E"/>
            </a:solidFill>
          </p:spPr>
          <p:txBody>
            <a:bodyPr/>
            <a:lstStyle/>
            <a:p>
              <a:endParaRPr lang="en-ZA"/>
            </a:p>
          </p:txBody>
        </p:sp>
        <p:sp>
          <p:nvSpPr>
            <p:cNvPr id="59" name="AutoShape 59"/>
            <p:cNvSpPr/>
            <p:nvPr/>
          </p:nvSpPr>
          <p:spPr>
            <a:xfrm rot="-5400000">
              <a:off x="761589" y="9146465"/>
              <a:ext cx="761589" cy="761589"/>
            </a:xfrm>
            <a:prstGeom prst="rect">
              <a:avLst/>
            </a:prstGeom>
            <a:solidFill>
              <a:srgbClr val="DAA29E"/>
            </a:solidFill>
          </p:spPr>
          <p:txBody>
            <a:bodyPr/>
            <a:lstStyle/>
            <a:p>
              <a:endParaRPr lang="en-ZA"/>
            </a:p>
          </p:txBody>
        </p:sp>
        <p:sp>
          <p:nvSpPr>
            <p:cNvPr id="60" name="AutoShape 60"/>
            <p:cNvSpPr/>
            <p:nvPr/>
          </p:nvSpPr>
          <p:spPr>
            <a:xfrm rot="-5400000">
              <a:off x="380795" y="4960933"/>
              <a:ext cx="1523178" cy="761589"/>
            </a:xfrm>
            <a:prstGeom prst="rect">
              <a:avLst/>
            </a:prstGeom>
            <a:solidFill>
              <a:srgbClr val="DAA29E"/>
            </a:solidFill>
          </p:spPr>
          <p:txBody>
            <a:bodyPr/>
            <a:lstStyle/>
            <a:p>
              <a:endParaRPr lang="en-ZA"/>
            </a:p>
          </p:txBody>
        </p:sp>
        <p:sp>
          <p:nvSpPr>
            <p:cNvPr id="61" name="AutoShape 61"/>
            <p:cNvSpPr/>
            <p:nvPr/>
          </p:nvSpPr>
          <p:spPr>
            <a:xfrm rot="-5400000">
              <a:off x="1142384" y="11050438"/>
              <a:ext cx="1523178" cy="761589"/>
            </a:xfrm>
            <a:prstGeom prst="rect">
              <a:avLst/>
            </a:prstGeom>
            <a:solidFill>
              <a:srgbClr val="DAA29E"/>
            </a:solidFill>
          </p:spPr>
          <p:txBody>
            <a:bodyPr/>
            <a:lstStyle/>
            <a:p>
              <a:endParaRPr lang="en-ZA"/>
            </a:p>
          </p:txBody>
        </p:sp>
      </p:grpSp>
      <p:sp>
        <p:nvSpPr>
          <p:cNvPr id="62" name="Freeform 62"/>
          <p:cNvSpPr/>
          <p:nvPr/>
        </p:nvSpPr>
        <p:spPr>
          <a:xfrm>
            <a:off x="4045935" y="918210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ZA"/>
          </a:p>
        </p:txBody>
      </p:sp>
      <p:sp>
        <p:nvSpPr>
          <p:cNvPr id="63" name="TextBox 63"/>
          <p:cNvSpPr txBox="1"/>
          <p:nvPr/>
        </p:nvSpPr>
        <p:spPr>
          <a:xfrm>
            <a:off x="5595418" y="2930633"/>
            <a:ext cx="11663882" cy="4497707"/>
          </a:xfrm>
          <a:prstGeom prst="rect">
            <a:avLst/>
          </a:prstGeom>
        </p:spPr>
        <p:txBody>
          <a:bodyPr lIns="0" tIns="0" rIns="0" bIns="0" rtlCol="0" anchor="t">
            <a:spAutoFit/>
          </a:bodyPr>
          <a:lstStyle/>
          <a:p>
            <a:pPr marL="0" lvl="0" indent="0" algn="l">
              <a:lnSpc>
                <a:spcPts val="11715"/>
              </a:lnSpc>
            </a:pPr>
            <a:r>
              <a:rPr lang="en-US" sz="10650" b="1" spc="-213">
                <a:solidFill>
                  <a:srgbClr val="201702"/>
                </a:solidFill>
                <a:latin typeface="Roboto Mono Bold"/>
                <a:ea typeface="Roboto Mono Bold"/>
                <a:cs typeface="Roboto Mono Bold"/>
                <a:sym typeface="Roboto Mono Bold"/>
              </a:rPr>
              <a:t>Campus Safety Monitoring System </a:t>
            </a:r>
          </a:p>
        </p:txBody>
      </p:sp>
      <p:sp>
        <p:nvSpPr>
          <p:cNvPr id="64" name="TextBox 64"/>
          <p:cNvSpPr txBox="1"/>
          <p:nvPr/>
        </p:nvSpPr>
        <p:spPr>
          <a:xfrm>
            <a:off x="5595418" y="882320"/>
            <a:ext cx="10867794" cy="1226209"/>
          </a:xfrm>
          <a:prstGeom prst="rect">
            <a:avLst/>
          </a:prstGeom>
        </p:spPr>
        <p:txBody>
          <a:bodyPr lIns="0" tIns="0" rIns="0" bIns="0" rtlCol="0" anchor="t">
            <a:spAutoFit/>
          </a:bodyPr>
          <a:lstStyle/>
          <a:p>
            <a:pPr marL="0" lvl="0" indent="0" algn="ctr">
              <a:lnSpc>
                <a:spcPts val="3288"/>
              </a:lnSpc>
            </a:pPr>
            <a:r>
              <a:rPr lang="en-US" sz="2349" b="1" u="none" spc="23">
                <a:solidFill>
                  <a:srgbClr val="201702"/>
                </a:solidFill>
                <a:latin typeface="Lekton Bold"/>
                <a:ea typeface="Lekton Bold"/>
                <a:cs typeface="Lekton Bold"/>
                <a:sym typeface="Lekton Bold"/>
              </a:rPr>
              <a:t>Campus Safety Monitoring and Alerting System</a:t>
            </a:r>
            <a:r>
              <a:rPr lang="en-US" sz="2349" u="none" spc="23">
                <a:solidFill>
                  <a:srgbClr val="201702"/>
                </a:solidFill>
                <a:latin typeface="Lekton"/>
                <a:ea typeface="Lekton"/>
                <a:cs typeface="Lekton"/>
                <a:sym typeface="Lekton"/>
              </a:rPr>
              <a:t> - Ensuring real-time </a:t>
            </a:r>
            <a:r>
              <a:rPr lang="en-US" sz="2349" b="1" u="none" spc="23">
                <a:solidFill>
                  <a:srgbClr val="201702"/>
                </a:solidFill>
                <a:latin typeface="Lekton Bold"/>
                <a:ea typeface="Lekton Bold"/>
                <a:cs typeface="Lekton Bold"/>
                <a:sym typeface="Lekton Bold"/>
              </a:rPr>
              <a:t>safety insights</a:t>
            </a:r>
            <a:r>
              <a:rPr lang="en-US" sz="2349" u="none" spc="23">
                <a:solidFill>
                  <a:srgbClr val="201702"/>
                </a:solidFill>
                <a:latin typeface="Lekton"/>
                <a:ea typeface="Lekton"/>
                <a:cs typeface="Lekton"/>
                <a:sym typeface="Lekton"/>
              </a:rPr>
              <a:t> and responsive measures for a secure campus environment through innovative data streaming and visualization technologies.</a:t>
            </a:r>
          </a:p>
        </p:txBody>
      </p:sp>
      <p:sp>
        <p:nvSpPr>
          <p:cNvPr id="65" name="TextBox 65"/>
          <p:cNvSpPr txBox="1"/>
          <p:nvPr/>
        </p:nvSpPr>
        <p:spPr>
          <a:xfrm>
            <a:off x="11029315" y="6988985"/>
            <a:ext cx="6718698" cy="2504006"/>
          </a:xfrm>
          <a:prstGeom prst="rect">
            <a:avLst/>
          </a:prstGeom>
        </p:spPr>
        <p:txBody>
          <a:bodyPr lIns="0" tIns="0" rIns="0" bIns="0" rtlCol="0" anchor="t">
            <a:spAutoFit/>
          </a:bodyPr>
          <a:lstStyle/>
          <a:p>
            <a:pPr algn="ctr">
              <a:lnSpc>
                <a:spcPts val="6695"/>
              </a:lnSpc>
            </a:pPr>
            <a:r>
              <a:rPr lang="en-US" sz="4782" b="1">
                <a:solidFill>
                  <a:srgbClr val="201702"/>
                </a:solidFill>
                <a:latin typeface="Canva Sans Bold"/>
                <a:ea typeface="Canva Sans Bold"/>
                <a:cs typeface="Canva Sans Bold"/>
                <a:sym typeface="Canva Sans Bold"/>
              </a:rPr>
              <a:t>by Calson Netshikulwe</a:t>
            </a:r>
          </a:p>
          <a:p>
            <a:pPr algn="ctr">
              <a:lnSpc>
                <a:spcPts val="6695"/>
              </a:lnSpc>
            </a:pPr>
            <a:r>
              <a:rPr lang="en-US" sz="4782" b="1">
                <a:solidFill>
                  <a:srgbClr val="201702"/>
                </a:solidFill>
                <a:latin typeface="Canva Sans Bold"/>
                <a:ea typeface="Canva Sans Bold"/>
                <a:cs typeface="Canva Sans Bold"/>
                <a:sym typeface="Canva Sans Bold"/>
              </a:rPr>
              <a:t>and </a:t>
            </a:r>
          </a:p>
          <a:p>
            <a:pPr algn="ctr">
              <a:lnSpc>
                <a:spcPts val="6695"/>
              </a:lnSpc>
            </a:pPr>
            <a:r>
              <a:rPr lang="en-US" sz="4782" b="1">
                <a:solidFill>
                  <a:srgbClr val="201702"/>
                </a:solidFill>
                <a:latin typeface="Canva Sans Bold"/>
                <a:ea typeface="Canva Sans Bold"/>
                <a:cs typeface="Canva Sans Bold"/>
                <a:sym typeface="Canva Sans Bold"/>
              </a:rPr>
              <a:t>Mahlatsi Mashilo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BDB9"/>
        </a:solidFill>
        <a:effectLst/>
      </p:bgPr>
    </p:bg>
    <p:spTree>
      <p:nvGrpSpPr>
        <p:cNvPr id="1" name=""/>
        <p:cNvGrpSpPr/>
        <p:nvPr/>
      </p:nvGrpSpPr>
      <p:grpSpPr>
        <a:xfrm>
          <a:off x="0" y="0"/>
          <a:ext cx="0" cy="0"/>
          <a:chOff x="0" y="0"/>
          <a:chExt cx="0" cy="0"/>
        </a:xfrm>
      </p:grpSpPr>
      <p:sp>
        <p:nvSpPr>
          <p:cNvPr id="2" name="AutoShape 2"/>
          <p:cNvSpPr/>
          <p:nvPr/>
        </p:nvSpPr>
        <p:spPr>
          <a:xfrm>
            <a:off x="0" y="6881665"/>
            <a:ext cx="18453450" cy="3435104"/>
          </a:xfrm>
          <a:prstGeom prst="rect">
            <a:avLst/>
          </a:prstGeom>
          <a:solidFill>
            <a:srgbClr val="FCDFDD"/>
          </a:solidFill>
        </p:spPr>
        <p:txBody>
          <a:bodyPr/>
          <a:lstStyle/>
          <a:p>
            <a:endParaRPr lang="en-ZA"/>
          </a:p>
        </p:txBody>
      </p:sp>
      <p:grpSp>
        <p:nvGrpSpPr>
          <p:cNvPr id="3" name="Group 3"/>
          <p:cNvGrpSpPr/>
          <p:nvPr/>
        </p:nvGrpSpPr>
        <p:grpSpPr>
          <a:xfrm>
            <a:off x="3470383" y="1098625"/>
            <a:ext cx="12265719" cy="886832"/>
            <a:chOff x="0" y="0"/>
            <a:chExt cx="16354293" cy="1182443"/>
          </a:xfrm>
        </p:grpSpPr>
        <p:sp>
          <p:nvSpPr>
            <p:cNvPr id="4" name="TextBox 4"/>
            <p:cNvSpPr txBox="1"/>
            <p:nvPr/>
          </p:nvSpPr>
          <p:spPr>
            <a:xfrm>
              <a:off x="0" y="-28575"/>
              <a:ext cx="16354293" cy="638175"/>
            </a:xfrm>
            <a:prstGeom prst="rect">
              <a:avLst/>
            </a:prstGeom>
          </p:spPr>
          <p:txBody>
            <a:bodyPr lIns="0" tIns="0" rIns="0" bIns="0" rtlCol="0" anchor="t">
              <a:spAutoFit/>
            </a:bodyPr>
            <a:lstStyle/>
            <a:p>
              <a:pPr marL="0" lvl="0" indent="0" algn="l">
                <a:lnSpc>
                  <a:spcPts val="3900"/>
                </a:lnSpc>
              </a:pPr>
              <a:r>
                <a:rPr lang="en-US" sz="3000" b="1" u="none" spc="-30">
                  <a:solidFill>
                    <a:srgbClr val="201702"/>
                  </a:solidFill>
                  <a:latin typeface="Roboto Mono Bold"/>
                  <a:ea typeface="Roboto Mono Bold"/>
                  <a:cs typeface="Roboto Mono Bold"/>
                  <a:sym typeface="Roboto Mono Bold"/>
                </a:rPr>
                <a:t>Real-Time Data Streaming</a:t>
              </a:r>
            </a:p>
          </p:txBody>
        </p:sp>
        <p:sp>
          <p:nvSpPr>
            <p:cNvPr id="5" name="TextBox 5"/>
            <p:cNvSpPr txBox="1"/>
            <p:nvPr/>
          </p:nvSpPr>
          <p:spPr>
            <a:xfrm>
              <a:off x="0" y="797006"/>
              <a:ext cx="16354293" cy="385437"/>
            </a:xfrm>
            <a:prstGeom prst="rect">
              <a:avLst/>
            </a:prstGeom>
          </p:spPr>
          <p:txBody>
            <a:bodyPr lIns="0" tIns="0" rIns="0" bIns="0" rtlCol="0" anchor="t">
              <a:spAutoFit/>
            </a:bodyPr>
            <a:lstStyle/>
            <a:p>
              <a:pPr marL="0" lvl="0" indent="0" algn="l">
                <a:lnSpc>
                  <a:spcPts val="2441"/>
                </a:lnSpc>
              </a:pPr>
              <a:r>
                <a:rPr lang="en-US" sz="1743" u="none">
                  <a:solidFill>
                    <a:srgbClr val="201702"/>
                  </a:solidFill>
                  <a:latin typeface="Lekton"/>
                  <a:ea typeface="Lekton"/>
                  <a:cs typeface="Lekton"/>
                  <a:sym typeface="Lekton"/>
                </a:rPr>
                <a:t>Our system utilizes </a:t>
              </a:r>
              <a:r>
                <a:rPr lang="en-US" sz="1743" b="1" u="none">
                  <a:solidFill>
                    <a:srgbClr val="201702"/>
                  </a:solidFill>
                  <a:latin typeface="Lekton Bold"/>
                  <a:ea typeface="Lekton Bold"/>
                  <a:cs typeface="Lekton Bold"/>
                  <a:sym typeface="Lekton Bold"/>
                </a:rPr>
                <a:t>Kafka for real-time streaming</a:t>
              </a:r>
              <a:r>
                <a:rPr lang="en-US" sz="1743" u="none">
                  <a:solidFill>
                    <a:srgbClr val="201702"/>
                  </a:solidFill>
                  <a:latin typeface="Lekton"/>
                  <a:ea typeface="Lekton"/>
                  <a:cs typeface="Lekton"/>
                  <a:sym typeface="Lekton"/>
                </a:rPr>
                <a:t>, ensuring timely alerts and data updates across the campus.</a:t>
              </a:r>
            </a:p>
          </p:txBody>
        </p:sp>
      </p:grpSp>
      <p:grpSp>
        <p:nvGrpSpPr>
          <p:cNvPr id="6" name="Group 6"/>
          <p:cNvGrpSpPr/>
          <p:nvPr/>
        </p:nvGrpSpPr>
        <p:grpSpPr>
          <a:xfrm>
            <a:off x="3470383" y="2851877"/>
            <a:ext cx="12265719" cy="1206710"/>
            <a:chOff x="0" y="0"/>
            <a:chExt cx="16354293" cy="1608946"/>
          </a:xfrm>
        </p:grpSpPr>
        <p:sp>
          <p:nvSpPr>
            <p:cNvPr id="7" name="TextBox 7"/>
            <p:cNvSpPr txBox="1"/>
            <p:nvPr/>
          </p:nvSpPr>
          <p:spPr>
            <a:xfrm>
              <a:off x="0" y="-28575"/>
              <a:ext cx="16354293" cy="638175"/>
            </a:xfrm>
            <a:prstGeom prst="rect">
              <a:avLst/>
            </a:prstGeom>
          </p:spPr>
          <p:txBody>
            <a:bodyPr lIns="0" tIns="0" rIns="0" bIns="0" rtlCol="0" anchor="t">
              <a:spAutoFit/>
            </a:bodyPr>
            <a:lstStyle/>
            <a:p>
              <a:pPr marL="0" lvl="0" indent="0" algn="l">
                <a:lnSpc>
                  <a:spcPts val="3900"/>
                </a:lnSpc>
              </a:pPr>
              <a:r>
                <a:rPr lang="en-US" sz="3000" b="1" u="none" spc="-30">
                  <a:solidFill>
                    <a:srgbClr val="201702"/>
                  </a:solidFill>
                  <a:latin typeface="Roboto Mono Bold"/>
                  <a:ea typeface="Roboto Mono Bold"/>
                  <a:cs typeface="Roboto Mono Bold"/>
                  <a:sym typeface="Roboto Mono Bold"/>
                </a:rPr>
                <a:t>Interactive Dashboard Visualization</a:t>
              </a:r>
            </a:p>
          </p:txBody>
        </p:sp>
        <p:sp>
          <p:nvSpPr>
            <p:cNvPr id="8" name="TextBox 8"/>
            <p:cNvSpPr txBox="1"/>
            <p:nvPr/>
          </p:nvSpPr>
          <p:spPr>
            <a:xfrm>
              <a:off x="0" y="817109"/>
              <a:ext cx="16354293" cy="791837"/>
            </a:xfrm>
            <a:prstGeom prst="rect">
              <a:avLst/>
            </a:prstGeom>
          </p:spPr>
          <p:txBody>
            <a:bodyPr lIns="0" tIns="0" rIns="0" bIns="0" rtlCol="0" anchor="t">
              <a:spAutoFit/>
            </a:bodyPr>
            <a:lstStyle/>
            <a:p>
              <a:pPr marL="0" lvl="0" indent="0" algn="l">
                <a:lnSpc>
                  <a:spcPts val="2441"/>
                </a:lnSpc>
              </a:pPr>
              <a:r>
                <a:rPr lang="en-US" sz="1743" u="none">
                  <a:solidFill>
                    <a:srgbClr val="201702"/>
                  </a:solidFill>
                  <a:latin typeface="Lekton"/>
                  <a:ea typeface="Lekton"/>
                  <a:cs typeface="Lekton"/>
                  <a:sym typeface="Lekton"/>
                </a:rPr>
                <a:t>With </a:t>
              </a:r>
              <a:r>
                <a:rPr lang="en-US" sz="1743" b="1" u="none">
                  <a:solidFill>
                    <a:srgbClr val="201702"/>
                  </a:solidFill>
                  <a:latin typeface="Lekton Bold"/>
                  <a:ea typeface="Lekton Bold"/>
                  <a:cs typeface="Lekton Bold"/>
                  <a:sym typeface="Lekton Bold"/>
                </a:rPr>
                <a:t>Streamlit</a:t>
              </a:r>
              <a:r>
                <a:rPr lang="en-US" sz="1743" u="none">
                  <a:solidFill>
                    <a:srgbClr val="201702"/>
                  </a:solidFill>
                  <a:latin typeface="Lekton"/>
                  <a:ea typeface="Lekton"/>
                  <a:cs typeface="Lekton"/>
                  <a:sym typeface="Lekton"/>
                </a:rPr>
                <a:t>, users access an interactive dashboard that presents critical safety data and visual insights in real-time.</a:t>
              </a:r>
            </a:p>
          </p:txBody>
        </p:sp>
      </p:grpSp>
      <p:grpSp>
        <p:nvGrpSpPr>
          <p:cNvPr id="9" name="Group 9"/>
          <p:cNvGrpSpPr/>
          <p:nvPr/>
        </p:nvGrpSpPr>
        <p:grpSpPr>
          <a:xfrm>
            <a:off x="3470383" y="4896368"/>
            <a:ext cx="12265719" cy="1155067"/>
            <a:chOff x="0" y="0"/>
            <a:chExt cx="16354293" cy="1540090"/>
          </a:xfrm>
        </p:grpSpPr>
        <p:sp>
          <p:nvSpPr>
            <p:cNvPr id="10" name="TextBox 10"/>
            <p:cNvSpPr txBox="1"/>
            <p:nvPr/>
          </p:nvSpPr>
          <p:spPr>
            <a:xfrm>
              <a:off x="0" y="-28575"/>
              <a:ext cx="16354293" cy="638175"/>
            </a:xfrm>
            <a:prstGeom prst="rect">
              <a:avLst/>
            </a:prstGeom>
          </p:spPr>
          <p:txBody>
            <a:bodyPr lIns="0" tIns="0" rIns="0" bIns="0" rtlCol="0" anchor="t">
              <a:spAutoFit/>
            </a:bodyPr>
            <a:lstStyle/>
            <a:p>
              <a:pPr marL="0" lvl="0" indent="0" algn="l">
                <a:lnSpc>
                  <a:spcPts val="3900"/>
                </a:lnSpc>
              </a:pPr>
              <a:r>
                <a:rPr lang="en-US" sz="3000" b="1" u="none" spc="-30">
                  <a:solidFill>
                    <a:srgbClr val="201702"/>
                  </a:solidFill>
                  <a:latin typeface="Roboto Mono Bold"/>
                  <a:ea typeface="Roboto Mono Bold"/>
                  <a:cs typeface="Roboto Mono Bold"/>
                  <a:sym typeface="Roboto Mono Bold"/>
                </a:rPr>
                <a:t>Proactive Safety Measures</a:t>
              </a:r>
            </a:p>
          </p:txBody>
        </p:sp>
        <p:sp>
          <p:nvSpPr>
            <p:cNvPr id="11" name="TextBox 11"/>
            <p:cNvSpPr txBox="1"/>
            <p:nvPr/>
          </p:nvSpPr>
          <p:spPr>
            <a:xfrm>
              <a:off x="0" y="748253"/>
              <a:ext cx="16354293" cy="791837"/>
            </a:xfrm>
            <a:prstGeom prst="rect">
              <a:avLst/>
            </a:prstGeom>
          </p:spPr>
          <p:txBody>
            <a:bodyPr lIns="0" tIns="0" rIns="0" bIns="0" rtlCol="0" anchor="t">
              <a:spAutoFit/>
            </a:bodyPr>
            <a:lstStyle/>
            <a:p>
              <a:pPr marL="0" lvl="0" indent="0" algn="l">
                <a:lnSpc>
                  <a:spcPts val="2441"/>
                </a:lnSpc>
              </a:pPr>
              <a:r>
                <a:rPr lang="en-US" sz="1743" u="none">
                  <a:solidFill>
                    <a:srgbClr val="201702"/>
                  </a:solidFill>
                  <a:latin typeface="Lekton"/>
                  <a:ea typeface="Lekton"/>
                  <a:cs typeface="Lekton"/>
                  <a:sym typeface="Lekton"/>
                </a:rPr>
                <a:t>Implementing </a:t>
              </a:r>
              <a:r>
                <a:rPr lang="en-US" sz="1743" b="1" u="none">
                  <a:solidFill>
                    <a:srgbClr val="201702"/>
                  </a:solidFill>
                  <a:latin typeface="Lekton Bold"/>
                  <a:ea typeface="Lekton Bold"/>
                  <a:cs typeface="Lekton Bold"/>
                  <a:sym typeface="Lekton Bold"/>
                </a:rPr>
                <a:t>temporal access denial</a:t>
              </a:r>
              <a:r>
                <a:rPr lang="en-US" sz="1743" u="none">
                  <a:solidFill>
                    <a:srgbClr val="201702"/>
                  </a:solidFill>
                  <a:latin typeface="Lekton"/>
                  <a:ea typeface="Lekton"/>
                  <a:cs typeface="Lekton"/>
                  <a:sym typeface="Lekton"/>
                </a:rPr>
                <a:t> enhances user safety by preventing anxiety and encouraging responsible behavior on campus.</a:t>
              </a:r>
            </a:p>
          </p:txBody>
        </p:sp>
      </p:grpSp>
      <p:grpSp>
        <p:nvGrpSpPr>
          <p:cNvPr id="12" name="Group 12"/>
          <p:cNvGrpSpPr/>
          <p:nvPr/>
        </p:nvGrpSpPr>
        <p:grpSpPr>
          <a:xfrm>
            <a:off x="1028700" y="7613392"/>
            <a:ext cx="15244749" cy="2408313"/>
            <a:chOff x="0" y="0"/>
            <a:chExt cx="20326332" cy="3211083"/>
          </a:xfrm>
        </p:grpSpPr>
        <p:sp>
          <p:nvSpPr>
            <p:cNvPr id="13" name="TextBox 13"/>
            <p:cNvSpPr txBox="1"/>
            <p:nvPr/>
          </p:nvSpPr>
          <p:spPr>
            <a:xfrm>
              <a:off x="0" y="0"/>
              <a:ext cx="20326332" cy="1409700"/>
            </a:xfrm>
            <a:prstGeom prst="rect">
              <a:avLst/>
            </a:prstGeom>
          </p:spPr>
          <p:txBody>
            <a:bodyPr lIns="0" tIns="0" rIns="0" bIns="0" rtlCol="0" anchor="t">
              <a:spAutoFit/>
            </a:bodyPr>
            <a:lstStyle/>
            <a:p>
              <a:pPr marL="0" lvl="0" indent="0" algn="l">
                <a:lnSpc>
                  <a:spcPts val="8399"/>
                </a:lnSpc>
              </a:pPr>
              <a:r>
                <a:rPr lang="en-US" sz="6999" b="1" u="none" spc="139">
                  <a:solidFill>
                    <a:srgbClr val="201702"/>
                  </a:solidFill>
                  <a:latin typeface="Roboto Mono Bold"/>
                  <a:ea typeface="Roboto Mono Bold"/>
                  <a:cs typeface="Roboto Mono Bold"/>
                  <a:sym typeface="Roboto Mono Bold"/>
                </a:rPr>
                <a:t>Project Overview</a:t>
              </a:r>
            </a:p>
          </p:txBody>
        </p:sp>
        <p:sp>
          <p:nvSpPr>
            <p:cNvPr id="14" name="TextBox 14"/>
            <p:cNvSpPr txBox="1"/>
            <p:nvPr/>
          </p:nvSpPr>
          <p:spPr>
            <a:xfrm>
              <a:off x="0" y="1774793"/>
              <a:ext cx="20326332" cy="1436290"/>
            </a:xfrm>
            <a:prstGeom prst="rect">
              <a:avLst/>
            </a:prstGeom>
          </p:spPr>
          <p:txBody>
            <a:bodyPr lIns="0" tIns="0" rIns="0" bIns="0" rtlCol="0" anchor="t">
              <a:spAutoFit/>
            </a:bodyPr>
            <a:lstStyle/>
            <a:p>
              <a:pPr marL="0" lvl="0" indent="0" algn="l">
                <a:lnSpc>
                  <a:spcPts val="4200"/>
                </a:lnSpc>
              </a:pPr>
              <a:r>
                <a:rPr lang="en-US" sz="3000" b="1" u="none" dirty="0">
                  <a:solidFill>
                    <a:srgbClr val="201702"/>
                  </a:solidFill>
                  <a:latin typeface="Lekton Bold"/>
                  <a:ea typeface="Lekton Bold"/>
                  <a:cs typeface="Lekton Bold"/>
                  <a:sym typeface="Lekton Bold"/>
                </a:rPr>
                <a:t>Real-Time Campus Safety Monitoring using Kafka, Zookeeper, PostgreSQL, and Streamlit</a:t>
              </a:r>
            </a:p>
          </p:txBody>
        </p:sp>
      </p:grpSp>
      <p:grpSp>
        <p:nvGrpSpPr>
          <p:cNvPr id="15" name="Group 15"/>
          <p:cNvGrpSpPr/>
          <p:nvPr/>
        </p:nvGrpSpPr>
        <p:grpSpPr>
          <a:xfrm rot="-10800000">
            <a:off x="17149219" y="29770"/>
            <a:ext cx="1713576" cy="10287000"/>
            <a:chOff x="0" y="0"/>
            <a:chExt cx="2284768" cy="13716000"/>
          </a:xfrm>
        </p:grpSpPr>
        <p:sp>
          <p:nvSpPr>
            <p:cNvPr id="16" name="AutoShape 16"/>
            <p:cNvSpPr/>
            <p:nvPr/>
          </p:nvSpPr>
          <p:spPr>
            <a:xfrm rot="-5400000">
              <a:off x="0" y="0"/>
              <a:ext cx="761589" cy="761589"/>
            </a:xfrm>
            <a:prstGeom prst="rect">
              <a:avLst/>
            </a:prstGeom>
            <a:solidFill>
              <a:srgbClr val="F7BDB9"/>
            </a:solidFill>
          </p:spPr>
          <p:txBody>
            <a:bodyPr/>
            <a:lstStyle/>
            <a:p>
              <a:endParaRPr lang="en-ZA"/>
            </a:p>
          </p:txBody>
        </p:sp>
        <p:sp>
          <p:nvSpPr>
            <p:cNvPr id="17" name="AutoShape 17"/>
            <p:cNvSpPr/>
            <p:nvPr/>
          </p:nvSpPr>
          <p:spPr>
            <a:xfrm rot="-5400000">
              <a:off x="1142384" y="4199344"/>
              <a:ext cx="1523178" cy="761589"/>
            </a:xfrm>
            <a:prstGeom prst="rect">
              <a:avLst/>
            </a:prstGeom>
            <a:solidFill>
              <a:srgbClr val="BDA565"/>
            </a:solidFill>
          </p:spPr>
          <p:txBody>
            <a:bodyPr/>
            <a:lstStyle/>
            <a:p>
              <a:endParaRPr lang="en-ZA"/>
            </a:p>
          </p:txBody>
        </p:sp>
        <p:sp>
          <p:nvSpPr>
            <p:cNvPr id="18" name="AutoShape 18"/>
            <p:cNvSpPr/>
            <p:nvPr/>
          </p:nvSpPr>
          <p:spPr>
            <a:xfrm rot="-5400000">
              <a:off x="1137082" y="1909275"/>
              <a:ext cx="1533782" cy="761589"/>
            </a:xfrm>
            <a:prstGeom prst="rect">
              <a:avLst/>
            </a:prstGeom>
            <a:solidFill>
              <a:srgbClr val="F7BDB9"/>
            </a:solidFill>
          </p:spPr>
          <p:txBody>
            <a:bodyPr/>
            <a:lstStyle/>
            <a:p>
              <a:endParaRPr lang="en-ZA"/>
            </a:p>
          </p:txBody>
        </p:sp>
        <p:sp>
          <p:nvSpPr>
            <p:cNvPr id="19" name="AutoShape 19"/>
            <p:cNvSpPr/>
            <p:nvPr/>
          </p:nvSpPr>
          <p:spPr>
            <a:xfrm rot="-5400000">
              <a:off x="0" y="2295371"/>
              <a:ext cx="761589" cy="761589"/>
            </a:xfrm>
            <a:prstGeom prst="rect">
              <a:avLst/>
            </a:prstGeom>
            <a:solidFill>
              <a:srgbClr val="BDA565"/>
            </a:solidFill>
          </p:spPr>
          <p:txBody>
            <a:bodyPr/>
            <a:lstStyle/>
            <a:p>
              <a:endParaRPr lang="en-ZA"/>
            </a:p>
          </p:txBody>
        </p:sp>
        <p:sp>
          <p:nvSpPr>
            <p:cNvPr id="20" name="AutoShape 20"/>
            <p:cNvSpPr/>
            <p:nvPr/>
          </p:nvSpPr>
          <p:spPr>
            <a:xfrm rot="-5400000">
              <a:off x="761589" y="1523178"/>
              <a:ext cx="761589" cy="761589"/>
            </a:xfrm>
            <a:prstGeom prst="rect">
              <a:avLst/>
            </a:prstGeom>
            <a:solidFill>
              <a:srgbClr val="A18B4C"/>
            </a:solidFill>
          </p:spPr>
          <p:txBody>
            <a:bodyPr/>
            <a:lstStyle/>
            <a:p>
              <a:endParaRPr lang="en-ZA"/>
            </a:p>
          </p:txBody>
        </p:sp>
        <p:sp>
          <p:nvSpPr>
            <p:cNvPr id="21" name="AutoShape 21"/>
            <p:cNvSpPr/>
            <p:nvPr/>
          </p:nvSpPr>
          <p:spPr>
            <a:xfrm rot="-5400000">
              <a:off x="1523178" y="761589"/>
              <a:ext cx="761589" cy="761589"/>
            </a:xfrm>
            <a:prstGeom prst="rect">
              <a:avLst/>
            </a:prstGeom>
            <a:solidFill>
              <a:srgbClr val="BDA565"/>
            </a:solidFill>
          </p:spPr>
          <p:txBody>
            <a:bodyPr/>
            <a:lstStyle/>
            <a:p>
              <a:endParaRPr lang="en-ZA"/>
            </a:p>
          </p:txBody>
        </p:sp>
        <p:sp>
          <p:nvSpPr>
            <p:cNvPr id="22" name="AutoShape 22"/>
            <p:cNvSpPr/>
            <p:nvPr/>
          </p:nvSpPr>
          <p:spPr>
            <a:xfrm rot="-5400000">
              <a:off x="761589" y="8384876"/>
              <a:ext cx="761589" cy="761589"/>
            </a:xfrm>
            <a:prstGeom prst="rect">
              <a:avLst/>
            </a:prstGeom>
            <a:solidFill>
              <a:srgbClr val="BDA565"/>
            </a:solidFill>
          </p:spPr>
          <p:txBody>
            <a:bodyPr/>
            <a:lstStyle/>
            <a:p>
              <a:endParaRPr lang="en-ZA"/>
            </a:p>
          </p:txBody>
        </p:sp>
        <p:sp>
          <p:nvSpPr>
            <p:cNvPr id="23" name="AutoShape 23"/>
            <p:cNvSpPr/>
            <p:nvPr/>
          </p:nvSpPr>
          <p:spPr>
            <a:xfrm rot="-5400000">
              <a:off x="0" y="3818550"/>
              <a:ext cx="761589" cy="761589"/>
            </a:xfrm>
            <a:prstGeom prst="rect">
              <a:avLst/>
            </a:prstGeom>
            <a:solidFill>
              <a:srgbClr val="F7BDB9"/>
            </a:solidFill>
          </p:spPr>
          <p:txBody>
            <a:bodyPr/>
            <a:lstStyle/>
            <a:p>
              <a:endParaRPr lang="en-ZA"/>
            </a:p>
          </p:txBody>
        </p:sp>
        <p:sp>
          <p:nvSpPr>
            <p:cNvPr id="24" name="AutoShape 24"/>
            <p:cNvSpPr/>
            <p:nvPr/>
          </p:nvSpPr>
          <p:spPr>
            <a:xfrm rot="-5400000">
              <a:off x="1523178" y="6103317"/>
              <a:ext cx="761589" cy="761589"/>
            </a:xfrm>
            <a:prstGeom prst="rect">
              <a:avLst/>
            </a:prstGeom>
            <a:solidFill>
              <a:srgbClr val="FCDFDD"/>
            </a:solidFill>
          </p:spPr>
          <p:txBody>
            <a:bodyPr/>
            <a:lstStyle/>
            <a:p>
              <a:endParaRPr lang="en-ZA"/>
            </a:p>
          </p:txBody>
        </p:sp>
        <p:sp>
          <p:nvSpPr>
            <p:cNvPr id="25" name="AutoShape 25"/>
            <p:cNvSpPr/>
            <p:nvPr/>
          </p:nvSpPr>
          <p:spPr>
            <a:xfrm rot="-5400000">
              <a:off x="1523178" y="7623286"/>
              <a:ext cx="761589" cy="761589"/>
            </a:xfrm>
            <a:prstGeom prst="rect">
              <a:avLst/>
            </a:prstGeom>
            <a:solidFill>
              <a:srgbClr val="FCDFDD"/>
            </a:solidFill>
          </p:spPr>
          <p:txBody>
            <a:bodyPr/>
            <a:lstStyle/>
            <a:p>
              <a:endParaRPr lang="en-ZA"/>
            </a:p>
          </p:txBody>
        </p:sp>
        <p:sp>
          <p:nvSpPr>
            <p:cNvPr id="26" name="AutoShape 26"/>
            <p:cNvSpPr/>
            <p:nvPr/>
          </p:nvSpPr>
          <p:spPr>
            <a:xfrm rot="-5400000">
              <a:off x="0" y="7623286"/>
              <a:ext cx="761589" cy="761589"/>
            </a:xfrm>
            <a:prstGeom prst="rect">
              <a:avLst/>
            </a:prstGeom>
            <a:solidFill>
              <a:srgbClr val="BDA565"/>
            </a:solidFill>
          </p:spPr>
          <p:txBody>
            <a:bodyPr/>
            <a:lstStyle/>
            <a:p>
              <a:endParaRPr lang="en-ZA"/>
            </a:p>
          </p:txBody>
        </p:sp>
        <p:sp>
          <p:nvSpPr>
            <p:cNvPr id="27" name="AutoShape 27"/>
            <p:cNvSpPr/>
            <p:nvPr/>
          </p:nvSpPr>
          <p:spPr>
            <a:xfrm rot="-5400000">
              <a:off x="1523178" y="9908054"/>
              <a:ext cx="761589" cy="761589"/>
            </a:xfrm>
            <a:prstGeom prst="rect">
              <a:avLst/>
            </a:prstGeom>
            <a:solidFill>
              <a:srgbClr val="BDA565"/>
            </a:solidFill>
          </p:spPr>
          <p:txBody>
            <a:bodyPr/>
            <a:lstStyle/>
            <a:p>
              <a:endParaRPr lang="en-ZA"/>
            </a:p>
          </p:txBody>
        </p:sp>
        <p:sp>
          <p:nvSpPr>
            <p:cNvPr id="28" name="AutoShape 28"/>
            <p:cNvSpPr/>
            <p:nvPr/>
          </p:nvSpPr>
          <p:spPr>
            <a:xfrm rot="-5400000">
              <a:off x="761589" y="12192822"/>
              <a:ext cx="761589" cy="761589"/>
            </a:xfrm>
            <a:prstGeom prst="rect">
              <a:avLst/>
            </a:prstGeom>
            <a:solidFill>
              <a:srgbClr val="BDA565"/>
            </a:solidFill>
          </p:spPr>
          <p:txBody>
            <a:bodyPr/>
            <a:lstStyle/>
            <a:p>
              <a:endParaRPr lang="en-ZA"/>
            </a:p>
          </p:txBody>
        </p:sp>
        <p:sp>
          <p:nvSpPr>
            <p:cNvPr id="29" name="AutoShape 29"/>
            <p:cNvSpPr/>
            <p:nvPr/>
          </p:nvSpPr>
          <p:spPr>
            <a:xfrm rot="-5400000">
              <a:off x="761589" y="12954411"/>
              <a:ext cx="761589" cy="761589"/>
            </a:xfrm>
            <a:prstGeom prst="rect">
              <a:avLst/>
            </a:prstGeom>
            <a:solidFill>
              <a:srgbClr val="FCDFDD"/>
            </a:solidFill>
          </p:spPr>
          <p:txBody>
            <a:bodyPr/>
            <a:lstStyle/>
            <a:p>
              <a:endParaRPr lang="en-ZA"/>
            </a:p>
          </p:txBody>
        </p:sp>
        <p:sp>
          <p:nvSpPr>
            <p:cNvPr id="30" name="AutoShape 30"/>
            <p:cNvSpPr/>
            <p:nvPr/>
          </p:nvSpPr>
          <p:spPr>
            <a:xfrm rot="-5400000">
              <a:off x="0" y="10669643"/>
              <a:ext cx="761589" cy="761589"/>
            </a:xfrm>
            <a:prstGeom prst="rect">
              <a:avLst/>
            </a:prstGeom>
            <a:solidFill>
              <a:srgbClr val="FCDFDD"/>
            </a:solidFill>
          </p:spPr>
          <p:txBody>
            <a:bodyPr/>
            <a:lstStyle/>
            <a:p>
              <a:endParaRPr lang="en-ZA"/>
            </a:p>
          </p:txBody>
        </p:sp>
        <p:sp>
          <p:nvSpPr>
            <p:cNvPr id="31" name="AutoShape 31"/>
            <p:cNvSpPr/>
            <p:nvPr/>
          </p:nvSpPr>
          <p:spPr>
            <a:xfrm rot="-5400000">
              <a:off x="761589" y="9146465"/>
              <a:ext cx="761589" cy="761589"/>
            </a:xfrm>
            <a:prstGeom prst="rect">
              <a:avLst/>
            </a:prstGeom>
            <a:solidFill>
              <a:srgbClr val="FCDFDD"/>
            </a:solidFill>
          </p:spPr>
          <p:txBody>
            <a:bodyPr/>
            <a:lstStyle/>
            <a:p>
              <a:endParaRPr lang="en-ZA"/>
            </a:p>
          </p:txBody>
        </p:sp>
        <p:sp>
          <p:nvSpPr>
            <p:cNvPr id="32" name="AutoShape 32"/>
            <p:cNvSpPr/>
            <p:nvPr/>
          </p:nvSpPr>
          <p:spPr>
            <a:xfrm rot="-5400000">
              <a:off x="380795" y="4960933"/>
              <a:ext cx="1523178" cy="761589"/>
            </a:xfrm>
            <a:prstGeom prst="rect">
              <a:avLst/>
            </a:prstGeom>
            <a:solidFill>
              <a:srgbClr val="A18B4C"/>
            </a:solidFill>
          </p:spPr>
          <p:txBody>
            <a:bodyPr/>
            <a:lstStyle/>
            <a:p>
              <a:endParaRPr lang="en-ZA"/>
            </a:p>
          </p:txBody>
        </p:sp>
        <p:sp>
          <p:nvSpPr>
            <p:cNvPr id="33" name="AutoShape 33"/>
            <p:cNvSpPr/>
            <p:nvPr/>
          </p:nvSpPr>
          <p:spPr>
            <a:xfrm rot="-5400000">
              <a:off x="1142384" y="11050438"/>
              <a:ext cx="1523178" cy="761589"/>
            </a:xfrm>
            <a:prstGeom prst="rect">
              <a:avLst/>
            </a:prstGeom>
            <a:solidFill>
              <a:srgbClr val="A18B4C"/>
            </a:solidFill>
          </p:spPr>
          <p:txBody>
            <a:bodyPr/>
            <a:lstStyle/>
            <a:p>
              <a:endParaRPr lang="en-ZA"/>
            </a:p>
          </p:txBody>
        </p:sp>
      </p:grpSp>
      <p:grpSp>
        <p:nvGrpSpPr>
          <p:cNvPr id="34" name="Group 34"/>
          <p:cNvGrpSpPr/>
          <p:nvPr/>
        </p:nvGrpSpPr>
        <p:grpSpPr>
          <a:xfrm>
            <a:off x="1028700" y="1209929"/>
            <a:ext cx="1336783" cy="845454"/>
            <a:chOff x="0" y="0"/>
            <a:chExt cx="1782378" cy="1127271"/>
          </a:xfrm>
        </p:grpSpPr>
        <p:grpSp>
          <p:nvGrpSpPr>
            <p:cNvPr id="35" name="Group 35"/>
            <p:cNvGrpSpPr/>
            <p:nvPr/>
          </p:nvGrpSpPr>
          <p:grpSpPr>
            <a:xfrm>
              <a:off x="0" y="609600"/>
              <a:ext cx="1782378" cy="517671"/>
              <a:chOff x="0" y="0"/>
              <a:chExt cx="1967713" cy="571500"/>
            </a:xfrm>
          </p:grpSpPr>
          <p:sp>
            <p:nvSpPr>
              <p:cNvPr id="36" name="Freeform 36"/>
              <p:cNvSpPr/>
              <p:nvPr/>
            </p:nvSpPr>
            <p:spPr>
              <a:xfrm>
                <a:off x="0" y="255270"/>
                <a:ext cx="1967713" cy="69850"/>
              </a:xfrm>
              <a:custGeom>
                <a:avLst/>
                <a:gdLst/>
                <a:ahLst/>
                <a:cxnLst/>
                <a:rect l="l" t="t" r="r" b="b"/>
                <a:pathLst>
                  <a:path w="1967713" h="69850">
                    <a:moveTo>
                      <a:pt x="1676883" y="0"/>
                    </a:moveTo>
                    <a:lnTo>
                      <a:pt x="0" y="0"/>
                    </a:lnTo>
                    <a:lnTo>
                      <a:pt x="0" y="69850"/>
                    </a:lnTo>
                    <a:lnTo>
                      <a:pt x="1967713" y="69850"/>
                    </a:lnTo>
                    <a:lnTo>
                      <a:pt x="1967713" y="0"/>
                    </a:lnTo>
                    <a:close/>
                  </a:path>
                </a:pathLst>
              </a:custGeom>
              <a:solidFill>
                <a:srgbClr val="BDA565"/>
              </a:solidFill>
            </p:spPr>
            <p:txBody>
              <a:bodyPr/>
              <a:lstStyle/>
              <a:p>
                <a:endParaRPr lang="en-ZA"/>
              </a:p>
            </p:txBody>
          </p:sp>
        </p:grpSp>
        <p:sp>
          <p:nvSpPr>
            <p:cNvPr id="37" name="TextBox 37"/>
            <p:cNvSpPr txBox="1"/>
            <p:nvPr/>
          </p:nvSpPr>
          <p:spPr>
            <a:xfrm>
              <a:off x="0" y="-28575"/>
              <a:ext cx="1782378" cy="638175"/>
            </a:xfrm>
            <a:prstGeom prst="rect">
              <a:avLst/>
            </a:prstGeom>
          </p:spPr>
          <p:txBody>
            <a:bodyPr lIns="0" tIns="0" rIns="0" bIns="0" rtlCol="0" anchor="t">
              <a:spAutoFit/>
            </a:bodyPr>
            <a:lstStyle/>
            <a:p>
              <a:pPr marL="0" lvl="0" indent="0" algn="ctr">
                <a:lnSpc>
                  <a:spcPts val="3900"/>
                </a:lnSpc>
              </a:pPr>
              <a:r>
                <a:rPr lang="en-US" sz="3000" b="1" u="none" spc="-30">
                  <a:solidFill>
                    <a:srgbClr val="201702"/>
                  </a:solidFill>
                  <a:latin typeface="Roboto Mono Bold"/>
                  <a:ea typeface="Roboto Mono Bold"/>
                  <a:cs typeface="Roboto Mono Bold"/>
                  <a:sym typeface="Roboto Mono Bold"/>
                </a:rPr>
                <a:t>01</a:t>
              </a:r>
            </a:p>
          </p:txBody>
        </p:sp>
      </p:grpSp>
      <p:grpSp>
        <p:nvGrpSpPr>
          <p:cNvPr id="38" name="Group 38"/>
          <p:cNvGrpSpPr/>
          <p:nvPr/>
        </p:nvGrpSpPr>
        <p:grpSpPr>
          <a:xfrm>
            <a:off x="1028700" y="3192613"/>
            <a:ext cx="1336783" cy="845454"/>
            <a:chOff x="0" y="0"/>
            <a:chExt cx="1782378" cy="1127271"/>
          </a:xfrm>
        </p:grpSpPr>
        <p:grpSp>
          <p:nvGrpSpPr>
            <p:cNvPr id="39" name="Group 39"/>
            <p:cNvGrpSpPr/>
            <p:nvPr/>
          </p:nvGrpSpPr>
          <p:grpSpPr>
            <a:xfrm>
              <a:off x="0" y="609600"/>
              <a:ext cx="1782378" cy="517671"/>
              <a:chOff x="0" y="0"/>
              <a:chExt cx="1967713" cy="571500"/>
            </a:xfrm>
          </p:grpSpPr>
          <p:sp>
            <p:nvSpPr>
              <p:cNvPr id="40" name="Freeform 40"/>
              <p:cNvSpPr/>
              <p:nvPr/>
            </p:nvSpPr>
            <p:spPr>
              <a:xfrm>
                <a:off x="0" y="255270"/>
                <a:ext cx="1967713" cy="69850"/>
              </a:xfrm>
              <a:custGeom>
                <a:avLst/>
                <a:gdLst/>
                <a:ahLst/>
                <a:cxnLst/>
                <a:rect l="l" t="t" r="r" b="b"/>
                <a:pathLst>
                  <a:path w="1967713" h="69850">
                    <a:moveTo>
                      <a:pt x="1676883" y="0"/>
                    </a:moveTo>
                    <a:lnTo>
                      <a:pt x="0" y="0"/>
                    </a:lnTo>
                    <a:lnTo>
                      <a:pt x="0" y="69850"/>
                    </a:lnTo>
                    <a:lnTo>
                      <a:pt x="1967713" y="69850"/>
                    </a:lnTo>
                    <a:lnTo>
                      <a:pt x="1967713" y="0"/>
                    </a:lnTo>
                    <a:close/>
                  </a:path>
                </a:pathLst>
              </a:custGeom>
              <a:solidFill>
                <a:srgbClr val="BDA565"/>
              </a:solidFill>
            </p:spPr>
            <p:txBody>
              <a:bodyPr/>
              <a:lstStyle/>
              <a:p>
                <a:endParaRPr lang="en-ZA"/>
              </a:p>
            </p:txBody>
          </p:sp>
        </p:grpSp>
        <p:sp>
          <p:nvSpPr>
            <p:cNvPr id="41" name="TextBox 41"/>
            <p:cNvSpPr txBox="1"/>
            <p:nvPr/>
          </p:nvSpPr>
          <p:spPr>
            <a:xfrm>
              <a:off x="0" y="-28575"/>
              <a:ext cx="1782378" cy="638175"/>
            </a:xfrm>
            <a:prstGeom prst="rect">
              <a:avLst/>
            </a:prstGeom>
          </p:spPr>
          <p:txBody>
            <a:bodyPr lIns="0" tIns="0" rIns="0" bIns="0" rtlCol="0" anchor="t">
              <a:spAutoFit/>
            </a:bodyPr>
            <a:lstStyle/>
            <a:p>
              <a:pPr marL="0" lvl="0" indent="0" algn="ctr">
                <a:lnSpc>
                  <a:spcPts val="3900"/>
                </a:lnSpc>
              </a:pPr>
              <a:r>
                <a:rPr lang="en-US" sz="3000" b="1" u="none" spc="-30">
                  <a:solidFill>
                    <a:srgbClr val="201702"/>
                  </a:solidFill>
                  <a:latin typeface="Roboto Mono Bold"/>
                  <a:ea typeface="Roboto Mono Bold"/>
                  <a:cs typeface="Roboto Mono Bold"/>
                  <a:sym typeface="Roboto Mono Bold"/>
                </a:rPr>
                <a:t>02</a:t>
              </a:r>
            </a:p>
          </p:txBody>
        </p:sp>
      </p:grpSp>
      <p:grpSp>
        <p:nvGrpSpPr>
          <p:cNvPr id="42" name="Group 42"/>
          <p:cNvGrpSpPr/>
          <p:nvPr/>
        </p:nvGrpSpPr>
        <p:grpSpPr>
          <a:xfrm>
            <a:off x="1028700" y="5141790"/>
            <a:ext cx="1336783" cy="845454"/>
            <a:chOff x="0" y="0"/>
            <a:chExt cx="1782378" cy="1127271"/>
          </a:xfrm>
        </p:grpSpPr>
        <p:grpSp>
          <p:nvGrpSpPr>
            <p:cNvPr id="43" name="Group 43"/>
            <p:cNvGrpSpPr/>
            <p:nvPr/>
          </p:nvGrpSpPr>
          <p:grpSpPr>
            <a:xfrm>
              <a:off x="0" y="609600"/>
              <a:ext cx="1782378" cy="517671"/>
              <a:chOff x="0" y="0"/>
              <a:chExt cx="1967713" cy="571500"/>
            </a:xfrm>
          </p:grpSpPr>
          <p:sp>
            <p:nvSpPr>
              <p:cNvPr id="44" name="Freeform 44"/>
              <p:cNvSpPr/>
              <p:nvPr/>
            </p:nvSpPr>
            <p:spPr>
              <a:xfrm>
                <a:off x="0" y="255270"/>
                <a:ext cx="1967713" cy="69850"/>
              </a:xfrm>
              <a:custGeom>
                <a:avLst/>
                <a:gdLst/>
                <a:ahLst/>
                <a:cxnLst/>
                <a:rect l="l" t="t" r="r" b="b"/>
                <a:pathLst>
                  <a:path w="1967713" h="69850">
                    <a:moveTo>
                      <a:pt x="1676883" y="0"/>
                    </a:moveTo>
                    <a:lnTo>
                      <a:pt x="0" y="0"/>
                    </a:lnTo>
                    <a:lnTo>
                      <a:pt x="0" y="69850"/>
                    </a:lnTo>
                    <a:lnTo>
                      <a:pt x="1967713" y="69850"/>
                    </a:lnTo>
                    <a:lnTo>
                      <a:pt x="1967713" y="0"/>
                    </a:lnTo>
                    <a:close/>
                  </a:path>
                </a:pathLst>
              </a:custGeom>
              <a:solidFill>
                <a:srgbClr val="BDA565"/>
              </a:solidFill>
            </p:spPr>
            <p:txBody>
              <a:bodyPr/>
              <a:lstStyle/>
              <a:p>
                <a:endParaRPr lang="en-ZA"/>
              </a:p>
            </p:txBody>
          </p:sp>
        </p:grpSp>
        <p:sp>
          <p:nvSpPr>
            <p:cNvPr id="45" name="TextBox 45"/>
            <p:cNvSpPr txBox="1"/>
            <p:nvPr/>
          </p:nvSpPr>
          <p:spPr>
            <a:xfrm>
              <a:off x="0" y="-28575"/>
              <a:ext cx="1782378" cy="638175"/>
            </a:xfrm>
            <a:prstGeom prst="rect">
              <a:avLst/>
            </a:prstGeom>
          </p:spPr>
          <p:txBody>
            <a:bodyPr lIns="0" tIns="0" rIns="0" bIns="0" rtlCol="0" anchor="t">
              <a:spAutoFit/>
            </a:bodyPr>
            <a:lstStyle/>
            <a:p>
              <a:pPr marL="0" lvl="0" indent="0" algn="ctr">
                <a:lnSpc>
                  <a:spcPts val="3900"/>
                </a:lnSpc>
              </a:pPr>
              <a:r>
                <a:rPr lang="en-US" sz="3000" b="1" u="none" spc="-30">
                  <a:solidFill>
                    <a:srgbClr val="201702"/>
                  </a:solidFill>
                  <a:latin typeface="Roboto Mono Bold"/>
                  <a:ea typeface="Roboto Mono Bold"/>
                  <a:cs typeface="Roboto Mono Bold"/>
                  <a:sym typeface="Roboto Mono Bold"/>
                </a:rPr>
                <a:t>03</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BDB9"/>
        </a:solidFill>
        <a:effectLst/>
      </p:bgPr>
    </p:bg>
    <p:spTree>
      <p:nvGrpSpPr>
        <p:cNvPr id="1" name=""/>
        <p:cNvGrpSpPr/>
        <p:nvPr/>
      </p:nvGrpSpPr>
      <p:grpSpPr>
        <a:xfrm>
          <a:off x="0" y="0"/>
          <a:ext cx="0" cy="0"/>
          <a:chOff x="0" y="0"/>
          <a:chExt cx="0" cy="0"/>
        </a:xfrm>
      </p:grpSpPr>
      <p:sp>
        <p:nvSpPr>
          <p:cNvPr id="2" name="AutoShape 2"/>
          <p:cNvSpPr/>
          <p:nvPr/>
        </p:nvSpPr>
        <p:spPr>
          <a:xfrm>
            <a:off x="0" y="0"/>
            <a:ext cx="8121684" cy="10287000"/>
          </a:xfrm>
          <a:prstGeom prst="rect">
            <a:avLst/>
          </a:prstGeom>
          <a:solidFill>
            <a:srgbClr val="FCDFDD"/>
          </a:solidFill>
        </p:spPr>
        <p:txBody>
          <a:bodyPr/>
          <a:lstStyle/>
          <a:p>
            <a:endParaRPr lang="en-ZA"/>
          </a:p>
        </p:txBody>
      </p:sp>
      <p:grpSp>
        <p:nvGrpSpPr>
          <p:cNvPr id="3" name="Group 3"/>
          <p:cNvGrpSpPr/>
          <p:nvPr/>
        </p:nvGrpSpPr>
        <p:grpSpPr>
          <a:xfrm>
            <a:off x="0" y="0"/>
            <a:ext cx="8121684" cy="10287000"/>
            <a:chOff x="0" y="0"/>
            <a:chExt cx="6823730" cy="8643000"/>
          </a:xfrm>
        </p:grpSpPr>
        <p:sp>
          <p:nvSpPr>
            <p:cNvPr id="4" name="Freeform 4"/>
            <p:cNvSpPr/>
            <p:nvPr/>
          </p:nvSpPr>
          <p:spPr>
            <a:xfrm>
              <a:off x="0" y="0"/>
              <a:ext cx="6823731" cy="8643000"/>
            </a:xfrm>
            <a:custGeom>
              <a:avLst/>
              <a:gdLst/>
              <a:ahLst/>
              <a:cxnLst/>
              <a:rect l="l" t="t" r="r" b="b"/>
              <a:pathLst>
                <a:path w="6823731" h="8643000">
                  <a:moveTo>
                    <a:pt x="6681570" y="864300"/>
                  </a:moveTo>
                  <a:cubicBezTo>
                    <a:pt x="6681570" y="777870"/>
                    <a:pt x="6681570" y="605010"/>
                    <a:pt x="6681570" y="518580"/>
                  </a:cubicBezTo>
                  <a:lnTo>
                    <a:pt x="6539409" y="518580"/>
                  </a:lnTo>
                  <a:lnTo>
                    <a:pt x="6539409" y="345720"/>
                  </a:lnTo>
                  <a:lnTo>
                    <a:pt x="6397247" y="345720"/>
                  </a:lnTo>
                  <a:lnTo>
                    <a:pt x="6397247" y="172860"/>
                  </a:lnTo>
                  <a:cubicBezTo>
                    <a:pt x="6326167" y="172860"/>
                    <a:pt x="6184006" y="172860"/>
                    <a:pt x="6112925" y="172860"/>
                  </a:cubicBezTo>
                  <a:lnTo>
                    <a:pt x="6112925" y="0"/>
                  </a:lnTo>
                  <a:cubicBezTo>
                    <a:pt x="4313166" y="0"/>
                    <a:pt x="2510564" y="0"/>
                    <a:pt x="710805" y="0"/>
                  </a:cubicBezTo>
                  <a:lnTo>
                    <a:pt x="710805" y="172860"/>
                  </a:lnTo>
                  <a:cubicBezTo>
                    <a:pt x="639725" y="172860"/>
                    <a:pt x="497564" y="172860"/>
                    <a:pt x="426483" y="172860"/>
                  </a:cubicBezTo>
                  <a:lnTo>
                    <a:pt x="426483" y="345720"/>
                  </a:lnTo>
                  <a:lnTo>
                    <a:pt x="284322" y="345720"/>
                  </a:lnTo>
                  <a:lnTo>
                    <a:pt x="284322" y="518580"/>
                  </a:lnTo>
                  <a:lnTo>
                    <a:pt x="142161" y="518580"/>
                  </a:lnTo>
                  <a:cubicBezTo>
                    <a:pt x="142161" y="605010"/>
                    <a:pt x="142161" y="777870"/>
                    <a:pt x="142161" y="864300"/>
                  </a:cubicBezTo>
                  <a:lnTo>
                    <a:pt x="0" y="864300"/>
                  </a:lnTo>
                  <a:cubicBezTo>
                    <a:pt x="0" y="3168524"/>
                    <a:pt x="0" y="5474476"/>
                    <a:pt x="0" y="7778700"/>
                  </a:cubicBezTo>
                  <a:lnTo>
                    <a:pt x="142161" y="7778700"/>
                  </a:lnTo>
                  <a:cubicBezTo>
                    <a:pt x="142161" y="7865130"/>
                    <a:pt x="142161" y="8037990"/>
                    <a:pt x="142161" y="8124420"/>
                  </a:cubicBezTo>
                  <a:lnTo>
                    <a:pt x="284322" y="8124420"/>
                  </a:lnTo>
                  <a:lnTo>
                    <a:pt x="284322" y="8297280"/>
                  </a:lnTo>
                  <a:lnTo>
                    <a:pt x="426483" y="8297280"/>
                  </a:lnTo>
                  <a:lnTo>
                    <a:pt x="426483" y="8470140"/>
                  </a:lnTo>
                  <a:cubicBezTo>
                    <a:pt x="497564" y="8470140"/>
                    <a:pt x="639725" y="8470140"/>
                    <a:pt x="710805" y="8470140"/>
                  </a:cubicBezTo>
                  <a:lnTo>
                    <a:pt x="710805" y="8643000"/>
                  </a:lnTo>
                  <a:cubicBezTo>
                    <a:pt x="2510564" y="8643000"/>
                    <a:pt x="4313166" y="8643000"/>
                    <a:pt x="6112925" y="8643000"/>
                  </a:cubicBezTo>
                  <a:lnTo>
                    <a:pt x="6112925" y="8470140"/>
                  </a:lnTo>
                  <a:cubicBezTo>
                    <a:pt x="6184006" y="8470140"/>
                    <a:pt x="6326167" y="8470140"/>
                    <a:pt x="6397247" y="8470140"/>
                  </a:cubicBezTo>
                  <a:lnTo>
                    <a:pt x="6397247" y="8297280"/>
                  </a:lnTo>
                  <a:lnTo>
                    <a:pt x="6539409" y="8297280"/>
                  </a:lnTo>
                  <a:lnTo>
                    <a:pt x="6539409" y="8124420"/>
                  </a:lnTo>
                  <a:lnTo>
                    <a:pt x="6681570" y="8124420"/>
                  </a:lnTo>
                  <a:cubicBezTo>
                    <a:pt x="6681570" y="8037990"/>
                    <a:pt x="6681570" y="7865130"/>
                    <a:pt x="6681570" y="7778700"/>
                  </a:cubicBezTo>
                  <a:lnTo>
                    <a:pt x="6823731" y="7778700"/>
                  </a:lnTo>
                  <a:cubicBezTo>
                    <a:pt x="6823731" y="5474476"/>
                    <a:pt x="6823731" y="3168524"/>
                    <a:pt x="6823731" y="864300"/>
                  </a:cubicBezTo>
                  <a:lnTo>
                    <a:pt x="6681570" y="864300"/>
                  </a:lnTo>
                  <a:close/>
                </a:path>
              </a:pathLst>
            </a:custGeom>
            <a:blipFill>
              <a:blip r:embed="rId2"/>
              <a:stretch>
                <a:fillRect l="-47996" r="-47996"/>
              </a:stretch>
            </a:blipFill>
          </p:spPr>
          <p:txBody>
            <a:bodyPr/>
            <a:lstStyle/>
            <a:p>
              <a:endParaRPr lang="en-ZA"/>
            </a:p>
          </p:txBody>
        </p:sp>
      </p:grpSp>
      <p:grpSp>
        <p:nvGrpSpPr>
          <p:cNvPr id="5" name="Group 5"/>
          <p:cNvGrpSpPr/>
          <p:nvPr/>
        </p:nvGrpSpPr>
        <p:grpSpPr>
          <a:xfrm rot="5400000">
            <a:off x="3844920" y="-3844920"/>
            <a:ext cx="1536973" cy="9226812"/>
            <a:chOff x="0" y="0"/>
            <a:chExt cx="2049297" cy="12302417"/>
          </a:xfrm>
        </p:grpSpPr>
        <p:sp>
          <p:nvSpPr>
            <p:cNvPr id="6" name="AutoShape 6"/>
            <p:cNvSpPr/>
            <p:nvPr/>
          </p:nvSpPr>
          <p:spPr>
            <a:xfrm rot="-5400000">
              <a:off x="0" y="0"/>
              <a:ext cx="683099" cy="683099"/>
            </a:xfrm>
            <a:prstGeom prst="rect">
              <a:avLst/>
            </a:prstGeom>
            <a:solidFill>
              <a:srgbClr val="BDA565"/>
            </a:solidFill>
          </p:spPr>
          <p:txBody>
            <a:bodyPr/>
            <a:lstStyle/>
            <a:p>
              <a:endParaRPr lang="en-ZA"/>
            </a:p>
          </p:txBody>
        </p:sp>
        <p:sp>
          <p:nvSpPr>
            <p:cNvPr id="7" name="AutoShape 7"/>
            <p:cNvSpPr/>
            <p:nvPr/>
          </p:nvSpPr>
          <p:spPr>
            <a:xfrm rot="-5400000">
              <a:off x="1024649" y="3766556"/>
              <a:ext cx="1366198" cy="683099"/>
            </a:xfrm>
            <a:prstGeom prst="rect">
              <a:avLst/>
            </a:prstGeom>
            <a:solidFill>
              <a:srgbClr val="F7BDB9"/>
            </a:solidFill>
          </p:spPr>
          <p:txBody>
            <a:bodyPr/>
            <a:lstStyle/>
            <a:p>
              <a:endParaRPr lang="en-ZA"/>
            </a:p>
          </p:txBody>
        </p:sp>
        <p:sp>
          <p:nvSpPr>
            <p:cNvPr id="8" name="AutoShape 8"/>
            <p:cNvSpPr/>
            <p:nvPr/>
          </p:nvSpPr>
          <p:spPr>
            <a:xfrm rot="-5400000">
              <a:off x="1024649" y="1707748"/>
              <a:ext cx="1366198" cy="683099"/>
            </a:xfrm>
            <a:prstGeom prst="rect">
              <a:avLst/>
            </a:prstGeom>
            <a:solidFill>
              <a:srgbClr val="DAA29E"/>
            </a:solidFill>
          </p:spPr>
          <p:txBody>
            <a:bodyPr/>
            <a:lstStyle/>
            <a:p>
              <a:endParaRPr lang="en-ZA"/>
            </a:p>
          </p:txBody>
        </p:sp>
        <p:sp>
          <p:nvSpPr>
            <p:cNvPr id="9" name="AutoShape 9"/>
            <p:cNvSpPr/>
            <p:nvPr/>
          </p:nvSpPr>
          <p:spPr>
            <a:xfrm rot="-5400000">
              <a:off x="0" y="2049297"/>
              <a:ext cx="683099" cy="683099"/>
            </a:xfrm>
            <a:prstGeom prst="rect">
              <a:avLst/>
            </a:prstGeom>
            <a:solidFill>
              <a:srgbClr val="F7BDB9"/>
            </a:solidFill>
          </p:spPr>
          <p:txBody>
            <a:bodyPr/>
            <a:lstStyle/>
            <a:p>
              <a:endParaRPr lang="en-ZA"/>
            </a:p>
          </p:txBody>
        </p:sp>
        <p:sp>
          <p:nvSpPr>
            <p:cNvPr id="10" name="AutoShape 10"/>
            <p:cNvSpPr/>
            <p:nvPr/>
          </p:nvSpPr>
          <p:spPr>
            <a:xfrm rot="-5400000">
              <a:off x="683099" y="1366198"/>
              <a:ext cx="683099" cy="683099"/>
            </a:xfrm>
            <a:prstGeom prst="rect">
              <a:avLst/>
            </a:prstGeom>
            <a:solidFill>
              <a:srgbClr val="F7BDB9"/>
            </a:solidFill>
          </p:spPr>
          <p:txBody>
            <a:bodyPr/>
            <a:lstStyle/>
            <a:p>
              <a:endParaRPr lang="en-ZA"/>
            </a:p>
          </p:txBody>
        </p:sp>
        <p:sp>
          <p:nvSpPr>
            <p:cNvPr id="11" name="AutoShape 11"/>
            <p:cNvSpPr/>
            <p:nvPr/>
          </p:nvSpPr>
          <p:spPr>
            <a:xfrm rot="-5400000">
              <a:off x="1366198" y="683099"/>
              <a:ext cx="683099" cy="683099"/>
            </a:xfrm>
            <a:prstGeom prst="rect">
              <a:avLst/>
            </a:prstGeom>
            <a:solidFill>
              <a:srgbClr val="BDA565"/>
            </a:solidFill>
          </p:spPr>
          <p:txBody>
            <a:bodyPr/>
            <a:lstStyle/>
            <a:p>
              <a:endParaRPr lang="en-ZA"/>
            </a:p>
          </p:txBody>
        </p:sp>
        <p:sp>
          <p:nvSpPr>
            <p:cNvPr id="12" name="AutoShape 12"/>
            <p:cNvSpPr/>
            <p:nvPr/>
          </p:nvSpPr>
          <p:spPr>
            <a:xfrm rot="-5400000">
              <a:off x="683099" y="7520723"/>
              <a:ext cx="683099" cy="683099"/>
            </a:xfrm>
            <a:prstGeom prst="rect">
              <a:avLst/>
            </a:prstGeom>
            <a:solidFill>
              <a:srgbClr val="BDA565"/>
            </a:solidFill>
          </p:spPr>
          <p:txBody>
            <a:bodyPr/>
            <a:lstStyle/>
            <a:p>
              <a:endParaRPr lang="en-ZA"/>
            </a:p>
          </p:txBody>
        </p:sp>
        <p:sp>
          <p:nvSpPr>
            <p:cNvPr id="13" name="AutoShape 13"/>
            <p:cNvSpPr/>
            <p:nvPr/>
          </p:nvSpPr>
          <p:spPr>
            <a:xfrm rot="-5400000">
              <a:off x="0" y="3425006"/>
              <a:ext cx="683099" cy="683099"/>
            </a:xfrm>
            <a:prstGeom prst="rect">
              <a:avLst/>
            </a:prstGeom>
            <a:solidFill>
              <a:srgbClr val="BDA565"/>
            </a:solidFill>
          </p:spPr>
          <p:txBody>
            <a:bodyPr/>
            <a:lstStyle/>
            <a:p>
              <a:endParaRPr lang="en-ZA"/>
            </a:p>
          </p:txBody>
        </p:sp>
        <p:sp>
          <p:nvSpPr>
            <p:cNvPr id="14" name="AutoShape 14"/>
            <p:cNvSpPr/>
            <p:nvPr/>
          </p:nvSpPr>
          <p:spPr>
            <a:xfrm rot="-5400000">
              <a:off x="1366198" y="5474304"/>
              <a:ext cx="683099" cy="683099"/>
            </a:xfrm>
            <a:prstGeom prst="rect">
              <a:avLst/>
            </a:prstGeom>
            <a:solidFill>
              <a:srgbClr val="BDA565"/>
            </a:solidFill>
          </p:spPr>
          <p:txBody>
            <a:bodyPr/>
            <a:lstStyle/>
            <a:p>
              <a:endParaRPr lang="en-ZA"/>
            </a:p>
          </p:txBody>
        </p:sp>
        <p:sp>
          <p:nvSpPr>
            <p:cNvPr id="15" name="AutoShape 15"/>
            <p:cNvSpPr/>
            <p:nvPr/>
          </p:nvSpPr>
          <p:spPr>
            <a:xfrm rot="-5400000">
              <a:off x="1366198" y="6837624"/>
              <a:ext cx="683099" cy="683099"/>
            </a:xfrm>
            <a:prstGeom prst="rect">
              <a:avLst/>
            </a:prstGeom>
            <a:solidFill>
              <a:srgbClr val="DAA29E"/>
            </a:solidFill>
          </p:spPr>
          <p:txBody>
            <a:bodyPr/>
            <a:lstStyle/>
            <a:p>
              <a:endParaRPr lang="en-ZA"/>
            </a:p>
          </p:txBody>
        </p:sp>
        <p:sp>
          <p:nvSpPr>
            <p:cNvPr id="16" name="AutoShape 16"/>
            <p:cNvSpPr/>
            <p:nvPr/>
          </p:nvSpPr>
          <p:spPr>
            <a:xfrm rot="-5400000">
              <a:off x="0" y="6837624"/>
              <a:ext cx="683099" cy="683099"/>
            </a:xfrm>
            <a:prstGeom prst="rect">
              <a:avLst/>
            </a:prstGeom>
            <a:solidFill>
              <a:srgbClr val="BDA565"/>
            </a:solidFill>
          </p:spPr>
          <p:txBody>
            <a:bodyPr/>
            <a:lstStyle/>
            <a:p>
              <a:endParaRPr lang="en-ZA"/>
            </a:p>
          </p:txBody>
        </p:sp>
        <p:sp>
          <p:nvSpPr>
            <p:cNvPr id="17" name="AutoShape 17"/>
            <p:cNvSpPr/>
            <p:nvPr/>
          </p:nvSpPr>
          <p:spPr>
            <a:xfrm rot="-5400000">
              <a:off x="1366198" y="8886921"/>
              <a:ext cx="683099" cy="683099"/>
            </a:xfrm>
            <a:prstGeom prst="rect">
              <a:avLst/>
            </a:prstGeom>
            <a:solidFill>
              <a:srgbClr val="BDA565"/>
            </a:solidFill>
          </p:spPr>
          <p:txBody>
            <a:bodyPr/>
            <a:lstStyle/>
            <a:p>
              <a:endParaRPr lang="en-ZA"/>
            </a:p>
          </p:txBody>
        </p:sp>
        <p:sp>
          <p:nvSpPr>
            <p:cNvPr id="18" name="AutoShape 18"/>
            <p:cNvSpPr/>
            <p:nvPr/>
          </p:nvSpPr>
          <p:spPr>
            <a:xfrm rot="-5400000">
              <a:off x="683099" y="10936218"/>
              <a:ext cx="683099" cy="683099"/>
            </a:xfrm>
            <a:prstGeom prst="rect">
              <a:avLst/>
            </a:prstGeom>
            <a:solidFill>
              <a:srgbClr val="BDA565"/>
            </a:solidFill>
          </p:spPr>
          <p:txBody>
            <a:bodyPr/>
            <a:lstStyle/>
            <a:p>
              <a:endParaRPr lang="en-ZA"/>
            </a:p>
          </p:txBody>
        </p:sp>
        <p:sp>
          <p:nvSpPr>
            <p:cNvPr id="19" name="AutoShape 19"/>
            <p:cNvSpPr/>
            <p:nvPr/>
          </p:nvSpPr>
          <p:spPr>
            <a:xfrm rot="-5400000">
              <a:off x="683099" y="11619317"/>
              <a:ext cx="683099" cy="683099"/>
            </a:xfrm>
            <a:prstGeom prst="rect">
              <a:avLst/>
            </a:prstGeom>
            <a:solidFill>
              <a:srgbClr val="F7BDB9"/>
            </a:solidFill>
          </p:spPr>
          <p:txBody>
            <a:bodyPr/>
            <a:lstStyle/>
            <a:p>
              <a:endParaRPr lang="en-ZA"/>
            </a:p>
          </p:txBody>
        </p:sp>
        <p:sp>
          <p:nvSpPr>
            <p:cNvPr id="20" name="AutoShape 20"/>
            <p:cNvSpPr/>
            <p:nvPr/>
          </p:nvSpPr>
          <p:spPr>
            <a:xfrm rot="-5400000">
              <a:off x="0" y="9570020"/>
              <a:ext cx="683099" cy="683099"/>
            </a:xfrm>
            <a:prstGeom prst="rect">
              <a:avLst/>
            </a:prstGeom>
            <a:solidFill>
              <a:srgbClr val="F7BDB9"/>
            </a:solidFill>
          </p:spPr>
          <p:txBody>
            <a:bodyPr/>
            <a:lstStyle/>
            <a:p>
              <a:endParaRPr lang="en-ZA"/>
            </a:p>
          </p:txBody>
        </p:sp>
        <p:sp>
          <p:nvSpPr>
            <p:cNvPr id="21" name="AutoShape 21"/>
            <p:cNvSpPr/>
            <p:nvPr/>
          </p:nvSpPr>
          <p:spPr>
            <a:xfrm rot="-5400000">
              <a:off x="683099" y="8203822"/>
              <a:ext cx="683099" cy="683099"/>
            </a:xfrm>
            <a:prstGeom prst="rect">
              <a:avLst/>
            </a:prstGeom>
            <a:solidFill>
              <a:srgbClr val="F7BDB9"/>
            </a:solidFill>
          </p:spPr>
          <p:txBody>
            <a:bodyPr/>
            <a:lstStyle/>
            <a:p>
              <a:endParaRPr lang="en-ZA"/>
            </a:p>
          </p:txBody>
        </p:sp>
        <p:sp>
          <p:nvSpPr>
            <p:cNvPr id="22" name="AutoShape 22"/>
            <p:cNvSpPr/>
            <p:nvPr/>
          </p:nvSpPr>
          <p:spPr>
            <a:xfrm rot="-5400000">
              <a:off x="341550" y="4449655"/>
              <a:ext cx="1366198" cy="683099"/>
            </a:xfrm>
            <a:prstGeom prst="rect">
              <a:avLst/>
            </a:prstGeom>
            <a:solidFill>
              <a:srgbClr val="DAA29E"/>
            </a:solidFill>
          </p:spPr>
          <p:txBody>
            <a:bodyPr/>
            <a:lstStyle/>
            <a:p>
              <a:endParaRPr lang="en-ZA"/>
            </a:p>
          </p:txBody>
        </p:sp>
        <p:sp>
          <p:nvSpPr>
            <p:cNvPr id="23" name="AutoShape 23"/>
            <p:cNvSpPr/>
            <p:nvPr/>
          </p:nvSpPr>
          <p:spPr>
            <a:xfrm rot="-5400000">
              <a:off x="1024649" y="9911570"/>
              <a:ext cx="1366198" cy="683099"/>
            </a:xfrm>
            <a:prstGeom prst="rect">
              <a:avLst/>
            </a:prstGeom>
            <a:solidFill>
              <a:srgbClr val="DAA29E"/>
            </a:solidFill>
          </p:spPr>
          <p:txBody>
            <a:bodyPr/>
            <a:lstStyle/>
            <a:p>
              <a:endParaRPr lang="en-ZA"/>
            </a:p>
          </p:txBody>
        </p:sp>
      </p:grpSp>
      <p:grpSp>
        <p:nvGrpSpPr>
          <p:cNvPr id="24" name="Group 24"/>
          <p:cNvGrpSpPr/>
          <p:nvPr/>
        </p:nvGrpSpPr>
        <p:grpSpPr>
          <a:xfrm rot="-5400000">
            <a:off x="13071732" y="-3844920"/>
            <a:ext cx="1536973" cy="9226812"/>
            <a:chOff x="0" y="0"/>
            <a:chExt cx="2049297" cy="12302417"/>
          </a:xfrm>
        </p:grpSpPr>
        <p:sp>
          <p:nvSpPr>
            <p:cNvPr id="25" name="AutoShape 25"/>
            <p:cNvSpPr/>
            <p:nvPr/>
          </p:nvSpPr>
          <p:spPr>
            <a:xfrm rot="-5400000">
              <a:off x="0" y="0"/>
              <a:ext cx="683099" cy="683099"/>
            </a:xfrm>
            <a:prstGeom prst="rect">
              <a:avLst/>
            </a:prstGeom>
            <a:solidFill>
              <a:srgbClr val="BDA565"/>
            </a:solidFill>
          </p:spPr>
          <p:txBody>
            <a:bodyPr/>
            <a:lstStyle/>
            <a:p>
              <a:endParaRPr lang="en-ZA"/>
            </a:p>
          </p:txBody>
        </p:sp>
        <p:sp>
          <p:nvSpPr>
            <p:cNvPr id="26" name="AutoShape 26"/>
            <p:cNvSpPr/>
            <p:nvPr/>
          </p:nvSpPr>
          <p:spPr>
            <a:xfrm rot="-5400000">
              <a:off x="1024649" y="3766556"/>
              <a:ext cx="1366198" cy="683099"/>
            </a:xfrm>
            <a:prstGeom prst="rect">
              <a:avLst/>
            </a:prstGeom>
            <a:solidFill>
              <a:srgbClr val="FCDFDD"/>
            </a:solidFill>
          </p:spPr>
          <p:txBody>
            <a:bodyPr/>
            <a:lstStyle/>
            <a:p>
              <a:endParaRPr lang="en-ZA"/>
            </a:p>
          </p:txBody>
        </p:sp>
        <p:sp>
          <p:nvSpPr>
            <p:cNvPr id="27" name="AutoShape 27"/>
            <p:cNvSpPr/>
            <p:nvPr/>
          </p:nvSpPr>
          <p:spPr>
            <a:xfrm rot="-5400000">
              <a:off x="1024649" y="1707748"/>
              <a:ext cx="1366198" cy="683099"/>
            </a:xfrm>
            <a:prstGeom prst="rect">
              <a:avLst/>
            </a:prstGeom>
            <a:solidFill>
              <a:srgbClr val="DAA29E"/>
            </a:solidFill>
          </p:spPr>
          <p:txBody>
            <a:bodyPr/>
            <a:lstStyle/>
            <a:p>
              <a:endParaRPr lang="en-ZA"/>
            </a:p>
          </p:txBody>
        </p:sp>
        <p:sp>
          <p:nvSpPr>
            <p:cNvPr id="28" name="AutoShape 28"/>
            <p:cNvSpPr/>
            <p:nvPr/>
          </p:nvSpPr>
          <p:spPr>
            <a:xfrm rot="-5400000">
              <a:off x="0" y="2049297"/>
              <a:ext cx="683099" cy="683099"/>
            </a:xfrm>
            <a:prstGeom prst="rect">
              <a:avLst/>
            </a:prstGeom>
            <a:solidFill>
              <a:srgbClr val="FCDFDD"/>
            </a:solidFill>
          </p:spPr>
          <p:txBody>
            <a:bodyPr/>
            <a:lstStyle/>
            <a:p>
              <a:endParaRPr lang="en-ZA"/>
            </a:p>
          </p:txBody>
        </p:sp>
        <p:sp>
          <p:nvSpPr>
            <p:cNvPr id="29" name="AutoShape 29"/>
            <p:cNvSpPr/>
            <p:nvPr/>
          </p:nvSpPr>
          <p:spPr>
            <a:xfrm rot="-5400000">
              <a:off x="683099" y="1366198"/>
              <a:ext cx="683099" cy="683099"/>
            </a:xfrm>
            <a:prstGeom prst="rect">
              <a:avLst/>
            </a:prstGeom>
            <a:solidFill>
              <a:srgbClr val="FCDFDD"/>
            </a:solidFill>
          </p:spPr>
          <p:txBody>
            <a:bodyPr/>
            <a:lstStyle/>
            <a:p>
              <a:endParaRPr lang="en-ZA"/>
            </a:p>
          </p:txBody>
        </p:sp>
        <p:sp>
          <p:nvSpPr>
            <p:cNvPr id="30" name="AutoShape 30"/>
            <p:cNvSpPr/>
            <p:nvPr/>
          </p:nvSpPr>
          <p:spPr>
            <a:xfrm rot="-5400000">
              <a:off x="1366198" y="683099"/>
              <a:ext cx="683099" cy="683099"/>
            </a:xfrm>
            <a:prstGeom prst="rect">
              <a:avLst/>
            </a:prstGeom>
            <a:solidFill>
              <a:srgbClr val="BDA565"/>
            </a:solidFill>
          </p:spPr>
          <p:txBody>
            <a:bodyPr/>
            <a:lstStyle/>
            <a:p>
              <a:endParaRPr lang="en-ZA"/>
            </a:p>
          </p:txBody>
        </p:sp>
        <p:sp>
          <p:nvSpPr>
            <p:cNvPr id="31" name="AutoShape 31"/>
            <p:cNvSpPr/>
            <p:nvPr/>
          </p:nvSpPr>
          <p:spPr>
            <a:xfrm rot="-5400000">
              <a:off x="683099" y="7520723"/>
              <a:ext cx="683099" cy="683099"/>
            </a:xfrm>
            <a:prstGeom prst="rect">
              <a:avLst/>
            </a:prstGeom>
            <a:solidFill>
              <a:srgbClr val="BDA565"/>
            </a:solidFill>
          </p:spPr>
          <p:txBody>
            <a:bodyPr/>
            <a:lstStyle/>
            <a:p>
              <a:endParaRPr lang="en-ZA"/>
            </a:p>
          </p:txBody>
        </p:sp>
        <p:sp>
          <p:nvSpPr>
            <p:cNvPr id="32" name="AutoShape 32"/>
            <p:cNvSpPr/>
            <p:nvPr/>
          </p:nvSpPr>
          <p:spPr>
            <a:xfrm rot="-5400000">
              <a:off x="0" y="3425006"/>
              <a:ext cx="683099" cy="683099"/>
            </a:xfrm>
            <a:prstGeom prst="rect">
              <a:avLst/>
            </a:prstGeom>
            <a:solidFill>
              <a:srgbClr val="BDA565"/>
            </a:solidFill>
          </p:spPr>
          <p:txBody>
            <a:bodyPr/>
            <a:lstStyle/>
            <a:p>
              <a:endParaRPr lang="en-ZA"/>
            </a:p>
          </p:txBody>
        </p:sp>
        <p:sp>
          <p:nvSpPr>
            <p:cNvPr id="33" name="AutoShape 33"/>
            <p:cNvSpPr/>
            <p:nvPr/>
          </p:nvSpPr>
          <p:spPr>
            <a:xfrm rot="-5400000">
              <a:off x="1366198" y="5474304"/>
              <a:ext cx="683099" cy="683099"/>
            </a:xfrm>
            <a:prstGeom prst="rect">
              <a:avLst/>
            </a:prstGeom>
            <a:solidFill>
              <a:srgbClr val="BDA565"/>
            </a:solidFill>
          </p:spPr>
          <p:txBody>
            <a:bodyPr/>
            <a:lstStyle/>
            <a:p>
              <a:endParaRPr lang="en-ZA"/>
            </a:p>
          </p:txBody>
        </p:sp>
        <p:sp>
          <p:nvSpPr>
            <p:cNvPr id="34" name="AutoShape 34"/>
            <p:cNvSpPr/>
            <p:nvPr/>
          </p:nvSpPr>
          <p:spPr>
            <a:xfrm rot="-5400000">
              <a:off x="1366198" y="6837624"/>
              <a:ext cx="683099" cy="683099"/>
            </a:xfrm>
            <a:prstGeom prst="rect">
              <a:avLst/>
            </a:prstGeom>
            <a:solidFill>
              <a:srgbClr val="DAA29E"/>
            </a:solidFill>
          </p:spPr>
          <p:txBody>
            <a:bodyPr/>
            <a:lstStyle/>
            <a:p>
              <a:endParaRPr lang="en-ZA"/>
            </a:p>
          </p:txBody>
        </p:sp>
        <p:sp>
          <p:nvSpPr>
            <p:cNvPr id="35" name="AutoShape 35"/>
            <p:cNvSpPr/>
            <p:nvPr/>
          </p:nvSpPr>
          <p:spPr>
            <a:xfrm rot="-5400000">
              <a:off x="0" y="6837624"/>
              <a:ext cx="683099" cy="683099"/>
            </a:xfrm>
            <a:prstGeom prst="rect">
              <a:avLst/>
            </a:prstGeom>
            <a:solidFill>
              <a:srgbClr val="BDA565"/>
            </a:solidFill>
          </p:spPr>
          <p:txBody>
            <a:bodyPr/>
            <a:lstStyle/>
            <a:p>
              <a:endParaRPr lang="en-ZA"/>
            </a:p>
          </p:txBody>
        </p:sp>
        <p:sp>
          <p:nvSpPr>
            <p:cNvPr id="36" name="AutoShape 36"/>
            <p:cNvSpPr/>
            <p:nvPr/>
          </p:nvSpPr>
          <p:spPr>
            <a:xfrm rot="-5400000">
              <a:off x="1366198" y="8886921"/>
              <a:ext cx="683099" cy="683099"/>
            </a:xfrm>
            <a:prstGeom prst="rect">
              <a:avLst/>
            </a:prstGeom>
            <a:solidFill>
              <a:srgbClr val="BDA565"/>
            </a:solidFill>
          </p:spPr>
          <p:txBody>
            <a:bodyPr/>
            <a:lstStyle/>
            <a:p>
              <a:endParaRPr lang="en-ZA"/>
            </a:p>
          </p:txBody>
        </p:sp>
        <p:sp>
          <p:nvSpPr>
            <p:cNvPr id="37" name="AutoShape 37"/>
            <p:cNvSpPr/>
            <p:nvPr/>
          </p:nvSpPr>
          <p:spPr>
            <a:xfrm rot="-5400000">
              <a:off x="683099" y="10936218"/>
              <a:ext cx="683099" cy="683099"/>
            </a:xfrm>
            <a:prstGeom prst="rect">
              <a:avLst/>
            </a:prstGeom>
            <a:solidFill>
              <a:srgbClr val="BDA565"/>
            </a:solidFill>
          </p:spPr>
          <p:txBody>
            <a:bodyPr/>
            <a:lstStyle/>
            <a:p>
              <a:endParaRPr lang="en-ZA"/>
            </a:p>
          </p:txBody>
        </p:sp>
        <p:sp>
          <p:nvSpPr>
            <p:cNvPr id="38" name="AutoShape 38"/>
            <p:cNvSpPr/>
            <p:nvPr/>
          </p:nvSpPr>
          <p:spPr>
            <a:xfrm rot="-5400000">
              <a:off x="683099" y="11619317"/>
              <a:ext cx="683099" cy="683099"/>
            </a:xfrm>
            <a:prstGeom prst="rect">
              <a:avLst/>
            </a:prstGeom>
            <a:solidFill>
              <a:srgbClr val="FCDFDD"/>
            </a:solidFill>
          </p:spPr>
          <p:txBody>
            <a:bodyPr/>
            <a:lstStyle/>
            <a:p>
              <a:endParaRPr lang="en-ZA"/>
            </a:p>
          </p:txBody>
        </p:sp>
        <p:sp>
          <p:nvSpPr>
            <p:cNvPr id="39" name="AutoShape 39"/>
            <p:cNvSpPr/>
            <p:nvPr/>
          </p:nvSpPr>
          <p:spPr>
            <a:xfrm rot="-5400000">
              <a:off x="0" y="9570020"/>
              <a:ext cx="683099" cy="683099"/>
            </a:xfrm>
            <a:prstGeom prst="rect">
              <a:avLst/>
            </a:prstGeom>
            <a:solidFill>
              <a:srgbClr val="FCDFDD"/>
            </a:solidFill>
          </p:spPr>
          <p:txBody>
            <a:bodyPr/>
            <a:lstStyle/>
            <a:p>
              <a:endParaRPr lang="en-ZA"/>
            </a:p>
          </p:txBody>
        </p:sp>
        <p:sp>
          <p:nvSpPr>
            <p:cNvPr id="40" name="AutoShape 40"/>
            <p:cNvSpPr/>
            <p:nvPr/>
          </p:nvSpPr>
          <p:spPr>
            <a:xfrm rot="-5400000">
              <a:off x="683099" y="8203822"/>
              <a:ext cx="683099" cy="683099"/>
            </a:xfrm>
            <a:prstGeom prst="rect">
              <a:avLst/>
            </a:prstGeom>
            <a:solidFill>
              <a:srgbClr val="FCDFDD"/>
            </a:solidFill>
          </p:spPr>
          <p:txBody>
            <a:bodyPr/>
            <a:lstStyle/>
            <a:p>
              <a:endParaRPr lang="en-ZA"/>
            </a:p>
          </p:txBody>
        </p:sp>
        <p:sp>
          <p:nvSpPr>
            <p:cNvPr id="41" name="AutoShape 41"/>
            <p:cNvSpPr/>
            <p:nvPr/>
          </p:nvSpPr>
          <p:spPr>
            <a:xfrm rot="-5400000">
              <a:off x="341550" y="4449655"/>
              <a:ext cx="1366198" cy="683099"/>
            </a:xfrm>
            <a:prstGeom prst="rect">
              <a:avLst/>
            </a:prstGeom>
            <a:solidFill>
              <a:srgbClr val="DAA29E"/>
            </a:solidFill>
          </p:spPr>
          <p:txBody>
            <a:bodyPr/>
            <a:lstStyle/>
            <a:p>
              <a:endParaRPr lang="en-ZA"/>
            </a:p>
          </p:txBody>
        </p:sp>
        <p:sp>
          <p:nvSpPr>
            <p:cNvPr id="42" name="AutoShape 42"/>
            <p:cNvSpPr/>
            <p:nvPr/>
          </p:nvSpPr>
          <p:spPr>
            <a:xfrm rot="-5400000">
              <a:off x="1024649" y="9911570"/>
              <a:ext cx="1366198" cy="683099"/>
            </a:xfrm>
            <a:prstGeom prst="rect">
              <a:avLst/>
            </a:prstGeom>
            <a:solidFill>
              <a:srgbClr val="DAA29E"/>
            </a:solidFill>
          </p:spPr>
          <p:txBody>
            <a:bodyPr/>
            <a:lstStyle/>
            <a:p>
              <a:endParaRPr lang="en-ZA"/>
            </a:p>
          </p:txBody>
        </p:sp>
      </p:grpSp>
      <p:sp>
        <p:nvSpPr>
          <p:cNvPr id="43" name="Freeform 43"/>
          <p:cNvSpPr/>
          <p:nvPr/>
        </p:nvSpPr>
        <p:spPr>
          <a:xfrm>
            <a:off x="10917" y="9258300"/>
            <a:ext cx="1017783" cy="1017783"/>
          </a:xfrm>
          <a:custGeom>
            <a:avLst/>
            <a:gdLst/>
            <a:ahLst/>
            <a:cxnLst/>
            <a:rect l="l" t="t" r="r" b="b"/>
            <a:pathLst>
              <a:path w="1017783" h="1017783">
                <a:moveTo>
                  <a:pt x="0" y="0"/>
                </a:moveTo>
                <a:lnTo>
                  <a:pt x="1017783" y="0"/>
                </a:lnTo>
                <a:lnTo>
                  <a:pt x="1017783" y="1017783"/>
                </a:lnTo>
                <a:lnTo>
                  <a:pt x="0" y="101778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ZA"/>
          </a:p>
        </p:txBody>
      </p:sp>
      <p:sp>
        <p:nvSpPr>
          <p:cNvPr id="44" name="Freeform 44"/>
          <p:cNvSpPr/>
          <p:nvPr/>
        </p:nvSpPr>
        <p:spPr>
          <a:xfrm>
            <a:off x="7103901" y="9258300"/>
            <a:ext cx="1017783" cy="1017783"/>
          </a:xfrm>
          <a:custGeom>
            <a:avLst/>
            <a:gdLst/>
            <a:ahLst/>
            <a:cxnLst/>
            <a:rect l="l" t="t" r="r" b="b"/>
            <a:pathLst>
              <a:path w="1017783" h="1017783">
                <a:moveTo>
                  <a:pt x="0" y="0"/>
                </a:moveTo>
                <a:lnTo>
                  <a:pt x="1017783" y="0"/>
                </a:lnTo>
                <a:lnTo>
                  <a:pt x="1017783" y="1017783"/>
                </a:lnTo>
                <a:lnTo>
                  <a:pt x="0" y="10177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ZA"/>
          </a:p>
        </p:txBody>
      </p:sp>
      <p:grpSp>
        <p:nvGrpSpPr>
          <p:cNvPr id="45" name="Group 45"/>
          <p:cNvGrpSpPr/>
          <p:nvPr/>
        </p:nvGrpSpPr>
        <p:grpSpPr>
          <a:xfrm>
            <a:off x="9144000" y="2357894"/>
            <a:ext cx="8115300" cy="6523444"/>
            <a:chOff x="0" y="0"/>
            <a:chExt cx="10820400" cy="8697926"/>
          </a:xfrm>
        </p:grpSpPr>
        <p:sp>
          <p:nvSpPr>
            <p:cNvPr id="46" name="TextBox 46"/>
            <p:cNvSpPr txBox="1"/>
            <p:nvPr/>
          </p:nvSpPr>
          <p:spPr>
            <a:xfrm>
              <a:off x="0" y="0"/>
              <a:ext cx="10820400" cy="3467100"/>
            </a:xfrm>
            <a:prstGeom prst="rect">
              <a:avLst/>
            </a:prstGeom>
          </p:spPr>
          <p:txBody>
            <a:bodyPr lIns="0" tIns="0" rIns="0" bIns="0" rtlCol="0" anchor="t">
              <a:spAutoFit/>
            </a:bodyPr>
            <a:lstStyle/>
            <a:p>
              <a:pPr marL="0" lvl="0" indent="0" algn="l">
                <a:lnSpc>
                  <a:spcPts val="6859"/>
                </a:lnSpc>
              </a:pPr>
              <a:r>
                <a:rPr lang="en-US" sz="5715" b="1" u="none" spc="114">
                  <a:solidFill>
                    <a:srgbClr val="201702"/>
                  </a:solidFill>
                  <a:latin typeface="Roboto Mono Bold"/>
                  <a:ea typeface="Roboto Mono Bold"/>
                  <a:cs typeface="Roboto Mono Bold"/>
                  <a:sym typeface="Roboto Mono Bold"/>
                </a:rPr>
                <a:t>Engagement Drivers for Campus Safety Monitoring</a:t>
              </a:r>
            </a:p>
          </p:txBody>
        </p:sp>
        <p:sp>
          <p:nvSpPr>
            <p:cNvPr id="47" name="TextBox 47"/>
            <p:cNvSpPr txBox="1"/>
            <p:nvPr/>
          </p:nvSpPr>
          <p:spPr>
            <a:xfrm>
              <a:off x="0" y="4041497"/>
              <a:ext cx="10820400" cy="1387475"/>
            </a:xfrm>
            <a:prstGeom prst="rect">
              <a:avLst/>
            </a:prstGeom>
          </p:spPr>
          <p:txBody>
            <a:bodyPr lIns="0" tIns="0" rIns="0" bIns="0" rtlCol="0" anchor="t">
              <a:spAutoFit/>
            </a:bodyPr>
            <a:lstStyle/>
            <a:p>
              <a:pPr marL="0" lvl="0" indent="0" algn="l">
                <a:lnSpc>
                  <a:spcPts val="4200"/>
                </a:lnSpc>
              </a:pPr>
              <a:r>
                <a:rPr lang="en-US" sz="3000" b="1" u="none">
                  <a:solidFill>
                    <a:srgbClr val="201702"/>
                  </a:solidFill>
                  <a:latin typeface="Lekton Bold"/>
                  <a:ea typeface="Lekton Bold"/>
                  <a:cs typeface="Lekton Bold"/>
                  <a:sym typeface="Lekton Bold"/>
                </a:rPr>
                <a:t>The importance of real-time alerts and interactive dashboards in ensuring safety</a:t>
              </a:r>
            </a:p>
          </p:txBody>
        </p:sp>
        <p:sp>
          <p:nvSpPr>
            <p:cNvPr id="48" name="TextBox 48"/>
            <p:cNvSpPr txBox="1"/>
            <p:nvPr/>
          </p:nvSpPr>
          <p:spPr>
            <a:xfrm>
              <a:off x="0" y="6307532"/>
              <a:ext cx="10820400" cy="2390394"/>
            </a:xfrm>
            <a:prstGeom prst="rect">
              <a:avLst/>
            </a:prstGeom>
          </p:spPr>
          <p:txBody>
            <a:bodyPr lIns="0" tIns="0" rIns="0" bIns="0" rtlCol="0" anchor="t">
              <a:spAutoFit/>
            </a:bodyPr>
            <a:lstStyle/>
            <a:p>
              <a:pPr marL="0" lvl="0" indent="0" algn="l">
                <a:lnSpc>
                  <a:spcPts val="2903"/>
                </a:lnSpc>
                <a:spcBef>
                  <a:spcPct val="0"/>
                </a:spcBef>
              </a:pPr>
              <a:r>
                <a:rPr lang="en-US" sz="2073" u="none">
                  <a:solidFill>
                    <a:srgbClr val="201702"/>
                  </a:solidFill>
                  <a:latin typeface="Lekton"/>
                  <a:ea typeface="Lekton"/>
                  <a:cs typeface="Lekton"/>
                  <a:sym typeface="Lekton"/>
                </a:rPr>
                <a:t>Engaging users with </a:t>
              </a:r>
              <a:r>
                <a:rPr lang="en-US" sz="2073" b="1" u="none">
                  <a:solidFill>
                    <a:srgbClr val="201702"/>
                  </a:solidFill>
                  <a:latin typeface="Lekton Bold"/>
                  <a:ea typeface="Lekton Bold"/>
                  <a:cs typeface="Lekton Bold"/>
                  <a:sym typeface="Lekton Bold"/>
                </a:rPr>
                <a:t>real-time alerts</a:t>
              </a:r>
              <a:r>
                <a:rPr lang="en-US" sz="2073" u="none">
                  <a:solidFill>
                    <a:srgbClr val="201702"/>
                  </a:solidFill>
                  <a:latin typeface="Lekton"/>
                  <a:ea typeface="Lekton"/>
                  <a:cs typeface="Lekton"/>
                  <a:sym typeface="Lekton"/>
                </a:rPr>
                <a:t> and </a:t>
              </a:r>
              <a:r>
                <a:rPr lang="en-US" sz="2073" b="1" u="none">
                  <a:solidFill>
                    <a:srgbClr val="201702"/>
                  </a:solidFill>
                  <a:latin typeface="Lekton Bold"/>
                  <a:ea typeface="Lekton Bold"/>
                  <a:cs typeface="Lekton Bold"/>
                  <a:sym typeface="Lekton Bold"/>
                </a:rPr>
                <a:t>interactive dashboards</a:t>
              </a:r>
              <a:r>
                <a:rPr lang="en-US" sz="2073" u="none">
                  <a:solidFill>
                    <a:srgbClr val="201702"/>
                  </a:solidFill>
                  <a:latin typeface="Lekton"/>
                  <a:ea typeface="Lekton"/>
                  <a:cs typeface="Lekton"/>
                  <a:sym typeface="Lekton"/>
                </a:rPr>
                <a:t> provides immediate information on safety concerns. This not only keeps the campus informed but also enhances the overall awareness and responsiveness of students, staff, and security personnel to any potential threats.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DFDD"/>
        </a:solidFill>
        <a:effectLst/>
      </p:bgPr>
    </p:bg>
    <p:spTree>
      <p:nvGrpSpPr>
        <p:cNvPr id="1" name=""/>
        <p:cNvGrpSpPr/>
        <p:nvPr/>
      </p:nvGrpSpPr>
      <p:grpSpPr>
        <a:xfrm>
          <a:off x="0" y="0"/>
          <a:ext cx="0" cy="0"/>
          <a:chOff x="0" y="0"/>
          <a:chExt cx="0" cy="0"/>
        </a:xfrm>
      </p:grpSpPr>
      <p:sp>
        <p:nvSpPr>
          <p:cNvPr id="2" name="Freeform 2"/>
          <p:cNvSpPr/>
          <p:nvPr/>
        </p:nvSpPr>
        <p:spPr>
          <a:xfrm>
            <a:off x="8006994" y="-3325438"/>
            <a:ext cx="10771310" cy="10771310"/>
          </a:xfrm>
          <a:custGeom>
            <a:avLst/>
            <a:gdLst/>
            <a:ahLst/>
            <a:cxnLst/>
            <a:rect l="l" t="t" r="r" b="b"/>
            <a:pathLst>
              <a:path w="10771310" h="10771310">
                <a:moveTo>
                  <a:pt x="0" y="0"/>
                </a:moveTo>
                <a:lnTo>
                  <a:pt x="10771309" y="0"/>
                </a:lnTo>
                <a:lnTo>
                  <a:pt x="10771309" y="10771309"/>
                </a:lnTo>
                <a:lnTo>
                  <a:pt x="0" y="10771309"/>
                </a:lnTo>
                <a:lnTo>
                  <a:pt x="0" y="0"/>
                </a:lnTo>
                <a:close/>
              </a:path>
            </a:pathLst>
          </a:custGeom>
          <a:blipFill>
            <a:blip r:embed="rId2">
              <a:alphaModFix amt="85000"/>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 name="Freeform 3"/>
          <p:cNvSpPr/>
          <p:nvPr/>
        </p:nvSpPr>
        <p:spPr>
          <a:xfrm>
            <a:off x="8006994" y="2841129"/>
            <a:ext cx="10771310" cy="10771310"/>
          </a:xfrm>
          <a:custGeom>
            <a:avLst/>
            <a:gdLst/>
            <a:ahLst/>
            <a:cxnLst/>
            <a:rect l="l" t="t" r="r" b="b"/>
            <a:pathLst>
              <a:path w="10771310" h="10771310">
                <a:moveTo>
                  <a:pt x="0" y="0"/>
                </a:moveTo>
                <a:lnTo>
                  <a:pt x="10771309" y="0"/>
                </a:lnTo>
                <a:lnTo>
                  <a:pt x="10771309" y="10771309"/>
                </a:lnTo>
                <a:lnTo>
                  <a:pt x="0" y="10771309"/>
                </a:lnTo>
                <a:lnTo>
                  <a:pt x="0" y="0"/>
                </a:lnTo>
                <a:close/>
              </a:path>
            </a:pathLst>
          </a:custGeom>
          <a:blipFill>
            <a:blip r:embed="rId4">
              <a:alphaModFix amt="90000"/>
              <a:extLst>
                <a:ext uri="{96DAC541-7B7A-43D3-8B79-37D633B846F1}">
                  <asvg:svgBlip xmlns:asvg="http://schemas.microsoft.com/office/drawing/2016/SVG/main" r:embed="rId5"/>
                </a:ext>
              </a:extLst>
            </a:blip>
            <a:stretch>
              <a:fillRect/>
            </a:stretch>
          </a:blipFill>
        </p:spPr>
        <p:txBody>
          <a:bodyPr/>
          <a:lstStyle/>
          <a:p>
            <a:endParaRPr lang="en-ZA"/>
          </a:p>
        </p:txBody>
      </p:sp>
      <p:grpSp>
        <p:nvGrpSpPr>
          <p:cNvPr id="4" name="Group 4"/>
          <p:cNvGrpSpPr/>
          <p:nvPr/>
        </p:nvGrpSpPr>
        <p:grpSpPr>
          <a:xfrm>
            <a:off x="0" y="-104775"/>
            <a:ext cx="1028700" cy="10391775"/>
            <a:chOff x="0" y="0"/>
            <a:chExt cx="270933" cy="2736928"/>
          </a:xfrm>
        </p:grpSpPr>
        <p:sp>
          <p:nvSpPr>
            <p:cNvPr id="5" name="Freeform 5"/>
            <p:cNvSpPr/>
            <p:nvPr/>
          </p:nvSpPr>
          <p:spPr>
            <a:xfrm>
              <a:off x="0" y="0"/>
              <a:ext cx="270933" cy="2736928"/>
            </a:xfrm>
            <a:custGeom>
              <a:avLst/>
              <a:gdLst/>
              <a:ahLst/>
              <a:cxnLst/>
              <a:rect l="l" t="t" r="r" b="b"/>
              <a:pathLst>
                <a:path w="270933" h="2736928">
                  <a:moveTo>
                    <a:pt x="0" y="0"/>
                  </a:moveTo>
                  <a:lnTo>
                    <a:pt x="270933" y="0"/>
                  </a:lnTo>
                  <a:lnTo>
                    <a:pt x="270933" y="2736928"/>
                  </a:lnTo>
                  <a:lnTo>
                    <a:pt x="0" y="2736928"/>
                  </a:lnTo>
                  <a:close/>
                </a:path>
              </a:pathLst>
            </a:custGeom>
            <a:solidFill>
              <a:srgbClr val="A18B4C"/>
            </a:solidFill>
          </p:spPr>
          <p:txBody>
            <a:bodyPr/>
            <a:lstStyle/>
            <a:p>
              <a:endParaRPr lang="en-ZA"/>
            </a:p>
          </p:txBody>
        </p:sp>
        <p:sp>
          <p:nvSpPr>
            <p:cNvPr id="6" name="TextBox 6"/>
            <p:cNvSpPr txBox="1"/>
            <p:nvPr/>
          </p:nvSpPr>
          <p:spPr>
            <a:xfrm>
              <a:off x="0" y="-28575"/>
              <a:ext cx="270933" cy="2765503"/>
            </a:xfrm>
            <a:prstGeom prst="rect">
              <a:avLst/>
            </a:prstGeom>
          </p:spPr>
          <p:txBody>
            <a:bodyPr lIns="50800" tIns="50800" rIns="50800" bIns="50800" rtlCol="0" anchor="ctr"/>
            <a:lstStyle/>
            <a:p>
              <a:pPr algn="ctr">
                <a:lnSpc>
                  <a:spcPts val="1960"/>
                </a:lnSpc>
              </a:pPr>
              <a:endParaRPr/>
            </a:p>
          </p:txBody>
        </p:sp>
      </p:grpSp>
      <p:grpSp>
        <p:nvGrpSpPr>
          <p:cNvPr id="7" name="Group 7"/>
          <p:cNvGrpSpPr/>
          <p:nvPr/>
        </p:nvGrpSpPr>
        <p:grpSpPr>
          <a:xfrm rot="-5400000">
            <a:off x="-9028429" y="3953201"/>
            <a:ext cx="18288000" cy="1826257"/>
            <a:chOff x="0" y="0"/>
            <a:chExt cx="24384000" cy="2435010"/>
          </a:xfrm>
        </p:grpSpPr>
        <p:sp>
          <p:nvSpPr>
            <p:cNvPr id="8" name="AutoShape 8"/>
            <p:cNvSpPr/>
            <p:nvPr/>
          </p:nvSpPr>
          <p:spPr>
            <a:xfrm>
              <a:off x="8939670" y="1623340"/>
              <a:ext cx="1623340" cy="811670"/>
            </a:xfrm>
            <a:prstGeom prst="rect">
              <a:avLst/>
            </a:prstGeom>
            <a:solidFill>
              <a:srgbClr val="F7BDB9"/>
            </a:solidFill>
          </p:spPr>
          <p:txBody>
            <a:bodyPr/>
            <a:lstStyle/>
            <a:p>
              <a:endParaRPr lang="en-ZA"/>
            </a:p>
          </p:txBody>
        </p:sp>
        <p:sp>
          <p:nvSpPr>
            <p:cNvPr id="9" name="AutoShape 9"/>
            <p:cNvSpPr/>
            <p:nvPr/>
          </p:nvSpPr>
          <p:spPr>
            <a:xfrm>
              <a:off x="12192000" y="1623340"/>
              <a:ext cx="1634641" cy="811670"/>
            </a:xfrm>
            <a:prstGeom prst="rect">
              <a:avLst/>
            </a:prstGeom>
            <a:solidFill>
              <a:srgbClr val="DAA29E"/>
            </a:solidFill>
          </p:spPr>
          <p:txBody>
            <a:bodyPr/>
            <a:lstStyle/>
            <a:p>
              <a:endParaRPr lang="en-ZA"/>
            </a:p>
          </p:txBody>
        </p:sp>
        <p:sp>
          <p:nvSpPr>
            <p:cNvPr id="10" name="AutoShape 10"/>
            <p:cNvSpPr/>
            <p:nvPr/>
          </p:nvSpPr>
          <p:spPr>
            <a:xfrm>
              <a:off x="11380330" y="0"/>
              <a:ext cx="811670" cy="811670"/>
            </a:xfrm>
            <a:prstGeom prst="rect">
              <a:avLst/>
            </a:prstGeom>
            <a:solidFill>
              <a:srgbClr val="F7BDB9"/>
            </a:solidFill>
          </p:spPr>
          <p:txBody>
            <a:bodyPr/>
            <a:lstStyle/>
            <a:p>
              <a:endParaRPr lang="en-ZA"/>
            </a:p>
          </p:txBody>
        </p:sp>
        <p:sp>
          <p:nvSpPr>
            <p:cNvPr id="11" name="AutoShape 11"/>
            <p:cNvSpPr/>
            <p:nvPr/>
          </p:nvSpPr>
          <p:spPr>
            <a:xfrm>
              <a:off x="13820990" y="0"/>
              <a:ext cx="811670" cy="811670"/>
            </a:xfrm>
            <a:prstGeom prst="rect">
              <a:avLst/>
            </a:prstGeom>
            <a:solidFill>
              <a:srgbClr val="DAA29E"/>
            </a:solidFill>
          </p:spPr>
          <p:txBody>
            <a:bodyPr/>
            <a:lstStyle/>
            <a:p>
              <a:endParaRPr lang="en-ZA"/>
            </a:p>
          </p:txBody>
        </p:sp>
        <p:sp>
          <p:nvSpPr>
            <p:cNvPr id="12" name="AutoShape 12"/>
            <p:cNvSpPr/>
            <p:nvPr/>
          </p:nvSpPr>
          <p:spPr>
            <a:xfrm>
              <a:off x="12186350" y="811670"/>
              <a:ext cx="811670" cy="811670"/>
            </a:xfrm>
            <a:prstGeom prst="rect">
              <a:avLst/>
            </a:prstGeom>
            <a:solidFill>
              <a:srgbClr val="FCDFDD"/>
            </a:solidFill>
          </p:spPr>
          <p:txBody>
            <a:bodyPr/>
            <a:lstStyle/>
            <a:p>
              <a:endParaRPr lang="en-ZA"/>
            </a:p>
          </p:txBody>
        </p:sp>
        <p:sp>
          <p:nvSpPr>
            <p:cNvPr id="13" name="AutoShape 13"/>
            <p:cNvSpPr/>
            <p:nvPr/>
          </p:nvSpPr>
          <p:spPr>
            <a:xfrm>
              <a:off x="11380330" y="1623340"/>
              <a:ext cx="811670" cy="811670"/>
            </a:xfrm>
            <a:prstGeom prst="rect">
              <a:avLst/>
            </a:prstGeom>
            <a:solidFill>
              <a:srgbClr val="FCDFDD"/>
            </a:solidFill>
          </p:spPr>
          <p:txBody>
            <a:bodyPr/>
            <a:lstStyle/>
            <a:p>
              <a:endParaRPr lang="en-ZA"/>
            </a:p>
          </p:txBody>
        </p:sp>
        <p:sp>
          <p:nvSpPr>
            <p:cNvPr id="14" name="AutoShape 14"/>
            <p:cNvSpPr/>
            <p:nvPr/>
          </p:nvSpPr>
          <p:spPr>
            <a:xfrm>
              <a:off x="9751340" y="0"/>
              <a:ext cx="811670" cy="811670"/>
            </a:xfrm>
            <a:prstGeom prst="rect">
              <a:avLst/>
            </a:prstGeom>
            <a:solidFill>
              <a:srgbClr val="FCDFDD"/>
            </a:solidFill>
          </p:spPr>
          <p:txBody>
            <a:bodyPr/>
            <a:lstStyle/>
            <a:p>
              <a:endParaRPr lang="en-ZA"/>
            </a:p>
          </p:txBody>
        </p:sp>
        <p:sp>
          <p:nvSpPr>
            <p:cNvPr id="15" name="AutoShape 15"/>
            <p:cNvSpPr/>
            <p:nvPr/>
          </p:nvSpPr>
          <p:spPr>
            <a:xfrm>
              <a:off x="15444330" y="811670"/>
              <a:ext cx="811670" cy="811670"/>
            </a:xfrm>
            <a:prstGeom prst="rect">
              <a:avLst/>
            </a:prstGeom>
            <a:solidFill>
              <a:srgbClr val="DAA29E"/>
            </a:solidFill>
          </p:spPr>
          <p:txBody>
            <a:bodyPr/>
            <a:lstStyle/>
            <a:p>
              <a:endParaRPr lang="en-ZA"/>
            </a:p>
          </p:txBody>
        </p:sp>
        <p:sp>
          <p:nvSpPr>
            <p:cNvPr id="16" name="AutoShape 16"/>
            <p:cNvSpPr/>
            <p:nvPr/>
          </p:nvSpPr>
          <p:spPr>
            <a:xfrm>
              <a:off x="14632660" y="811670"/>
              <a:ext cx="811670" cy="811670"/>
            </a:xfrm>
            <a:prstGeom prst="rect">
              <a:avLst/>
            </a:prstGeom>
            <a:solidFill>
              <a:srgbClr val="FCDFDD"/>
            </a:solidFill>
          </p:spPr>
          <p:txBody>
            <a:bodyPr/>
            <a:lstStyle/>
            <a:p>
              <a:endParaRPr lang="en-ZA"/>
            </a:p>
          </p:txBody>
        </p:sp>
        <p:sp>
          <p:nvSpPr>
            <p:cNvPr id="17" name="AutoShape 17"/>
            <p:cNvSpPr/>
            <p:nvPr/>
          </p:nvSpPr>
          <p:spPr>
            <a:xfrm>
              <a:off x="8128000" y="811670"/>
              <a:ext cx="1623340" cy="811670"/>
            </a:xfrm>
            <a:prstGeom prst="rect">
              <a:avLst/>
            </a:prstGeom>
            <a:solidFill>
              <a:srgbClr val="FCDFDD"/>
            </a:solidFill>
          </p:spPr>
          <p:txBody>
            <a:bodyPr/>
            <a:lstStyle/>
            <a:p>
              <a:endParaRPr lang="en-ZA"/>
            </a:p>
          </p:txBody>
        </p:sp>
        <p:sp>
          <p:nvSpPr>
            <p:cNvPr id="18" name="AutoShape 18"/>
            <p:cNvSpPr/>
            <p:nvPr/>
          </p:nvSpPr>
          <p:spPr>
            <a:xfrm>
              <a:off x="811670" y="1623340"/>
              <a:ext cx="1623340" cy="811670"/>
            </a:xfrm>
            <a:prstGeom prst="rect">
              <a:avLst/>
            </a:prstGeom>
            <a:solidFill>
              <a:srgbClr val="F7BDB9"/>
            </a:solidFill>
          </p:spPr>
          <p:txBody>
            <a:bodyPr/>
            <a:lstStyle/>
            <a:p>
              <a:endParaRPr lang="en-ZA"/>
            </a:p>
          </p:txBody>
        </p:sp>
        <p:sp>
          <p:nvSpPr>
            <p:cNvPr id="19" name="AutoShape 19"/>
            <p:cNvSpPr/>
            <p:nvPr/>
          </p:nvSpPr>
          <p:spPr>
            <a:xfrm>
              <a:off x="4064000" y="1623340"/>
              <a:ext cx="1634641" cy="811670"/>
            </a:xfrm>
            <a:prstGeom prst="rect">
              <a:avLst/>
            </a:prstGeom>
            <a:solidFill>
              <a:srgbClr val="DAA29E"/>
            </a:solidFill>
          </p:spPr>
          <p:txBody>
            <a:bodyPr/>
            <a:lstStyle/>
            <a:p>
              <a:endParaRPr lang="en-ZA"/>
            </a:p>
          </p:txBody>
        </p:sp>
        <p:sp>
          <p:nvSpPr>
            <p:cNvPr id="20" name="AutoShape 20"/>
            <p:cNvSpPr/>
            <p:nvPr/>
          </p:nvSpPr>
          <p:spPr>
            <a:xfrm>
              <a:off x="3252330" y="0"/>
              <a:ext cx="811670" cy="811670"/>
            </a:xfrm>
            <a:prstGeom prst="rect">
              <a:avLst/>
            </a:prstGeom>
            <a:solidFill>
              <a:srgbClr val="F7BDB9"/>
            </a:solidFill>
          </p:spPr>
          <p:txBody>
            <a:bodyPr/>
            <a:lstStyle/>
            <a:p>
              <a:endParaRPr lang="en-ZA"/>
            </a:p>
          </p:txBody>
        </p:sp>
        <p:sp>
          <p:nvSpPr>
            <p:cNvPr id="21" name="AutoShape 21"/>
            <p:cNvSpPr/>
            <p:nvPr/>
          </p:nvSpPr>
          <p:spPr>
            <a:xfrm>
              <a:off x="5692990" y="0"/>
              <a:ext cx="811670" cy="811670"/>
            </a:xfrm>
            <a:prstGeom prst="rect">
              <a:avLst/>
            </a:prstGeom>
            <a:solidFill>
              <a:srgbClr val="DAA29E"/>
            </a:solidFill>
          </p:spPr>
          <p:txBody>
            <a:bodyPr/>
            <a:lstStyle/>
            <a:p>
              <a:endParaRPr lang="en-ZA"/>
            </a:p>
          </p:txBody>
        </p:sp>
        <p:sp>
          <p:nvSpPr>
            <p:cNvPr id="22" name="AutoShape 22"/>
            <p:cNvSpPr/>
            <p:nvPr/>
          </p:nvSpPr>
          <p:spPr>
            <a:xfrm>
              <a:off x="4058350" y="811670"/>
              <a:ext cx="811670" cy="811670"/>
            </a:xfrm>
            <a:prstGeom prst="rect">
              <a:avLst/>
            </a:prstGeom>
            <a:solidFill>
              <a:srgbClr val="FCDFDD"/>
            </a:solidFill>
          </p:spPr>
          <p:txBody>
            <a:bodyPr/>
            <a:lstStyle/>
            <a:p>
              <a:endParaRPr lang="en-ZA"/>
            </a:p>
          </p:txBody>
        </p:sp>
        <p:sp>
          <p:nvSpPr>
            <p:cNvPr id="23" name="AutoShape 23"/>
            <p:cNvSpPr/>
            <p:nvPr/>
          </p:nvSpPr>
          <p:spPr>
            <a:xfrm>
              <a:off x="3252330" y="1623340"/>
              <a:ext cx="811670" cy="811670"/>
            </a:xfrm>
            <a:prstGeom prst="rect">
              <a:avLst/>
            </a:prstGeom>
            <a:solidFill>
              <a:srgbClr val="FCDFDD"/>
            </a:solidFill>
          </p:spPr>
          <p:txBody>
            <a:bodyPr/>
            <a:lstStyle/>
            <a:p>
              <a:endParaRPr lang="en-ZA"/>
            </a:p>
          </p:txBody>
        </p:sp>
        <p:sp>
          <p:nvSpPr>
            <p:cNvPr id="24" name="AutoShape 24"/>
            <p:cNvSpPr/>
            <p:nvPr/>
          </p:nvSpPr>
          <p:spPr>
            <a:xfrm>
              <a:off x="1623340" y="0"/>
              <a:ext cx="811670" cy="811670"/>
            </a:xfrm>
            <a:prstGeom prst="rect">
              <a:avLst/>
            </a:prstGeom>
            <a:solidFill>
              <a:srgbClr val="FCDFDD"/>
            </a:solidFill>
          </p:spPr>
          <p:txBody>
            <a:bodyPr/>
            <a:lstStyle/>
            <a:p>
              <a:endParaRPr lang="en-ZA"/>
            </a:p>
          </p:txBody>
        </p:sp>
        <p:sp>
          <p:nvSpPr>
            <p:cNvPr id="25" name="AutoShape 25"/>
            <p:cNvSpPr/>
            <p:nvPr/>
          </p:nvSpPr>
          <p:spPr>
            <a:xfrm>
              <a:off x="7316330" y="811670"/>
              <a:ext cx="811670" cy="811670"/>
            </a:xfrm>
            <a:prstGeom prst="rect">
              <a:avLst/>
            </a:prstGeom>
            <a:solidFill>
              <a:srgbClr val="DAA29E"/>
            </a:solidFill>
          </p:spPr>
          <p:txBody>
            <a:bodyPr/>
            <a:lstStyle/>
            <a:p>
              <a:endParaRPr lang="en-ZA"/>
            </a:p>
          </p:txBody>
        </p:sp>
        <p:sp>
          <p:nvSpPr>
            <p:cNvPr id="26" name="AutoShape 26"/>
            <p:cNvSpPr/>
            <p:nvPr/>
          </p:nvSpPr>
          <p:spPr>
            <a:xfrm>
              <a:off x="6504660" y="811670"/>
              <a:ext cx="811670" cy="811670"/>
            </a:xfrm>
            <a:prstGeom prst="rect">
              <a:avLst/>
            </a:prstGeom>
            <a:solidFill>
              <a:srgbClr val="FCDFDD"/>
            </a:solidFill>
          </p:spPr>
          <p:txBody>
            <a:bodyPr/>
            <a:lstStyle/>
            <a:p>
              <a:endParaRPr lang="en-ZA"/>
            </a:p>
          </p:txBody>
        </p:sp>
        <p:sp>
          <p:nvSpPr>
            <p:cNvPr id="27" name="AutoShape 27"/>
            <p:cNvSpPr/>
            <p:nvPr/>
          </p:nvSpPr>
          <p:spPr>
            <a:xfrm>
              <a:off x="0" y="811670"/>
              <a:ext cx="1623340" cy="811670"/>
            </a:xfrm>
            <a:prstGeom prst="rect">
              <a:avLst/>
            </a:prstGeom>
            <a:solidFill>
              <a:srgbClr val="FCDFDD"/>
            </a:solidFill>
          </p:spPr>
          <p:txBody>
            <a:bodyPr/>
            <a:lstStyle/>
            <a:p>
              <a:endParaRPr lang="en-ZA"/>
            </a:p>
          </p:txBody>
        </p:sp>
        <p:sp>
          <p:nvSpPr>
            <p:cNvPr id="28" name="AutoShape 28"/>
            <p:cNvSpPr/>
            <p:nvPr/>
          </p:nvSpPr>
          <p:spPr>
            <a:xfrm>
              <a:off x="17067670" y="1623340"/>
              <a:ext cx="1623340" cy="811670"/>
            </a:xfrm>
            <a:prstGeom prst="rect">
              <a:avLst/>
            </a:prstGeom>
            <a:solidFill>
              <a:srgbClr val="F7BDB9"/>
            </a:solidFill>
          </p:spPr>
          <p:txBody>
            <a:bodyPr/>
            <a:lstStyle/>
            <a:p>
              <a:endParaRPr lang="en-ZA"/>
            </a:p>
          </p:txBody>
        </p:sp>
        <p:sp>
          <p:nvSpPr>
            <p:cNvPr id="29" name="AutoShape 29"/>
            <p:cNvSpPr/>
            <p:nvPr/>
          </p:nvSpPr>
          <p:spPr>
            <a:xfrm>
              <a:off x="20320000" y="1623340"/>
              <a:ext cx="1634641" cy="811670"/>
            </a:xfrm>
            <a:prstGeom prst="rect">
              <a:avLst/>
            </a:prstGeom>
            <a:solidFill>
              <a:srgbClr val="DAA29E"/>
            </a:solidFill>
          </p:spPr>
          <p:txBody>
            <a:bodyPr/>
            <a:lstStyle/>
            <a:p>
              <a:endParaRPr lang="en-ZA"/>
            </a:p>
          </p:txBody>
        </p:sp>
        <p:sp>
          <p:nvSpPr>
            <p:cNvPr id="30" name="AutoShape 30"/>
            <p:cNvSpPr/>
            <p:nvPr/>
          </p:nvSpPr>
          <p:spPr>
            <a:xfrm>
              <a:off x="19508330" y="0"/>
              <a:ext cx="811670" cy="811670"/>
            </a:xfrm>
            <a:prstGeom prst="rect">
              <a:avLst/>
            </a:prstGeom>
            <a:solidFill>
              <a:srgbClr val="F7BDB9"/>
            </a:solidFill>
          </p:spPr>
          <p:txBody>
            <a:bodyPr/>
            <a:lstStyle/>
            <a:p>
              <a:endParaRPr lang="en-ZA"/>
            </a:p>
          </p:txBody>
        </p:sp>
        <p:sp>
          <p:nvSpPr>
            <p:cNvPr id="31" name="AutoShape 31"/>
            <p:cNvSpPr/>
            <p:nvPr/>
          </p:nvSpPr>
          <p:spPr>
            <a:xfrm>
              <a:off x="21948990" y="0"/>
              <a:ext cx="811670" cy="811670"/>
            </a:xfrm>
            <a:prstGeom prst="rect">
              <a:avLst/>
            </a:prstGeom>
            <a:solidFill>
              <a:srgbClr val="DAA29E"/>
            </a:solidFill>
          </p:spPr>
          <p:txBody>
            <a:bodyPr/>
            <a:lstStyle/>
            <a:p>
              <a:endParaRPr lang="en-ZA"/>
            </a:p>
          </p:txBody>
        </p:sp>
        <p:sp>
          <p:nvSpPr>
            <p:cNvPr id="32" name="AutoShape 32"/>
            <p:cNvSpPr/>
            <p:nvPr/>
          </p:nvSpPr>
          <p:spPr>
            <a:xfrm>
              <a:off x="20314350" y="811670"/>
              <a:ext cx="811670" cy="811670"/>
            </a:xfrm>
            <a:prstGeom prst="rect">
              <a:avLst/>
            </a:prstGeom>
            <a:solidFill>
              <a:srgbClr val="FCDFDD"/>
            </a:solidFill>
          </p:spPr>
          <p:txBody>
            <a:bodyPr/>
            <a:lstStyle/>
            <a:p>
              <a:endParaRPr lang="en-ZA"/>
            </a:p>
          </p:txBody>
        </p:sp>
        <p:sp>
          <p:nvSpPr>
            <p:cNvPr id="33" name="AutoShape 33"/>
            <p:cNvSpPr/>
            <p:nvPr/>
          </p:nvSpPr>
          <p:spPr>
            <a:xfrm>
              <a:off x="19508330" y="1623340"/>
              <a:ext cx="811670" cy="811670"/>
            </a:xfrm>
            <a:prstGeom prst="rect">
              <a:avLst/>
            </a:prstGeom>
            <a:solidFill>
              <a:srgbClr val="FCDFDD"/>
            </a:solidFill>
          </p:spPr>
          <p:txBody>
            <a:bodyPr/>
            <a:lstStyle/>
            <a:p>
              <a:endParaRPr lang="en-ZA"/>
            </a:p>
          </p:txBody>
        </p:sp>
        <p:sp>
          <p:nvSpPr>
            <p:cNvPr id="34" name="AutoShape 34"/>
            <p:cNvSpPr/>
            <p:nvPr/>
          </p:nvSpPr>
          <p:spPr>
            <a:xfrm>
              <a:off x="17879340" y="0"/>
              <a:ext cx="811670" cy="811670"/>
            </a:xfrm>
            <a:prstGeom prst="rect">
              <a:avLst/>
            </a:prstGeom>
            <a:solidFill>
              <a:srgbClr val="FCDFDD"/>
            </a:solidFill>
          </p:spPr>
          <p:txBody>
            <a:bodyPr/>
            <a:lstStyle/>
            <a:p>
              <a:endParaRPr lang="en-ZA"/>
            </a:p>
          </p:txBody>
        </p:sp>
        <p:sp>
          <p:nvSpPr>
            <p:cNvPr id="35" name="AutoShape 35"/>
            <p:cNvSpPr/>
            <p:nvPr/>
          </p:nvSpPr>
          <p:spPr>
            <a:xfrm>
              <a:off x="23572330" y="811670"/>
              <a:ext cx="811670" cy="811670"/>
            </a:xfrm>
            <a:prstGeom prst="rect">
              <a:avLst/>
            </a:prstGeom>
            <a:solidFill>
              <a:srgbClr val="DAA29E"/>
            </a:solidFill>
          </p:spPr>
          <p:txBody>
            <a:bodyPr/>
            <a:lstStyle/>
            <a:p>
              <a:endParaRPr lang="en-ZA"/>
            </a:p>
          </p:txBody>
        </p:sp>
        <p:sp>
          <p:nvSpPr>
            <p:cNvPr id="36" name="AutoShape 36"/>
            <p:cNvSpPr/>
            <p:nvPr/>
          </p:nvSpPr>
          <p:spPr>
            <a:xfrm>
              <a:off x="22760660" y="811670"/>
              <a:ext cx="811670" cy="811670"/>
            </a:xfrm>
            <a:prstGeom prst="rect">
              <a:avLst/>
            </a:prstGeom>
            <a:solidFill>
              <a:srgbClr val="FCDFDD"/>
            </a:solidFill>
          </p:spPr>
          <p:txBody>
            <a:bodyPr/>
            <a:lstStyle/>
            <a:p>
              <a:endParaRPr lang="en-ZA"/>
            </a:p>
          </p:txBody>
        </p:sp>
        <p:sp>
          <p:nvSpPr>
            <p:cNvPr id="37" name="AutoShape 37"/>
            <p:cNvSpPr/>
            <p:nvPr/>
          </p:nvSpPr>
          <p:spPr>
            <a:xfrm>
              <a:off x="16256000" y="811670"/>
              <a:ext cx="1623340" cy="811670"/>
            </a:xfrm>
            <a:prstGeom prst="rect">
              <a:avLst/>
            </a:prstGeom>
            <a:solidFill>
              <a:srgbClr val="FCDFDD"/>
            </a:solidFill>
          </p:spPr>
          <p:txBody>
            <a:bodyPr/>
            <a:lstStyle/>
            <a:p>
              <a:endParaRPr lang="en-ZA"/>
            </a:p>
          </p:txBody>
        </p:sp>
      </p:grpSp>
      <p:sp>
        <p:nvSpPr>
          <p:cNvPr id="38" name="TextBox 38"/>
          <p:cNvSpPr txBox="1"/>
          <p:nvPr/>
        </p:nvSpPr>
        <p:spPr>
          <a:xfrm>
            <a:off x="10919146" y="4745355"/>
            <a:ext cx="5089342" cy="824865"/>
          </a:xfrm>
          <a:prstGeom prst="rect">
            <a:avLst/>
          </a:prstGeom>
        </p:spPr>
        <p:txBody>
          <a:bodyPr lIns="0" tIns="0" rIns="0" bIns="0" rtlCol="0" anchor="t">
            <a:spAutoFit/>
          </a:bodyPr>
          <a:lstStyle/>
          <a:p>
            <a:pPr marL="0" lvl="0" indent="0" algn="ctr">
              <a:lnSpc>
                <a:spcPts val="2100"/>
              </a:lnSpc>
            </a:pPr>
            <a:r>
              <a:rPr lang="en-US" sz="2100" b="1">
                <a:solidFill>
                  <a:srgbClr val="201702"/>
                </a:solidFill>
                <a:latin typeface="Lekton Bold"/>
                <a:ea typeface="Lekton Bold"/>
                <a:cs typeface="Lekton Bold"/>
                <a:sym typeface="Lekton Bold"/>
              </a:rPr>
              <a:t>All components work together to enhance campus safety through timely information.</a:t>
            </a:r>
          </a:p>
        </p:txBody>
      </p:sp>
      <p:sp>
        <p:nvSpPr>
          <p:cNvPr id="39" name="TextBox 39"/>
          <p:cNvSpPr txBox="1"/>
          <p:nvPr/>
        </p:nvSpPr>
        <p:spPr>
          <a:xfrm>
            <a:off x="10549925" y="8700135"/>
            <a:ext cx="5685447" cy="558165"/>
          </a:xfrm>
          <a:prstGeom prst="rect">
            <a:avLst/>
          </a:prstGeom>
        </p:spPr>
        <p:txBody>
          <a:bodyPr lIns="0" tIns="0" rIns="0" bIns="0" rtlCol="0" anchor="t">
            <a:spAutoFit/>
          </a:bodyPr>
          <a:lstStyle/>
          <a:p>
            <a:pPr marL="0" lvl="0" indent="0" algn="ctr">
              <a:lnSpc>
                <a:spcPts val="2100"/>
              </a:lnSpc>
            </a:pPr>
            <a:r>
              <a:rPr lang="en-US" sz="2100" b="1">
                <a:solidFill>
                  <a:srgbClr val="201702"/>
                </a:solidFill>
                <a:latin typeface="Lekton Bold"/>
                <a:ea typeface="Lekton Bold"/>
                <a:cs typeface="Lekton Bold"/>
                <a:sym typeface="Lekton Bold"/>
              </a:rPr>
              <a:t>PostgreSQL provides reliable data storage and management for the system.</a:t>
            </a:r>
          </a:p>
        </p:txBody>
      </p:sp>
      <p:sp>
        <p:nvSpPr>
          <p:cNvPr id="40" name="TextBox 40"/>
          <p:cNvSpPr txBox="1"/>
          <p:nvPr/>
        </p:nvSpPr>
        <p:spPr>
          <a:xfrm>
            <a:off x="10724531" y="902652"/>
            <a:ext cx="5478572" cy="558165"/>
          </a:xfrm>
          <a:prstGeom prst="rect">
            <a:avLst/>
          </a:prstGeom>
        </p:spPr>
        <p:txBody>
          <a:bodyPr lIns="0" tIns="0" rIns="0" bIns="0" rtlCol="0" anchor="t">
            <a:spAutoFit/>
          </a:bodyPr>
          <a:lstStyle/>
          <a:p>
            <a:pPr marL="0" lvl="0" indent="0" algn="ctr">
              <a:lnSpc>
                <a:spcPts val="2100"/>
              </a:lnSpc>
            </a:pPr>
            <a:r>
              <a:rPr lang="en-US" sz="2100" b="1">
                <a:solidFill>
                  <a:srgbClr val="201702"/>
                </a:solidFill>
                <a:latin typeface="Lekton Bold"/>
                <a:ea typeface="Lekton Bold"/>
                <a:cs typeface="Lekton Bold"/>
                <a:sym typeface="Lekton Bold"/>
              </a:rPr>
              <a:t>Kafka enables efficient data streaming and real-time processing.</a:t>
            </a:r>
          </a:p>
        </p:txBody>
      </p:sp>
      <p:grpSp>
        <p:nvGrpSpPr>
          <p:cNvPr id="41" name="Group 41"/>
          <p:cNvGrpSpPr/>
          <p:nvPr/>
        </p:nvGrpSpPr>
        <p:grpSpPr>
          <a:xfrm>
            <a:off x="1787417" y="1364238"/>
            <a:ext cx="5891132" cy="7558524"/>
            <a:chOff x="0" y="0"/>
            <a:chExt cx="7854842" cy="10078032"/>
          </a:xfrm>
        </p:grpSpPr>
        <p:sp>
          <p:nvSpPr>
            <p:cNvPr id="42" name="TextBox 42"/>
            <p:cNvSpPr txBox="1"/>
            <p:nvPr/>
          </p:nvSpPr>
          <p:spPr>
            <a:xfrm>
              <a:off x="0" y="0"/>
              <a:ext cx="7854842" cy="7162800"/>
            </a:xfrm>
            <a:prstGeom prst="rect">
              <a:avLst/>
            </a:prstGeom>
          </p:spPr>
          <p:txBody>
            <a:bodyPr lIns="0" tIns="0" rIns="0" bIns="0" rtlCol="0" anchor="t">
              <a:spAutoFit/>
            </a:bodyPr>
            <a:lstStyle/>
            <a:p>
              <a:pPr marL="0" lvl="0" indent="0" algn="l">
                <a:lnSpc>
                  <a:spcPts val="7092"/>
                </a:lnSpc>
              </a:pPr>
              <a:r>
                <a:rPr lang="en-US" sz="5910" b="1">
                  <a:solidFill>
                    <a:srgbClr val="201702"/>
                  </a:solidFill>
                  <a:latin typeface="Roboto Mono Bold"/>
                  <a:ea typeface="Roboto Mono Bold"/>
                  <a:cs typeface="Roboto Mono Bold"/>
                  <a:sym typeface="Roboto Mono Bold"/>
                </a:rPr>
                <a:t>Comparing System Architecture and User Flow in Real-Time Monitoring</a:t>
              </a:r>
            </a:p>
          </p:txBody>
        </p:sp>
        <p:sp>
          <p:nvSpPr>
            <p:cNvPr id="43" name="TextBox 43"/>
            <p:cNvSpPr txBox="1"/>
            <p:nvPr/>
          </p:nvSpPr>
          <p:spPr>
            <a:xfrm>
              <a:off x="0" y="7628610"/>
              <a:ext cx="5882720" cy="2449421"/>
            </a:xfrm>
            <a:prstGeom prst="rect">
              <a:avLst/>
            </a:prstGeom>
          </p:spPr>
          <p:txBody>
            <a:bodyPr lIns="0" tIns="0" rIns="0" bIns="0" rtlCol="0" anchor="t">
              <a:spAutoFit/>
            </a:bodyPr>
            <a:lstStyle/>
            <a:p>
              <a:pPr marL="0" lvl="0" indent="0" algn="l">
                <a:lnSpc>
                  <a:spcPts val="3705"/>
                </a:lnSpc>
                <a:spcBef>
                  <a:spcPct val="0"/>
                </a:spcBef>
              </a:pPr>
              <a:r>
                <a:rPr lang="en-US" sz="2470" spc="-49">
                  <a:solidFill>
                    <a:srgbClr val="201702"/>
                  </a:solidFill>
                  <a:latin typeface="Lekton"/>
                  <a:ea typeface="Lekton"/>
                  <a:cs typeface="Lekton"/>
                  <a:sym typeface="Lekton"/>
                </a:rPr>
                <a:t>Analyzing how Kafka,Zookeper,  PostgreSQL, and Streamlit interact for campus safety solutions.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BDB9"/>
        </a:solidFill>
        <a:effectLst/>
      </p:bgPr>
    </p:bg>
    <p:spTree>
      <p:nvGrpSpPr>
        <p:cNvPr id="1" name=""/>
        <p:cNvGrpSpPr/>
        <p:nvPr/>
      </p:nvGrpSpPr>
      <p:grpSpPr>
        <a:xfrm>
          <a:off x="0" y="0"/>
          <a:ext cx="0" cy="0"/>
          <a:chOff x="0" y="0"/>
          <a:chExt cx="0" cy="0"/>
        </a:xfrm>
      </p:grpSpPr>
      <p:sp>
        <p:nvSpPr>
          <p:cNvPr id="2" name="AutoShape 2"/>
          <p:cNvSpPr/>
          <p:nvPr/>
        </p:nvSpPr>
        <p:spPr>
          <a:xfrm>
            <a:off x="0" y="0"/>
            <a:ext cx="8121684" cy="10287000"/>
          </a:xfrm>
          <a:prstGeom prst="rect">
            <a:avLst/>
          </a:prstGeom>
          <a:solidFill>
            <a:srgbClr val="FCDFDD"/>
          </a:solidFill>
        </p:spPr>
        <p:txBody>
          <a:bodyPr/>
          <a:lstStyle/>
          <a:p>
            <a:endParaRPr lang="en-ZA"/>
          </a:p>
        </p:txBody>
      </p:sp>
      <p:grpSp>
        <p:nvGrpSpPr>
          <p:cNvPr id="3" name="Group 3"/>
          <p:cNvGrpSpPr/>
          <p:nvPr/>
        </p:nvGrpSpPr>
        <p:grpSpPr>
          <a:xfrm>
            <a:off x="18144" y="0"/>
            <a:ext cx="8113065" cy="10276083"/>
            <a:chOff x="0" y="0"/>
            <a:chExt cx="6823730" cy="8643000"/>
          </a:xfrm>
        </p:grpSpPr>
        <p:sp>
          <p:nvSpPr>
            <p:cNvPr id="4" name="Freeform 4"/>
            <p:cNvSpPr/>
            <p:nvPr/>
          </p:nvSpPr>
          <p:spPr>
            <a:xfrm>
              <a:off x="0" y="0"/>
              <a:ext cx="6823731" cy="8643000"/>
            </a:xfrm>
            <a:custGeom>
              <a:avLst/>
              <a:gdLst/>
              <a:ahLst/>
              <a:cxnLst/>
              <a:rect l="l" t="t" r="r" b="b"/>
              <a:pathLst>
                <a:path w="6823731" h="8643000">
                  <a:moveTo>
                    <a:pt x="6681570" y="864300"/>
                  </a:moveTo>
                  <a:cubicBezTo>
                    <a:pt x="6681570" y="777870"/>
                    <a:pt x="6681570" y="605010"/>
                    <a:pt x="6681570" y="518580"/>
                  </a:cubicBezTo>
                  <a:lnTo>
                    <a:pt x="6539409" y="518580"/>
                  </a:lnTo>
                  <a:lnTo>
                    <a:pt x="6539409" y="345720"/>
                  </a:lnTo>
                  <a:lnTo>
                    <a:pt x="6397247" y="345720"/>
                  </a:lnTo>
                  <a:lnTo>
                    <a:pt x="6397247" y="172860"/>
                  </a:lnTo>
                  <a:cubicBezTo>
                    <a:pt x="6326167" y="172860"/>
                    <a:pt x="6184006" y="172860"/>
                    <a:pt x="6112925" y="172860"/>
                  </a:cubicBezTo>
                  <a:lnTo>
                    <a:pt x="6112925" y="0"/>
                  </a:lnTo>
                  <a:cubicBezTo>
                    <a:pt x="4313166" y="0"/>
                    <a:pt x="2510564" y="0"/>
                    <a:pt x="710805" y="0"/>
                  </a:cubicBezTo>
                  <a:lnTo>
                    <a:pt x="710805" y="172860"/>
                  </a:lnTo>
                  <a:cubicBezTo>
                    <a:pt x="639725" y="172860"/>
                    <a:pt x="497564" y="172860"/>
                    <a:pt x="426483" y="172860"/>
                  </a:cubicBezTo>
                  <a:lnTo>
                    <a:pt x="426483" y="345720"/>
                  </a:lnTo>
                  <a:lnTo>
                    <a:pt x="284322" y="345720"/>
                  </a:lnTo>
                  <a:lnTo>
                    <a:pt x="284322" y="518580"/>
                  </a:lnTo>
                  <a:lnTo>
                    <a:pt x="142161" y="518580"/>
                  </a:lnTo>
                  <a:cubicBezTo>
                    <a:pt x="142161" y="605010"/>
                    <a:pt x="142161" y="777870"/>
                    <a:pt x="142161" y="864300"/>
                  </a:cubicBezTo>
                  <a:lnTo>
                    <a:pt x="0" y="864300"/>
                  </a:lnTo>
                  <a:cubicBezTo>
                    <a:pt x="0" y="3168524"/>
                    <a:pt x="0" y="5474476"/>
                    <a:pt x="0" y="7778700"/>
                  </a:cubicBezTo>
                  <a:lnTo>
                    <a:pt x="142161" y="7778700"/>
                  </a:lnTo>
                  <a:cubicBezTo>
                    <a:pt x="142161" y="7865130"/>
                    <a:pt x="142161" y="8037990"/>
                    <a:pt x="142161" y="8124420"/>
                  </a:cubicBezTo>
                  <a:lnTo>
                    <a:pt x="284322" y="8124420"/>
                  </a:lnTo>
                  <a:lnTo>
                    <a:pt x="284322" y="8297280"/>
                  </a:lnTo>
                  <a:lnTo>
                    <a:pt x="426483" y="8297280"/>
                  </a:lnTo>
                  <a:lnTo>
                    <a:pt x="426483" y="8470140"/>
                  </a:lnTo>
                  <a:cubicBezTo>
                    <a:pt x="497564" y="8470140"/>
                    <a:pt x="639725" y="8470140"/>
                    <a:pt x="710805" y="8470140"/>
                  </a:cubicBezTo>
                  <a:lnTo>
                    <a:pt x="710805" y="8643000"/>
                  </a:lnTo>
                  <a:cubicBezTo>
                    <a:pt x="2510564" y="8643000"/>
                    <a:pt x="4313166" y="8643000"/>
                    <a:pt x="6112925" y="8643000"/>
                  </a:cubicBezTo>
                  <a:lnTo>
                    <a:pt x="6112925" y="8470140"/>
                  </a:lnTo>
                  <a:cubicBezTo>
                    <a:pt x="6184006" y="8470140"/>
                    <a:pt x="6326167" y="8470140"/>
                    <a:pt x="6397247" y="8470140"/>
                  </a:cubicBezTo>
                  <a:lnTo>
                    <a:pt x="6397247" y="8297280"/>
                  </a:lnTo>
                  <a:lnTo>
                    <a:pt x="6539409" y="8297280"/>
                  </a:lnTo>
                  <a:lnTo>
                    <a:pt x="6539409" y="8124420"/>
                  </a:lnTo>
                  <a:lnTo>
                    <a:pt x="6681570" y="8124420"/>
                  </a:lnTo>
                  <a:cubicBezTo>
                    <a:pt x="6681570" y="8037990"/>
                    <a:pt x="6681570" y="7865130"/>
                    <a:pt x="6681570" y="7778700"/>
                  </a:cubicBezTo>
                  <a:lnTo>
                    <a:pt x="6823731" y="7778700"/>
                  </a:lnTo>
                  <a:cubicBezTo>
                    <a:pt x="6823731" y="5474476"/>
                    <a:pt x="6823731" y="3168524"/>
                    <a:pt x="6823731" y="864300"/>
                  </a:cubicBezTo>
                  <a:lnTo>
                    <a:pt x="6681570" y="864300"/>
                  </a:lnTo>
                  <a:close/>
                </a:path>
              </a:pathLst>
            </a:custGeom>
            <a:blipFill>
              <a:blip r:embed="rId2"/>
              <a:stretch>
                <a:fillRect l="-11371" r="-11371"/>
              </a:stretch>
            </a:blipFill>
          </p:spPr>
          <p:txBody>
            <a:bodyPr/>
            <a:lstStyle/>
            <a:p>
              <a:endParaRPr lang="en-ZA"/>
            </a:p>
          </p:txBody>
        </p:sp>
      </p:grpSp>
      <p:grpSp>
        <p:nvGrpSpPr>
          <p:cNvPr id="5" name="Group 5"/>
          <p:cNvGrpSpPr/>
          <p:nvPr/>
        </p:nvGrpSpPr>
        <p:grpSpPr>
          <a:xfrm rot="5400000">
            <a:off x="3844920" y="-3844920"/>
            <a:ext cx="1536973" cy="9226812"/>
            <a:chOff x="0" y="0"/>
            <a:chExt cx="2049297" cy="12302417"/>
          </a:xfrm>
        </p:grpSpPr>
        <p:sp>
          <p:nvSpPr>
            <p:cNvPr id="6" name="AutoShape 6"/>
            <p:cNvSpPr/>
            <p:nvPr/>
          </p:nvSpPr>
          <p:spPr>
            <a:xfrm rot="-5400000">
              <a:off x="0" y="0"/>
              <a:ext cx="683099" cy="683099"/>
            </a:xfrm>
            <a:prstGeom prst="rect">
              <a:avLst/>
            </a:prstGeom>
            <a:solidFill>
              <a:srgbClr val="BDA565"/>
            </a:solidFill>
          </p:spPr>
          <p:txBody>
            <a:bodyPr/>
            <a:lstStyle/>
            <a:p>
              <a:endParaRPr lang="en-ZA"/>
            </a:p>
          </p:txBody>
        </p:sp>
        <p:sp>
          <p:nvSpPr>
            <p:cNvPr id="7" name="AutoShape 7"/>
            <p:cNvSpPr/>
            <p:nvPr/>
          </p:nvSpPr>
          <p:spPr>
            <a:xfrm rot="-5400000">
              <a:off x="1024649" y="3766556"/>
              <a:ext cx="1366198" cy="683099"/>
            </a:xfrm>
            <a:prstGeom prst="rect">
              <a:avLst/>
            </a:prstGeom>
            <a:solidFill>
              <a:srgbClr val="F7BDB9"/>
            </a:solidFill>
          </p:spPr>
          <p:txBody>
            <a:bodyPr/>
            <a:lstStyle/>
            <a:p>
              <a:endParaRPr lang="en-ZA"/>
            </a:p>
          </p:txBody>
        </p:sp>
        <p:sp>
          <p:nvSpPr>
            <p:cNvPr id="8" name="AutoShape 8"/>
            <p:cNvSpPr/>
            <p:nvPr/>
          </p:nvSpPr>
          <p:spPr>
            <a:xfrm rot="-5400000">
              <a:off x="1024649" y="1707748"/>
              <a:ext cx="1366198" cy="683099"/>
            </a:xfrm>
            <a:prstGeom prst="rect">
              <a:avLst/>
            </a:prstGeom>
            <a:solidFill>
              <a:srgbClr val="DAA29E"/>
            </a:solidFill>
          </p:spPr>
          <p:txBody>
            <a:bodyPr/>
            <a:lstStyle/>
            <a:p>
              <a:endParaRPr lang="en-ZA"/>
            </a:p>
          </p:txBody>
        </p:sp>
        <p:sp>
          <p:nvSpPr>
            <p:cNvPr id="9" name="AutoShape 9"/>
            <p:cNvSpPr/>
            <p:nvPr/>
          </p:nvSpPr>
          <p:spPr>
            <a:xfrm rot="-5400000">
              <a:off x="0" y="2049297"/>
              <a:ext cx="683099" cy="683099"/>
            </a:xfrm>
            <a:prstGeom prst="rect">
              <a:avLst/>
            </a:prstGeom>
            <a:solidFill>
              <a:srgbClr val="F7BDB9"/>
            </a:solidFill>
          </p:spPr>
          <p:txBody>
            <a:bodyPr/>
            <a:lstStyle/>
            <a:p>
              <a:endParaRPr lang="en-ZA"/>
            </a:p>
          </p:txBody>
        </p:sp>
        <p:sp>
          <p:nvSpPr>
            <p:cNvPr id="10" name="AutoShape 10"/>
            <p:cNvSpPr/>
            <p:nvPr/>
          </p:nvSpPr>
          <p:spPr>
            <a:xfrm rot="-5400000">
              <a:off x="683099" y="1366198"/>
              <a:ext cx="683099" cy="683099"/>
            </a:xfrm>
            <a:prstGeom prst="rect">
              <a:avLst/>
            </a:prstGeom>
            <a:solidFill>
              <a:srgbClr val="F7BDB9"/>
            </a:solidFill>
          </p:spPr>
          <p:txBody>
            <a:bodyPr/>
            <a:lstStyle/>
            <a:p>
              <a:endParaRPr lang="en-ZA"/>
            </a:p>
          </p:txBody>
        </p:sp>
        <p:sp>
          <p:nvSpPr>
            <p:cNvPr id="11" name="AutoShape 11"/>
            <p:cNvSpPr/>
            <p:nvPr/>
          </p:nvSpPr>
          <p:spPr>
            <a:xfrm rot="-5400000">
              <a:off x="1366198" y="683099"/>
              <a:ext cx="683099" cy="683099"/>
            </a:xfrm>
            <a:prstGeom prst="rect">
              <a:avLst/>
            </a:prstGeom>
            <a:solidFill>
              <a:srgbClr val="BDA565"/>
            </a:solidFill>
          </p:spPr>
          <p:txBody>
            <a:bodyPr/>
            <a:lstStyle/>
            <a:p>
              <a:endParaRPr lang="en-ZA"/>
            </a:p>
          </p:txBody>
        </p:sp>
        <p:sp>
          <p:nvSpPr>
            <p:cNvPr id="12" name="AutoShape 12"/>
            <p:cNvSpPr/>
            <p:nvPr/>
          </p:nvSpPr>
          <p:spPr>
            <a:xfrm rot="-5400000">
              <a:off x="683099" y="7520723"/>
              <a:ext cx="683099" cy="683099"/>
            </a:xfrm>
            <a:prstGeom prst="rect">
              <a:avLst/>
            </a:prstGeom>
            <a:solidFill>
              <a:srgbClr val="BDA565"/>
            </a:solidFill>
          </p:spPr>
          <p:txBody>
            <a:bodyPr/>
            <a:lstStyle/>
            <a:p>
              <a:endParaRPr lang="en-ZA"/>
            </a:p>
          </p:txBody>
        </p:sp>
        <p:sp>
          <p:nvSpPr>
            <p:cNvPr id="13" name="AutoShape 13"/>
            <p:cNvSpPr/>
            <p:nvPr/>
          </p:nvSpPr>
          <p:spPr>
            <a:xfrm rot="-5400000">
              <a:off x="0" y="3425006"/>
              <a:ext cx="683099" cy="683099"/>
            </a:xfrm>
            <a:prstGeom prst="rect">
              <a:avLst/>
            </a:prstGeom>
            <a:solidFill>
              <a:srgbClr val="BDA565"/>
            </a:solidFill>
          </p:spPr>
          <p:txBody>
            <a:bodyPr/>
            <a:lstStyle/>
            <a:p>
              <a:endParaRPr lang="en-ZA"/>
            </a:p>
          </p:txBody>
        </p:sp>
        <p:sp>
          <p:nvSpPr>
            <p:cNvPr id="14" name="AutoShape 14"/>
            <p:cNvSpPr/>
            <p:nvPr/>
          </p:nvSpPr>
          <p:spPr>
            <a:xfrm rot="-5400000">
              <a:off x="1366198" y="5474304"/>
              <a:ext cx="683099" cy="683099"/>
            </a:xfrm>
            <a:prstGeom prst="rect">
              <a:avLst/>
            </a:prstGeom>
            <a:solidFill>
              <a:srgbClr val="BDA565"/>
            </a:solidFill>
          </p:spPr>
          <p:txBody>
            <a:bodyPr/>
            <a:lstStyle/>
            <a:p>
              <a:endParaRPr lang="en-ZA"/>
            </a:p>
          </p:txBody>
        </p:sp>
        <p:sp>
          <p:nvSpPr>
            <p:cNvPr id="15" name="AutoShape 15"/>
            <p:cNvSpPr/>
            <p:nvPr/>
          </p:nvSpPr>
          <p:spPr>
            <a:xfrm rot="-5400000">
              <a:off x="1366198" y="6837624"/>
              <a:ext cx="683099" cy="683099"/>
            </a:xfrm>
            <a:prstGeom prst="rect">
              <a:avLst/>
            </a:prstGeom>
            <a:solidFill>
              <a:srgbClr val="DAA29E"/>
            </a:solidFill>
          </p:spPr>
          <p:txBody>
            <a:bodyPr/>
            <a:lstStyle/>
            <a:p>
              <a:endParaRPr lang="en-ZA"/>
            </a:p>
          </p:txBody>
        </p:sp>
        <p:sp>
          <p:nvSpPr>
            <p:cNvPr id="16" name="AutoShape 16"/>
            <p:cNvSpPr/>
            <p:nvPr/>
          </p:nvSpPr>
          <p:spPr>
            <a:xfrm rot="-5400000">
              <a:off x="0" y="6837624"/>
              <a:ext cx="683099" cy="683099"/>
            </a:xfrm>
            <a:prstGeom prst="rect">
              <a:avLst/>
            </a:prstGeom>
            <a:solidFill>
              <a:srgbClr val="BDA565"/>
            </a:solidFill>
          </p:spPr>
          <p:txBody>
            <a:bodyPr/>
            <a:lstStyle/>
            <a:p>
              <a:endParaRPr lang="en-ZA"/>
            </a:p>
          </p:txBody>
        </p:sp>
        <p:sp>
          <p:nvSpPr>
            <p:cNvPr id="17" name="AutoShape 17"/>
            <p:cNvSpPr/>
            <p:nvPr/>
          </p:nvSpPr>
          <p:spPr>
            <a:xfrm rot="-5400000">
              <a:off x="1366198" y="8886921"/>
              <a:ext cx="683099" cy="683099"/>
            </a:xfrm>
            <a:prstGeom prst="rect">
              <a:avLst/>
            </a:prstGeom>
            <a:solidFill>
              <a:srgbClr val="BDA565"/>
            </a:solidFill>
          </p:spPr>
          <p:txBody>
            <a:bodyPr/>
            <a:lstStyle/>
            <a:p>
              <a:endParaRPr lang="en-ZA"/>
            </a:p>
          </p:txBody>
        </p:sp>
        <p:sp>
          <p:nvSpPr>
            <p:cNvPr id="18" name="AutoShape 18"/>
            <p:cNvSpPr/>
            <p:nvPr/>
          </p:nvSpPr>
          <p:spPr>
            <a:xfrm rot="-5400000">
              <a:off x="683099" y="10936218"/>
              <a:ext cx="683099" cy="683099"/>
            </a:xfrm>
            <a:prstGeom prst="rect">
              <a:avLst/>
            </a:prstGeom>
            <a:solidFill>
              <a:srgbClr val="BDA565"/>
            </a:solidFill>
          </p:spPr>
          <p:txBody>
            <a:bodyPr/>
            <a:lstStyle/>
            <a:p>
              <a:endParaRPr lang="en-ZA"/>
            </a:p>
          </p:txBody>
        </p:sp>
        <p:sp>
          <p:nvSpPr>
            <p:cNvPr id="19" name="AutoShape 19"/>
            <p:cNvSpPr/>
            <p:nvPr/>
          </p:nvSpPr>
          <p:spPr>
            <a:xfrm rot="-5400000">
              <a:off x="683099" y="11619317"/>
              <a:ext cx="683099" cy="683099"/>
            </a:xfrm>
            <a:prstGeom prst="rect">
              <a:avLst/>
            </a:prstGeom>
            <a:solidFill>
              <a:srgbClr val="F7BDB9"/>
            </a:solidFill>
          </p:spPr>
          <p:txBody>
            <a:bodyPr/>
            <a:lstStyle/>
            <a:p>
              <a:endParaRPr lang="en-ZA"/>
            </a:p>
          </p:txBody>
        </p:sp>
        <p:sp>
          <p:nvSpPr>
            <p:cNvPr id="20" name="AutoShape 20"/>
            <p:cNvSpPr/>
            <p:nvPr/>
          </p:nvSpPr>
          <p:spPr>
            <a:xfrm rot="-5400000">
              <a:off x="0" y="9570020"/>
              <a:ext cx="683099" cy="683099"/>
            </a:xfrm>
            <a:prstGeom prst="rect">
              <a:avLst/>
            </a:prstGeom>
            <a:solidFill>
              <a:srgbClr val="F7BDB9"/>
            </a:solidFill>
          </p:spPr>
          <p:txBody>
            <a:bodyPr/>
            <a:lstStyle/>
            <a:p>
              <a:endParaRPr lang="en-ZA"/>
            </a:p>
          </p:txBody>
        </p:sp>
        <p:sp>
          <p:nvSpPr>
            <p:cNvPr id="21" name="AutoShape 21"/>
            <p:cNvSpPr/>
            <p:nvPr/>
          </p:nvSpPr>
          <p:spPr>
            <a:xfrm rot="-5400000">
              <a:off x="683099" y="8203822"/>
              <a:ext cx="683099" cy="683099"/>
            </a:xfrm>
            <a:prstGeom prst="rect">
              <a:avLst/>
            </a:prstGeom>
            <a:solidFill>
              <a:srgbClr val="F7BDB9"/>
            </a:solidFill>
          </p:spPr>
          <p:txBody>
            <a:bodyPr/>
            <a:lstStyle/>
            <a:p>
              <a:endParaRPr lang="en-ZA"/>
            </a:p>
          </p:txBody>
        </p:sp>
        <p:sp>
          <p:nvSpPr>
            <p:cNvPr id="22" name="AutoShape 22"/>
            <p:cNvSpPr/>
            <p:nvPr/>
          </p:nvSpPr>
          <p:spPr>
            <a:xfrm rot="-5400000">
              <a:off x="341550" y="4449655"/>
              <a:ext cx="1366198" cy="683099"/>
            </a:xfrm>
            <a:prstGeom prst="rect">
              <a:avLst/>
            </a:prstGeom>
            <a:solidFill>
              <a:srgbClr val="DAA29E"/>
            </a:solidFill>
          </p:spPr>
          <p:txBody>
            <a:bodyPr/>
            <a:lstStyle/>
            <a:p>
              <a:endParaRPr lang="en-ZA"/>
            </a:p>
          </p:txBody>
        </p:sp>
        <p:sp>
          <p:nvSpPr>
            <p:cNvPr id="23" name="AutoShape 23"/>
            <p:cNvSpPr/>
            <p:nvPr/>
          </p:nvSpPr>
          <p:spPr>
            <a:xfrm rot="-5400000">
              <a:off x="1024649" y="9911570"/>
              <a:ext cx="1366198" cy="683099"/>
            </a:xfrm>
            <a:prstGeom prst="rect">
              <a:avLst/>
            </a:prstGeom>
            <a:solidFill>
              <a:srgbClr val="DAA29E"/>
            </a:solidFill>
          </p:spPr>
          <p:txBody>
            <a:bodyPr/>
            <a:lstStyle/>
            <a:p>
              <a:endParaRPr lang="en-ZA"/>
            </a:p>
          </p:txBody>
        </p:sp>
      </p:grpSp>
      <p:grpSp>
        <p:nvGrpSpPr>
          <p:cNvPr id="24" name="Group 24"/>
          <p:cNvGrpSpPr/>
          <p:nvPr/>
        </p:nvGrpSpPr>
        <p:grpSpPr>
          <a:xfrm rot="-5400000">
            <a:off x="13071732" y="-3844920"/>
            <a:ext cx="1536973" cy="9226812"/>
            <a:chOff x="0" y="0"/>
            <a:chExt cx="2049297" cy="12302417"/>
          </a:xfrm>
        </p:grpSpPr>
        <p:sp>
          <p:nvSpPr>
            <p:cNvPr id="25" name="AutoShape 25"/>
            <p:cNvSpPr/>
            <p:nvPr/>
          </p:nvSpPr>
          <p:spPr>
            <a:xfrm rot="-5400000">
              <a:off x="0" y="0"/>
              <a:ext cx="683099" cy="683099"/>
            </a:xfrm>
            <a:prstGeom prst="rect">
              <a:avLst/>
            </a:prstGeom>
            <a:solidFill>
              <a:srgbClr val="BDA565"/>
            </a:solidFill>
          </p:spPr>
          <p:txBody>
            <a:bodyPr/>
            <a:lstStyle/>
            <a:p>
              <a:endParaRPr lang="en-ZA"/>
            </a:p>
          </p:txBody>
        </p:sp>
        <p:sp>
          <p:nvSpPr>
            <p:cNvPr id="26" name="AutoShape 26"/>
            <p:cNvSpPr/>
            <p:nvPr/>
          </p:nvSpPr>
          <p:spPr>
            <a:xfrm rot="-5400000">
              <a:off x="1024649" y="3766556"/>
              <a:ext cx="1366198" cy="683099"/>
            </a:xfrm>
            <a:prstGeom prst="rect">
              <a:avLst/>
            </a:prstGeom>
            <a:solidFill>
              <a:srgbClr val="FCDFDD"/>
            </a:solidFill>
          </p:spPr>
          <p:txBody>
            <a:bodyPr/>
            <a:lstStyle/>
            <a:p>
              <a:endParaRPr lang="en-ZA"/>
            </a:p>
          </p:txBody>
        </p:sp>
        <p:sp>
          <p:nvSpPr>
            <p:cNvPr id="27" name="AutoShape 27"/>
            <p:cNvSpPr/>
            <p:nvPr/>
          </p:nvSpPr>
          <p:spPr>
            <a:xfrm rot="-5400000">
              <a:off x="1024649" y="1707748"/>
              <a:ext cx="1366198" cy="683099"/>
            </a:xfrm>
            <a:prstGeom prst="rect">
              <a:avLst/>
            </a:prstGeom>
            <a:solidFill>
              <a:srgbClr val="DAA29E"/>
            </a:solidFill>
          </p:spPr>
          <p:txBody>
            <a:bodyPr/>
            <a:lstStyle/>
            <a:p>
              <a:endParaRPr lang="en-ZA"/>
            </a:p>
          </p:txBody>
        </p:sp>
        <p:sp>
          <p:nvSpPr>
            <p:cNvPr id="28" name="AutoShape 28"/>
            <p:cNvSpPr/>
            <p:nvPr/>
          </p:nvSpPr>
          <p:spPr>
            <a:xfrm rot="-5400000">
              <a:off x="0" y="2049297"/>
              <a:ext cx="683099" cy="683099"/>
            </a:xfrm>
            <a:prstGeom prst="rect">
              <a:avLst/>
            </a:prstGeom>
            <a:solidFill>
              <a:srgbClr val="FCDFDD"/>
            </a:solidFill>
          </p:spPr>
          <p:txBody>
            <a:bodyPr/>
            <a:lstStyle/>
            <a:p>
              <a:endParaRPr lang="en-ZA"/>
            </a:p>
          </p:txBody>
        </p:sp>
        <p:sp>
          <p:nvSpPr>
            <p:cNvPr id="29" name="AutoShape 29"/>
            <p:cNvSpPr/>
            <p:nvPr/>
          </p:nvSpPr>
          <p:spPr>
            <a:xfrm rot="-5400000">
              <a:off x="683099" y="1366198"/>
              <a:ext cx="683099" cy="683099"/>
            </a:xfrm>
            <a:prstGeom prst="rect">
              <a:avLst/>
            </a:prstGeom>
            <a:solidFill>
              <a:srgbClr val="FCDFDD"/>
            </a:solidFill>
          </p:spPr>
          <p:txBody>
            <a:bodyPr/>
            <a:lstStyle/>
            <a:p>
              <a:endParaRPr lang="en-ZA"/>
            </a:p>
          </p:txBody>
        </p:sp>
        <p:sp>
          <p:nvSpPr>
            <p:cNvPr id="30" name="AutoShape 30"/>
            <p:cNvSpPr/>
            <p:nvPr/>
          </p:nvSpPr>
          <p:spPr>
            <a:xfrm rot="-5400000">
              <a:off x="1366198" y="683099"/>
              <a:ext cx="683099" cy="683099"/>
            </a:xfrm>
            <a:prstGeom prst="rect">
              <a:avLst/>
            </a:prstGeom>
            <a:solidFill>
              <a:srgbClr val="BDA565"/>
            </a:solidFill>
          </p:spPr>
          <p:txBody>
            <a:bodyPr/>
            <a:lstStyle/>
            <a:p>
              <a:endParaRPr lang="en-ZA"/>
            </a:p>
          </p:txBody>
        </p:sp>
        <p:sp>
          <p:nvSpPr>
            <p:cNvPr id="31" name="AutoShape 31"/>
            <p:cNvSpPr/>
            <p:nvPr/>
          </p:nvSpPr>
          <p:spPr>
            <a:xfrm rot="-5400000">
              <a:off x="683099" y="7520723"/>
              <a:ext cx="683099" cy="683099"/>
            </a:xfrm>
            <a:prstGeom prst="rect">
              <a:avLst/>
            </a:prstGeom>
            <a:solidFill>
              <a:srgbClr val="BDA565"/>
            </a:solidFill>
          </p:spPr>
          <p:txBody>
            <a:bodyPr/>
            <a:lstStyle/>
            <a:p>
              <a:endParaRPr lang="en-ZA"/>
            </a:p>
          </p:txBody>
        </p:sp>
        <p:sp>
          <p:nvSpPr>
            <p:cNvPr id="32" name="AutoShape 32"/>
            <p:cNvSpPr/>
            <p:nvPr/>
          </p:nvSpPr>
          <p:spPr>
            <a:xfrm rot="-5400000">
              <a:off x="0" y="3425006"/>
              <a:ext cx="683099" cy="683099"/>
            </a:xfrm>
            <a:prstGeom prst="rect">
              <a:avLst/>
            </a:prstGeom>
            <a:solidFill>
              <a:srgbClr val="BDA565"/>
            </a:solidFill>
          </p:spPr>
          <p:txBody>
            <a:bodyPr/>
            <a:lstStyle/>
            <a:p>
              <a:endParaRPr lang="en-ZA"/>
            </a:p>
          </p:txBody>
        </p:sp>
        <p:sp>
          <p:nvSpPr>
            <p:cNvPr id="33" name="AutoShape 33"/>
            <p:cNvSpPr/>
            <p:nvPr/>
          </p:nvSpPr>
          <p:spPr>
            <a:xfrm rot="-5400000">
              <a:off x="1366198" y="5474304"/>
              <a:ext cx="683099" cy="683099"/>
            </a:xfrm>
            <a:prstGeom prst="rect">
              <a:avLst/>
            </a:prstGeom>
            <a:solidFill>
              <a:srgbClr val="BDA565"/>
            </a:solidFill>
          </p:spPr>
          <p:txBody>
            <a:bodyPr/>
            <a:lstStyle/>
            <a:p>
              <a:endParaRPr lang="en-ZA"/>
            </a:p>
          </p:txBody>
        </p:sp>
        <p:sp>
          <p:nvSpPr>
            <p:cNvPr id="34" name="AutoShape 34"/>
            <p:cNvSpPr/>
            <p:nvPr/>
          </p:nvSpPr>
          <p:spPr>
            <a:xfrm rot="-5400000">
              <a:off x="1366198" y="6837624"/>
              <a:ext cx="683099" cy="683099"/>
            </a:xfrm>
            <a:prstGeom prst="rect">
              <a:avLst/>
            </a:prstGeom>
            <a:solidFill>
              <a:srgbClr val="DAA29E"/>
            </a:solidFill>
          </p:spPr>
          <p:txBody>
            <a:bodyPr/>
            <a:lstStyle/>
            <a:p>
              <a:endParaRPr lang="en-ZA"/>
            </a:p>
          </p:txBody>
        </p:sp>
        <p:sp>
          <p:nvSpPr>
            <p:cNvPr id="35" name="AutoShape 35"/>
            <p:cNvSpPr/>
            <p:nvPr/>
          </p:nvSpPr>
          <p:spPr>
            <a:xfrm rot="-5400000">
              <a:off x="0" y="6837624"/>
              <a:ext cx="683099" cy="683099"/>
            </a:xfrm>
            <a:prstGeom prst="rect">
              <a:avLst/>
            </a:prstGeom>
            <a:solidFill>
              <a:srgbClr val="BDA565"/>
            </a:solidFill>
          </p:spPr>
          <p:txBody>
            <a:bodyPr/>
            <a:lstStyle/>
            <a:p>
              <a:endParaRPr lang="en-ZA"/>
            </a:p>
          </p:txBody>
        </p:sp>
        <p:sp>
          <p:nvSpPr>
            <p:cNvPr id="36" name="AutoShape 36"/>
            <p:cNvSpPr/>
            <p:nvPr/>
          </p:nvSpPr>
          <p:spPr>
            <a:xfrm rot="-5400000">
              <a:off x="1366198" y="8886921"/>
              <a:ext cx="683099" cy="683099"/>
            </a:xfrm>
            <a:prstGeom prst="rect">
              <a:avLst/>
            </a:prstGeom>
            <a:solidFill>
              <a:srgbClr val="BDA565"/>
            </a:solidFill>
          </p:spPr>
          <p:txBody>
            <a:bodyPr/>
            <a:lstStyle/>
            <a:p>
              <a:endParaRPr lang="en-ZA"/>
            </a:p>
          </p:txBody>
        </p:sp>
        <p:sp>
          <p:nvSpPr>
            <p:cNvPr id="37" name="AutoShape 37"/>
            <p:cNvSpPr/>
            <p:nvPr/>
          </p:nvSpPr>
          <p:spPr>
            <a:xfrm rot="-5400000">
              <a:off x="683099" y="10936218"/>
              <a:ext cx="683099" cy="683099"/>
            </a:xfrm>
            <a:prstGeom prst="rect">
              <a:avLst/>
            </a:prstGeom>
            <a:solidFill>
              <a:srgbClr val="BDA565"/>
            </a:solidFill>
          </p:spPr>
          <p:txBody>
            <a:bodyPr/>
            <a:lstStyle/>
            <a:p>
              <a:endParaRPr lang="en-ZA"/>
            </a:p>
          </p:txBody>
        </p:sp>
        <p:sp>
          <p:nvSpPr>
            <p:cNvPr id="38" name="AutoShape 38"/>
            <p:cNvSpPr/>
            <p:nvPr/>
          </p:nvSpPr>
          <p:spPr>
            <a:xfrm rot="-5400000">
              <a:off x="683099" y="11619317"/>
              <a:ext cx="683099" cy="683099"/>
            </a:xfrm>
            <a:prstGeom prst="rect">
              <a:avLst/>
            </a:prstGeom>
            <a:solidFill>
              <a:srgbClr val="FCDFDD"/>
            </a:solidFill>
          </p:spPr>
          <p:txBody>
            <a:bodyPr/>
            <a:lstStyle/>
            <a:p>
              <a:endParaRPr lang="en-ZA"/>
            </a:p>
          </p:txBody>
        </p:sp>
        <p:sp>
          <p:nvSpPr>
            <p:cNvPr id="39" name="AutoShape 39"/>
            <p:cNvSpPr/>
            <p:nvPr/>
          </p:nvSpPr>
          <p:spPr>
            <a:xfrm rot="-5400000">
              <a:off x="0" y="9570020"/>
              <a:ext cx="683099" cy="683099"/>
            </a:xfrm>
            <a:prstGeom prst="rect">
              <a:avLst/>
            </a:prstGeom>
            <a:solidFill>
              <a:srgbClr val="FCDFDD"/>
            </a:solidFill>
          </p:spPr>
          <p:txBody>
            <a:bodyPr/>
            <a:lstStyle/>
            <a:p>
              <a:endParaRPr lang="en-ZA"/>
            </a:p>
          </p:txBody>
        </p:sp>
        <p:sp>
          <p:nvSpPr>
            <p:cNvPr id="40" name="AutoShape 40"/>
            <p:cNvSpPr/>
            <p:nvPr/>
          </p:nvSpPr>
          <p:spPr>
            <a:xfrm rot="-5400000">
              <a:off x="683099" y="8203822"/>
              <a:ext cx="683099" cy="683099"/>
            </a:xfrm>
            <a:prstGeom prst="rect">
              <a:avLst/>
            </a:prstGeom>
            <a:solidFill>
              <a:srgbClr val="FCDFDD"/>
            </a:solidFill>
          </p:spPr>
          <p:txBody>
            <a:bodyPr/>
            <a:lstStyle/>
            <a:p>
              <a:endParaRPr lang="en-ZA"/>
            </a:p>
          </p:txBody>
        </p:sp>
        <p:sp>
          <p:nvSpPr>
            <p:cNvPr id="41" name="AutoShape 41"/>
            <p:cNvSpPr/>
            <p:nvPr/>
          </p:nvSpPr>
          <p:spPr>
            <a:xfrm rot="-5400000">
              <a:off x="341550" y="4449655"/>
              <a:ext cx="1366198" cy="683099"/>
            </a:xfrm>
            <a:prstGeom prst="rect">
              <a:avLst/>
            </a:prstGeom>
            <a:solidFill>
              <a:srgbClr val="DAA29E"/>
            </a:solidFill>
          </p:spPr>
          <p:txBody>
            <a:bodyPr/>
            <a:lstStyle/>
            <a:p>
              <a:endParaRPr lang="en-ZA"/>
            </a:p>
          </p:txBody>
        </p:sp>
        <p:sp>
          <p:nvSpPr>
            <p:cNvPr id="42" name="AutoShape 42"/>
            <p:cNvSpPr/>
            <p:nvPr/>
          </p:nvSpPr>
          <p:spPr>
            <a:xfrm rot="-5400000">
              <a:off x="1024649" y="9911570"/>
              <a:ext cx="1366198" cy="683099"/>
            </a:xfrm>
            <a:prstGeom prst="rect">
              <a:avLst/>
            </a:prstGeom>
            <a:solidFill>
              <a:srgbClr val="DAA29E"/>
            </a:solidFill>
          </p:spPr>
          <p:txBody>
            <a:bodyPr/>
            <a:lstStyle/>
            <a:p>
              <a:endParaRPr lang="en-ZA"/>
            </a:p>
          </p:txBody>
        </p:sp>
      </p:grpSp>
      <p:sp>
        <p:nvSpPr>
          <p:cNvPr id="43" name="Freeform 43"/>
          <p:cNvSpPr/>
          <p:nvPr/>
        </p:nvSpPr>
        <p:spPr>
          <a:xfrm>
            <a:off x="10917" y="9258300"/>
            <a:ext cx="1017783" cy="1017783"/>
          </a:xfrm>
          <a:custGeom>
            <a:avLst/>
            <a:gdLst/>
            <a:ahLst/>
            <a:cxnLst/>
            <a:rect l="l" t="t" r="r" b="b"/>
            <a:pathLst>
              <a:path w="1017783" h="1017783">
                <a:moveTo>
                  <a:pt x="0" y="0"/>
                </a:moveTo>
                <a:lnTo>
                  <a:pt x="1017783" y="0"/>
                </a:lnTo>
                <a:lnTo>
                  <a:pt x="1017783" y="1017783"/>
                </a:lnTo>
                <a:lnTo>
                  <a:pt x="0" y="101778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ZA"/>
          </a:p>
        </p:txBody>
      </p:sp>
      <p:sp>
        <p:nvSpPr>
          <p:cNvPr id="44" name="Freeform 44"/>
          <p:cNvSpPr/>
          <p:nvPr/>
        </p:nvSpPr>
        <p:spPr>
          <a:xfrm>
            <a:off x="7103901" y="9258300"/>
            <a:ext cx="1017783" cy="1017783"/>
          </a:xfrm>
          <a:custGeom>
            <a:avLst/>
            <a:gdLst/>
            <a:ahLst/>
            <a:cxnLst/>
            <a:rect l="l" t="t" r="r" b="b"/>
            <a:pathLst>
              <a:path w="1017783" h="1017783">
                <a:moveTo>
                  <a:pt x="0" y="0"/>
                </a:moveTo>
                <a:lnTo>
                  <a:pt x="1017783" y="0"/>
                </a:lnTo>
                <a:lnTo>
                  <a:pt x="1017783" y="1017783"/>
                </a:lnTo>
                <a:lnTo>
                  <a:pt x="0" y="10177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ZA"/>
          </a:p>
        </p:txBody>
      </p:sp>
      <p:grpSp>
        <p:nvGrpSpPr>
          <p:cNvPr id="45" name="Group 45"/>
          <p:cNvGrpSpPr/>
          <p:nvPr/>
        </p:nvGrpSpPr>
        <p:grpSpPr>
          <a:xfrm>
            <a:off x="9144000" y="2200565"/>
            <a:ext cx="8115300" cy="6838103"/>
            <a:chOff x="0" y="0"/>
            <a:chExt cx="10820400" cy="9117470"/>
          </a:xfrm>
        </p:grpSpPr>
        <p:sp>
          <p:nvSpPr>
            <p:cNvPr id="46" name="TextBox 46"/>
            <p:cNvSpPr txBox="1"/>
            <p:nvPr/>
          </p:nvSpPr>
          <p:spPr>
            <a:xfrm>
              <a:off x="0" y="0"/>
              <a:ext cx="10820400" cy="3886200"/>
            </a:xfrm>
            <a:prstGeom prst="rect">
              <a:avLst/>
            </a:prstGeom>
          </p:spPr>
          <p:txBody>
            <a:bodyPr lIns="0" tIns="0" rIns="0" bIns="0" rtlCol="0" anchor="t">
              <a:spAutoFit/>
            </a:bodyPr>
            <a:lstStyle/>
            <a:p>
              <a:pPr marL="0" lvl="0" indent="0" algn="l">
                <a:lnSpc>
                  <a:spcPts val="7664"/>
                </a:lnSpc>
              </a:pPr>
              <a:r>
                <a:rPr lang="en-US" sz="6387" b="1" u="none" spc="127">
                  <a:solidFill>
                    <a:srgbClr val="201702"/>
                  </a:solidFill>
                  <a:latin typeface="Roboto Mono Bold"/>
                  <a:ea typeface="Roboto Mono Bold"/>
                  <a:cs typeface="Roboto Mono Bold"/>
                  <a:sym typeface="Roboto Mono Bold"/>
                </a:rPr>
                <a:t>The Benefits of Temporary Access Denial</a:t>
              </a:r>
            </a:p>
          </p:txBody>
        </p:sp>
        <p:sp>
          <p:nvSpPr>
            <p:cNvPr id="47" name="TextBox 47"/>
            <p:cNvSpPr txBox="1"/>
            <p:nvPr/>
          </p:nvSpPr>
          <p:spPr>
            <a:xfrm>
              <a:off x="0" y="4460597"/>
              <a:ext cx="10820400" cy="1387475"/>
            </a:xfrm>
            <a:prstGeom prst="rect">
              <a:avLst/>
            </a:prstGeom>
          </p:spPr>
          <p:txBody>
            <a:bodyPr lIns="0" tIns="0" rIns="0" bIns="0" rtlCol="0" anchor="t">
              <a:spAutoFit/>
            </a:bodyPr>
            <a:lstStyle/>
            <a:p>
              <a:pPr marL="0" lvl="0" indent="0" algn="l">
                <a:lnSpc>
                  <a:spcPts val="4200"/>
                </a:lnSpc>
              </a:pPr>
              <a:r>
                <a:rPr lang="en-US" sz="3000" b="1" u="none">
                  <a:solidFill>
                    <a:srgbClr val="201702"/>
                  </a:solidFill>
                  <a:latin typeface="Lekton Bold"/>
                  <a:ea typeface="Lekton Bold"/>
                  <a:cs typeface="Lekton Bold"/>
                  <a:sym typeface="Lekton Bold"/>
                </a:rPr>
                <a:t>How limiting access can improve mental well-being and productivity</a:t>
              </a:r>
            </a:p>
          </p:txBody>
        </p:sp>
        <p:sp>
          <p:nvSpPr>
            <p:cNvPr id="48" name="TextBox 48"/>
            <p:cNvSpPr txBox="1"/>
            <p:nvPr/>
          </p:nvSpPr>
          <p:spPr>
            <a:xfrm>
              <a:off x="0" y="6736157"/>
              <a:ext cx="10820400" cy="2381314"/>
            </a:xfrm>
            <a:prstGeom prst="rect">
              <a:avLst/>
            </a:prstGeom>
          </p:spPr>
          <p:txBody>
            <a:bodyPr lIns="0" tIns="0" rIns="0" bIns="0" rtlCol="0" anchor="t">
              <a:spAutoFit/>
            </a:bodyPr>
            <a:lstStyle/>
            <a:p>
              <a:pPr marL="0" lvl="0" indent="0" algn="l">
                <a:lnSpc>
                  <a:spcPts val="2884"/>
                </a:lnSpc>
                <a:spcBef>
                  <a:spcPct val="0"/>
                </a:spcBef>
              </a:pPr>
              <a:r>
                <a:rPr lang="en-US" sz="2060" u="none">
                  <a:solidFill>
                    <a:srgbClr val="201702"/>
                  </a:solidFill>
                  <a:latin typeface="Lekton"/>
                  <a:ea typeface="Lekton"/>
                  <a:cs typeface="Lekton"/>
                  <a:sym typeface="Lekton"/>
                </a:rPr>
                <a:t>Temporary access denial </a:t>
              </a:r>
              <a:r>
                <a:rPr lang="en-US" sz="2060" b="1" u="none">
                  <a:solidFill>
                    <a:srgbClr val="201702"/>
                  </a:solidFill>
                  <a:latin typeface="Lekton Bold"/>
                  <a:ea typeface="Lekton Bold"/>
                  <a:cs typeface="Lekton Bold"/>
                  <a:sym typeface="Lekton Bold"/>
                </a:rPr>
                <a:t>effectively reduces anxiety</a:t>
              </a:r>
              <a:r>
                <a:rPr lang="en-US" sz="2060" u="none">
                  <a:solidFill>
                    <a:srgbClr val="201702"/>
                  </a:solidFill>
                  <a:latin typeface="Lekton"/>
                  <a:ea typeface="Lekton"/>
                  <a:cs typeface="Lekton"/>
                  <a:sym typeface="Lekton"/>
                </a:rPr>
                <a:t> by allowing individuals to focus on the present. It encourages a </a:t>
              </a:r>
              <a:r>
                <a:rPr lang="en-US" sz="2060" b="1" u="none">
                  <a:solidFill>
                    <a:srgbClr val="201702"/>
                  </a:solidFill>
                  <a:latin typeface="Lekton Bold"/>
                  <a:ea typeface="Lekton Bold"/>
                  <a:cs typeface="Lekton Bold"/>
                  <a:sym typeface="Lekton Bold"/>
                </a:rPr>
                <a:t>healthy balance</a:t>
              </a:r>
              <a:r>
                <a:rPr lang="en-US" sz="2060" u="none">
                  <a:solidFill>
                    <a:srgbClr val="201702"/>
                  </a:solidFill>
                  <a:latin typeface="Lekton"/>
                  <a:ea typeface="Lekton"/>
                  <a:cs typeface="Lekton"/>
                  <a:sym typeface="Lekton"/>
                </a:rPr>
                <a:t> between digital engagement and real-life experiences, ultimately preventing over-reliance on technology and fostering a more mindful approach to interactions.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BDB9"/>
        </a:solidFill>
        <a:effectLst/>
      </p:bgPr>
    </p:bg>
    <p:spTree>
      <p:nvGrpSpPr>
        <p:cNvPr id="1" name=""/>
        <p:cNvGrpSpPr/>
        <p:nvPr/>
      </p:nvGrpSpPr>
      <p:grpSpPr>
        <a:xfrm>
          <a:off x="0" y="0"/>
          <a:ext cx="0" cy="0"/>
          <a:chOff x="0" y="0"/>
          <a:chExt cx="0" cy="0"/>
        </a:xfrm>
      </p:grpSpPr>
      <p:sp>
        <p:nvSpPr>
          <p:cNvPr id="2" name="AutoShape 2"/>
          <p:cNvSpPr/>
          <p:nvPr/>
        </p:nvSpPr>
        <p:spPr>
          <a:xfrm>
            <a:off x="0" y="0"/>
            <a:ext cx="8121684" cy="10287000"/>
          </a:xfrm>
          <a:prstGeom prst="rect">
            <a:avLst/>
          </a:prstGeom>
          <a:solidFill>
            <a:srgbClr val="FCDFDD"/>
          </a:solidFill>
        </p:spPr>
        <p:txBody>
          <a:bodyPr/>
          <a:lstStyle/>
          <a:p>
            <a:endParaRPr lang="en-ZA"/>
          </a:p>
        </p:txBody>
      </p:sp>
      <p:grpSp>
        <p:nvGrpSpPr>
          <p:cNvPr id="3" name="Group 3"/>
          <p:cNvGrpSpPr/>
          <p:nvPr/>
        </p:nvGrpSpPr>
        <p:grpSpPr>
          <a:xfrm>
            <a:off x="0" y="0"/>
            <a:ext cx="8121684" cy="10287000"/>
            <a:chOff x="0" y="0"/>
            <a:chExt cx="6823730" cy="8643000"/>
          </a:xfrm>
        </p:grpSpPr>
        <p:sp>
          <p:nvSpPr>
            <p:cNvPr id="4" name="Freeform 4"/>
            <p:cNvSpPr/>
            <p:nvPr/>
          </p:nvSpPr>
          <p:spPr>
            <a:xfrm>
              <a:off x="0" y="0"/>
              <a:ext cx="6823731" cy="8643000"/>
            </a:xfrm>
            <a:custGeom>
              <a:avLst/>
              <a:gdLst/>
              <a:ahLst/>
              <a:cxnLst/>
              <a:rect l="l" t="t" r="r" b="b"/>
              <a:pathLst>
                <a:path w="6823731" h="8643000">
                  <a:moveTo>
                    <a:pt x="6681570" y="864300"/>
                  </a:moveTo>
                  <a:cubicBezTo>
                    <a:pt x="6681570" y="777870"/>
                    <a:pt x="6681570" y="605010"/>
                    <a:pt x="6681570" y="518580"/>
                  </a:cubicBezTo>
                  <a:lnTo>
                    <a:pt x="6539409" y="518580"/>
                  </a:lnTo>
                  <a:lnTo>
                    <a:pt x="6539409" y="345720"/>
                  </a:lnTo>
                  <a:lnTo>
                    <a:pt x="6397247" y="345720"/>
                  </a:lnTo>
                  <a:lnTo>
                    <a:pt x="6397247" y="172860"/>
                  </a:lnTo>
                  <a:cubicBezTo>
                    <a:pt x="6326167" y="172860"/>
                    <a:pt x="6184006" y="172860"/>
                    <a:pt x="6112925" y="172860"/>
                  </a:cubicBezTo>
                  <a:lnTo>
                    <a:pt x="6112925" y="0"/>
                  </a:lnTo>
                  <a:cubicBezTo>
                    <a:pt x="4313166" y="0"/>
                    <a:pt x="2510564" y="0"/>
                    <a:pt x="710805" y="0"/>
                  </a:cubicBezTo>
                  <a:lnTo>
                    <a:pt x="710805" y="172860"/>
                  </a:lnTo>
                  <a:cubicBezTo>
                    <a:pt x="639725" y="172860"/>
                    <a:pt x="497564" y="172860"/>
                    <a:pt x="426483" y="172860"/>
                  </a:cubicBezTo>
                  <a:lnTo>
                    <a:pt x="426483" y="345720"/>
                  </a:lnTo>
                  <a:lnTo>
                    <a:pt x="284322" y="345720"/>
                  </a:lnTo>
                  <a:lnTo>
                    <a:pt x="284322" y="518580"/>
                  </a:lnTo>
                  <a:lnTo>
                    <a:pt x="142161" y="518580"/>
                  </a:lnTo>
                  <a:cubicBezTo>
                    <a:pt x="142161" y="605010"/>
                    <a:pt x="142161" y="777870"/>
                    <a:pt x="142161" y="864300"/>
                  </a:cubicBezTo>
                  <a:lnTo>
                    <a:pt x="0" y="864300"/>
                  </a:lnTo>
                  <a:cubicBezTo>
                    <a:pt x="0" y="3168524"/>
                    <a:pt x="0" y="5474476"/>
                    <a:pt x="0" y="7778700"/>
                  </a:cubicBezTo>
                  <a:lnTo>
                    <a:pt x="142161" y="7778700"/>
                  </a:lnTo>
                  <a:cubicBezTo>
                    <a:pt x="142161" y="7865130"/>
                    <a:pt x="142161" y="8037990"/>
                    <a:pt x="142161" y="8124420"/>
                  </a:cubicBezTo>
                  <a:lnTo>
                    <a:pt x="284322" y="8124420"/>
                  </a:lnTo>
                  <a:lnTo>
                    <a:pt x="284322" y="8297280"/>
                  </a:lnTo>
                  <a:lnTo>
                    <a:pt x="426483" y="8297280"/>
                  </a:lnTo>
                  <a:lnTo>
                    <a:pt x="426483" y="8470140"/>
                  </a:lnTo>
                  <a:cubicBezTo>
                    <a:pt x="497564" y="8470140"/>
                    <a:pt x="639725" y="8470140"/>
                    <a:pt x="710805" y="8470140"/>
                  </a:cubicBezTo>
                  <a:lnTo>
                    <a:pt x="710805" y="8643000"/>
                  </a:lnTo>
                  <a:cubicBezTo>
                    <a:pt x="2510564" y="8643000"/>
                    <a:pt x="4313166" y="8643000"/>
                    <a:pt x="6112925" y="8643000"/>
                  </a:cubicBezTo>
                  <a:lnTo>
                    <a:pt x="6112925" y="8470140"/>
                  </a:lnTo>
                  <a:cubicBezTo>
                    <a:pt x="6184006" y="8470140"/>
                    <a:pt x="6326167" y="8470140"/>
                    <a:pt x="6397247" y="8470140"/>
                  </a:cubicBezTo>
                  <a:lnTo>
                    <a:pt x="6397247" y="8297280"/>
                  </a:lnTo>
                  <a:lnTo>
                    <a:pt x="6539409" y="8297280"/>
                  </a:lnTo>
                  <a:lnTo>
                    <a:pt x="6539409" y="8124420"/>
                  </a:lnTo>
                  <a:lnTo>
                    <a:pt x="6681570" y="8124420"/>
                  </a:lnTo>
                  <a:cubicBezTo>
                    <a:pt x="6681570" y="8037990"/>
                    <a:pt x="6681570" y="7865130"/>
                    <a:pt x="6681570" y="7778700"/>
                  </a:cubicBezTo>
                  <a:lnTo>
                    <a:pt x="6823731" y="7778700"/>
                  </a:lnTo>
                  <a:cubicBezTo>
                    <a:pt x="6823731" y="5474476"/>
                    <a:pt x="6823731" y="3168524"/>
                    <a:pt x="6823731" y="864300"/>
                  </a:cubicBezTo>
                  <a:lnTo>
                    <a:pt x="6681570" y="864300"/>
                  </a:lnTo>
                  <a:close/>
                </a:path>
              </a:pathLst>
            </a:custGeom>
            <a:blipFill>
              <a:blip r:embed="rId2"/>
              <a:stretch>
                <a:fillRect l="-75053" r="-75053"/>
              </a:stretch>
            </a:blipFill>
          </p:spPr>
          <p:txBody>
            <a:bodyPr/>
            <a:lstStyle/>
            <a:p>
              <a:endParaRPr lang="en-ZA"/>
            </a:p>
          </p:txBody>
        </p:sp>
      </p:grpSp>
      <p:grpSp>
        <p:nvGrpSpPr>
          <p:cNvPr id="5" name="Group 5"/>
          <p:cNvGrpSpPr/>
          <p:nvPr/>
        </p:nvGrpSpPr>
        <p:grpSpPr>
          <a:xfrm rot="5400000">
            <a:off x="3844920" y="-3844920"/>
            <a:ext cx="1536973" cy="9226812"/>
            <a:chOff x="0" y="0"/>
            <a:chExt cx="2049297" cy="12302417"/>
          </a:xfrm>
        </p:grpSpPr>
        <p:sp>
          <p:nvSpPr>
            <p:cNvPr id="6" name="AutoShape 6"/>
            <p:cNvSpPr/>
            <p:nvPr/>
          </p:nvSpPr>
          <p:spPr>
            <a:xfrm rot="-5400000">
              <a:off x="0" y="0"/>
              <a:ext cx="683099" cy="683099"/>
            </a:xfrm>
            <a:prstGeom prst="rect">
              <a:avLst/>
            </a:prstGeom>
            <a:solidFill>
              <a:srgbClr val="BDA565"/>
            </a:solidFill>
          </p:spPr>
          <p:txBody>
            <a:bodyPr/>
            <a:lstStyle/>
            <a:p>
              <a:endParaRPr lang="en-ZA"/>
            </a:p>
          </p:txBody>
        </p:sp>
        <p:sp>
          <p:nvSpPr>
            <p:cNvPr id="7" name="AutoShape 7"/>
            <p:cNvSpPr/>
            <p:nvPr/>
          </p:nvSpPr>
          <p:spPr>
            <a:xfrm rot="-5400000">
              <a:off x="1024649" y="3766556"/>
              <a:ext cx="1366198" cy="683099"/>
            </a:xfrm>
            <a:prstGeom prst="rect">
              <a:avLst/>
            </a:prstGeom>
            <a:solidFill>
              <a:srgbClr val="F7BDB9"/>
            </a:solidFill>
          </p:spPr>
          <p:txBody>
            <a:bodyPr/>
            <a:lstStyle/>
            <a:p>
              <a:endParaRPr lang="en-ZA"/>
            </a:p>
          </p:txBody>
        </p:sp>
        <p:sp>
          <p:nvSpPr>
            <p:cNvPr id="8" name="AutoShape 8"/>
            <p:cNvSpPr/>
            <p:nvPr/>
          </p:nvSpPr>
          <p:spPr>
            <a:xfrm rot="-5400000">
              <a:off x="1024649" y="1707748"/>
              <a:ext cx="1366198" cy="683099"/>
            </a:xfrm>
            <a:prstGeom prst="rect">
              <a:avLst/>
            </a:prstGeom>
            <a:solidFill>
              <a:srgbClr val="DAA29E"/>
            </a:solidFill>
          </p:spPr>
          <p:txBody>
            <a:bodyPr/>
            <a:lstStyle/>
            <a:p>
              <a:endParaRPr lang="en-ZA"/>
            </a:p>
          </p:txBody>
        </p:sp>
        <p:sp>
          <p:nvSpPr>
            <p:cNvPr id="9" name="AutoShape 9"/>
            <p:cNvSpPr/>
            <p:nvPr/>
          </p:nvSpPr>
          <p:spPr>
            <a:xfrm rot="-5400000">
              <a:off x="0" y="2049297"/>
              <a:ext cx="683099" cy="683099"/>
            </a:xfrm>
            <a:prstGeom prst="rect">
              <a:avLst/>
            </a:prstGeom>
            <a:solidFill>
              <a:srgbClr val="F7BDB9"/>
            </a:solidFill>
          </p:spPr>
          <p:txBody>
            <a:bodyPr/>
            <a:lstStyle/>
            <a:p>
              <a:endParaRPr lang="en-ZA"/>
            </a:p>
          </p:txBody>
        </p:sp>
        <p:sp>
          <p:nvSpPr>
            <p:cNvPr id="10" name="AutoShape 10"/>
            <p:cNvSpPr/>
            <p:nvPr/>
          </p:nvSpPr>
          <p:spPr>
            <a:xfrm rot="-5400000">
              <a:off x="683099" y="1366198"/>
              <a:ext cx="683099" cy="683099"/>
            </a:xfrm>
            <a:prstGeom prst="rect">
              <a:avLst/>
            </a:prstGeom>
            <a:solidFill>
              <a:srgbClr val="F7BDB9"/>
            </a:solidFill>
          </p:spPr>
          <p:txBody>
            <a:bodyPr/>
            <a:lstStyle/>
            <a:p>
              <a:endParaRPr lang="en-ZA"/>
            </a:p>
          </p:txBody>
        </p:sp>
        <p:sp>
          <p:nvSpPr>
            <p:cNvPr id="11" name="AutoShape 11"/>
            <p:cNvSpPr/>
            <p:nvPr/>
          </p:nvSpPr>
          <p:spPr>
            <a:xfrm rot="-5400000">
              <a:off x="1366198" y="683099"/>
              <a:ext cx="683099" cy="683099"/>
            </a:xfrm>
            <a:prstGeom prst="rect">
              <a:avLst/>
            </a:prstGeom>
            <a:solidFill>
              <a:srgbClr val="BDA565"/>
            </a:solidFill>
          </p:spPr>
          <p:txBody>
            <a:bodyPr/>
            <a:lstStyle/>
            <a:p>
              <a:endParaRPr lang="en-ZA"/>
            </a:p>
          </p:txBody>
        </p:sp>
        <p:sp>
          <p:nvSpPr>
            <p:cNvPr id="12" name="AutoShape 12"/>
            <p:cNvSpPr/>
            <p:nvPr/>
          </p:nvSpPr>
          <p:spPr>
            <a:xfrm rot="-5400000">
              <a:off x="683099" y="7520723"/>
              <a:ext cx="683099" cy="683099"/>
            </a:xfrm>
            <a:prstGeom prst="rect">
              <a:avLst/>
            </a:prstGeom>
            <a:solidFill>
              <a:srgbClr val="BDA565"/>
            </a:solidFill>
          </p:spPr>
          <p:txBody>
            <a:bodyPr/>
            <a:lstStyle/>
            <a:p>
              <a:endParaRPr lang="en-ZA"/>
            </a:p>
          </p:txBody>
        </p:sp>
        <p:sp>
          <p:nvSpPr>
            <p:cNvPr id="13" name="AutoShape 13"/>
            <p:cNvSpPr/>
            <p:nvPr/>
          </p:nvSpPr>
          <p:spPr>
            <a:xfrm rot="-5400000">
              <a:off x="0" y="3425006"/>
              <a:ext cx="683099" cy="683099"/>
            </a:xfrm>
            <a:prstGeom prst="rect">
              <a:avLst/>
            </a:prstGeom>
            <a:solidFill>
              <a:srgbClr val="BDA565"/>
            </a:solidFill>
          </p:spPr>
          <p:txBody>
            <a:bodyPr/>
            <a:lstStyle/>
            <a:p>
              <a:endParaRPr lang="en-ZA"/>
            </a:p>
          </p:txBody>
        </p:sp>
        <p:sp>
          <p:nvSpPr>
            <p:cNvPr id="14" name="AutoShape 14"/>
            <p:cNvSpPr/>
            <p:nvPr/>
          </p:nvSpPr>
          <p:spPr>
            <a:xfrm rot="-5400000">
              <a:off x="1366198" y="5474304"/>
              <a:ext cx="683099" cy="683099"/>
            </a:xfrm>
            <a:prstGeom prst="rect">
              <a:avLst/>
            </a:prstGeom>
            <a:solidFill>
              <a:srgbClr val="BDA565"/>
            </a:solidFill>
          </p:spPr>
          <p:txBody>
            <a:bodyPr/>
            <a:lstStyle/>
            <a:p>
              <a:endParaRPr lang="en-ZA"/>
            </a:p>
          </p:txBody>
        </p:sp>
        <p:sp>
          <p:nvSpPr>
            <p:cNvPr id="15" name="AutoShape 15"/>
            <p:cNvSpPr/>
            <p:nvPr/>
          </p:nvSpPr>
          <p:spPr>
            <a:xfrm rot="-5400000">
              <a:off x="1366198" y="6837624"/>
              <a:ext cx="683099" cy="683099"/>
            </a:xfrm>
            <a:prstGeom prst="rect">
              <a:avLst/>
            </a:prstGeom>
            <a:solidFill>
              <a:srgbClr val="DAA29E"/>
            </a:solidFill>
          </p:spPr>
          <p:txBody>
            <a:bodyPr/>
            <a:lstStyle/>
            <a:p>
              <a:endParaRPr lang="en-ZA"/>
            </a:p>
          </p:txBody>
        </p:sp>
        <p:sp>
          <p:nvSpPr>
            <p:cNvPr id="16" name="AutoShape 16"/>
            <p:cNvSpPr/>
            <p:nvPr/>
          </p:nvSpPr>
          <p:spPr>
            <a:xfrm rot="-5400000">
              <a:off x="0" y="6837624"/>
              <a:ext cx="683099" cy="683099"/>
            </a:xfrm>
            <a:prstGeom prst="rect">
              <a:avLst/>
            </a:prstGeom>
            <a:solidFill>
              <a:srgbClr val="BDA565"/>
            </a:solidFill>
          </p:spPr>
          <p:txBody>
            <a:bodyPr/>
            <a:lstStyle/>
            <a:p>
              <a:endParaRPr lang="en-ZA"/>
            </a:p>
          </p:txBody>
        </p:sp>
        <p:sp>
          <p:nvSpPr>
            <p:cNvPr id="17" name="AutoShape 17"/>
            <p:cNvSpPr/>
            <p:nvPr/>
          </p:nvSpPr>
          <p:spPr>
            <a:xfrm rot="-5400000">
              <a:off x="1366198" y="8886921"/>
              <a:ext cx="683099" cy="683099"/>
            </a:xfrm>
            <a:prstGeom prst="rect">
              <a:avLst/>
            </a:prstGeom>
            <a:solidFill>
              <a:srgbClr val="BDA565"/>
            </a:solidFill>
          </p:spPr>
          <p:txBody>
            <a:bodyPr/>
            <a:lstStyle/>
            <a:p>
              <a:endParaRPr lang="en-ZA"/>
            </a:p>
          </p:txBody>
        </p:sp>
        <p:sp>
          <p:nvSpPr>
            <p:cNvPr id="18" name="AutoShape 18"/>
            <p:cNvSpPr/>
            <p:nvPr/>
          </p:nvSpPr>
          <p:spPr>
            <a:xfrm rot="-5400000">
              <a:off x="683099" y="10936218"/>
              <a:ext cx="683099" cy="683099"/>
            </a:xfrm>
            <a:prstGeom prst="rect">
              <a:avLst/>
            </a:prstGeom>
            <a:solidFill>
              <a:srgbClr val="BDA565"/>
            </a:solidFill>
          </p:spPr>
          <p:txBody>
            <a:bodyPr/>
            <a:lstStyle/>
            <a:p>
              <a:endParaRPr lang="en-ZA"/>
            </a:p>
          </p:txBody>
        </p:sp>
        <p:sp>
          <p:nvSpPr>
            <p:cNvPr id="19" name="AutoShape 19"/>
            <p:cNvSpPr/>
            <p:nvPr/>
          </p:nvSpPr>
          <p:spPr>
            <a:xfrm rot="-5400000">
              <a:off x="683099" y="11619317"/>
              <a:ext cx="683099" cy="683099"/>
            </a:xfrm>
            <a:prstGeom prst="rect">
              <a:avLst/>
            </a:prstGeom>
            <a:solidFill>
              <a:srgbClr val="F7BDB9"/>
            </a:solidFill>
          </p:spPr>
          <p:txBody>
            <a:bodyPr/>
            <a:lstStyle/>
            <a:p>
              <a:endParaRPr lang="en-ZA"/>
            </a:p>
          </p:txBody>
        </p:sp>
        <p:sp>
          <p:nvSpPr>
            <p:cNvPr id="20" name="AutoShape 20"/>
            <p:cNvSpPr/>
            <p:nvPr/>
          </p:nvSpPr>
          <p:spPr>
            <a:xfrm rot="-5400000">
              <a:off x="0" y="9570020"/>
              <a:ext cx="683099" cy="683099"/>
            </a:xfrm>
            <a:prstGeom prst="rect">
              <a:avLst/>
            </a:prstGeom>
            <a:solidFill>
              <a:srgbClr val="F7BDB9"/>
            </a:solidFill>
          </p:spPr>
          <p:txBody>
            <a:bodyPr/>
            <a:lstStyle/>
            <a:p>
              <a:endParaRPr lang="en-ZA"/>
            </a:p>
          </p:txBody>
        </p:sp>
        <p:sp>
          <p:nvSpPr>
            <p:cNvPr id="21" name="AutoShape 21"/>
            <p:cNvSpPr/>
            <p:nvPr/>
          </p:nvSpPr>
          <p:spPr>
            <a:xfrm rot="-5400000">
              <a:off x="683099" y="8203822"/>
              <a:ext cx="683099" cy="683099"/>
            </a:xfrm>
            <a:prstGeom prst="rect">
              <a:avLst/>
            </a:prstGeom>
            <a:solidFill>
              <a:srgbClr val="F7BDB9"/>
            </a:solidFill>
          </p:spPr>
          <p:txBody>
            <a:bodyPr/>
            <a:lstStyle/>
            <a:p>
              <a:endParaRPr lang="en-ZA"/>
            </a:p>
          </p:txBody>
        </p:sp>
        <p:sp>
          <p:nvSpPr>
            <p:cNvPr id="22" name="AutoShape 22"/>
            <p:cNvSpPr/>
            <p:nvPr/>
          </p:nvSpPr>
          <p:spPr>
            <a:xfrm rot="-5400000">
              <a:off x="341550" y="4449655"/>
              <a:ext cx="1366198" cy="683099"/>
            </a:xfrm>
            <a:prstGeom prst="rect">
              <a:avLst/>
            </a:prstGeom>
            <a:solidFill>
              <a:srgbClr val="DAA29E"/>
            </a:solidFill>
          </p:spPr>
          <p:txBody>
            <a:bodyPr/>
            <a:lstStyle/>
            <a:p>
              <a:endParaRPr lang="en-ZA"/>
            </a:p>
          </p:txBody>
        </p:sp>
        <p:sp>
          <p:nvSpPr>
            <p:cNvPr id="23" name="AutoShape 23"/>
            <p:cNvSpPr/>
            <p:nvPr/>
          </p:nvSpPr>
          <p:spPr>
            <a:xfrm rot="-5400000">
              <a:off x="1024649" y="9911570"/>
              <a:ext cx="1366198" cy="683099"/>
            </a:xfrm>
            <a:prstGeom prst="rect">
              <a:avLst/>
            </a:prstGeom>
            <a:solidFill>
              <a:srgbClr val="DAA29E"/>
            </a:solidFill>
          </p:spPr>
          <p:txBody>
            <a:bodyPr/>
            <a:lstStyle/>
            <a:p>
              <a:endParaRPr lang="en-ZA"/>
            </a:p>
          </p:txBody>
        </p:sp>
      </p:grpSp>
      <p:grpSp>
        <p:nvGrpSpPr>
          <p:cNvPr id="24" name="Group 24"/>
          <p:cNvGrpSpPr/>
          <p:nvPr/>
        </p:nvGrpSpPr>
        <p:grpSpPr>
          <a:xfrm rot="-5400000">
            <a:off x="13071732" y="-3844920"/>
            <a:ext cx="1536973" cy="9226812"/>
            <a:chOff x="0" y="0"/>
            <a:chExt cx="2049297" cy="12302417"/>
          </a:xfrm>
        </p:grpSpPr>
        <p:sp>
          <p:nvSpPr>
            <p:cNvPr id="25" name="AutoShape 25"/>
            <p:cNvSpPr/>
            <p:nvPr/>
          </p:nvSpPr>
          <p:spPr>
            <a:xfrm rot="-5400000">
              <a:off x="0" y="0"/>
              <a:ext cx="683099" cy="683099"/>
            </a:xfrm>
            <a:prstGeom prst="rect">
              <a:avLst/>
            </a:prstGeom>
            <a:solidFill>
              <a:srgbClr val="BDA565"/>
            </a:solidFill>
          </p:spPr>
          <p:txBody>
            <a:bodyPr/>
            <a:lstStyle/>
            <a:p>
              <a:endParaRPr lang="en-ZA"/>
            </a:p>
          </p:txBody>
        </p:sp>
        <p:sp>
          <p:nvSpPr>
            <p:cNvPr id="26" name="AutoShape 26"/>
            <p:cNvSpPr/>
            <p:nvPr/>
          </p:nvSpPr>
          <p:spPr>
            <a:xfrm rot="-5400000">
              <a:off x="1024649" y="3766556"/>
              <a:ext cx="1366198" cy="683099"/>
            </a:xfrm>
            <a:prstGeom prst="rect">
              <a:avLst/>
            </a:prstGeom>
            <a:solidFill>
              <a:srgbClr val="FCDFDD"/>
            </a:solidFill>
          </p:spPr>
          <p:txBody>
            <a:bodyPr/>
            <a:lstStyle/>
            <a:p>
              <a:endParaRPr lang="en-ZA"/>
            </a:p>
          </p:txBody>
        </p:sp>
        <p:sp>
          <p:nvSpPr>
            <p:cNvPr id="27" name="AutoShape 27"/>
            <p:cNvSpPr/>
            <p:nvPr/>
          </p:nvSpPr>
          <p:spPr>
            <a:xfrm rot="-5400000">
              <a:off x="1024649" y="1707748"/>
              <a:ext cx="1366198" cy="683099"/>
            </a:xfrm>
            <a:prstGeom prst="rect">
              <a:avLst/>
            </a:prstGeom>
            <a:solidFill>
              <a:srgbClr val="DAA29E"/>
            </a:solidFill>
          </p:spPr>
          <p:txBody>
            <a:bodyPr/>
            <a:lstStyle/>
            <a:p>
              <a:endParaRPr lang="en-ZA"/>
            </a:p>
          </p:txBody>
        </p:sp>
        <p:sp>
          <p:nvSpPr>
            <p:cNvPr id="28" name="AutoShape 28"/>
            <p:cNvSpPr/>
            <p:nvPr/>
          </p:nvSpPr>
          <p:spPr>
            <a:xfrm rot="-5400000">
              <a:off x="0" y="2049297"/>
              <a:ext cx="683099" cy="683099"/>
            </a:xfrm>
            <a:prstGeom prst="rect">
              <a:avLst/>
            </a:prstGeom>
            <a:solidFill>
              <a:srgbClr val="FCDFDD"/>
            </a:solidFill>
          </p:spPr>
          <p:txBody>
            <a:bodyPr/>
            <a:lstStyle/>
            <a:p>
              <a:endParaRPr lang="en-ZA"/>
            </a:p>
          </p:txBody>
        </p:sp>
        <p:sp>
          <p:nvSpPr>
            <p:cNvPr id="29" name="AutoShape 29"/>
            <p:cNvSpPr/>
            <p:nvPr/>
          </p:nvSpPr>
          <p:spPr>
            <a:xfrm rot="-5400000">
              <a:off x="683099" y="1366198"/>
              <a:ext cx="683099" cy="683099"/>
            </a:xfrm>
            <a:prstGeom prst="rect">
              <a:avLst/>
            </a:prstGeom>
            <a:solidFill>
              <a:srgbClr val="FCDFDD"/>
            </a:solidFill>
          </p:spPr>
          <p:txBody>
            <a:bodyPr/>
            <a:lstStyle/>
            <a:p>
              <a:endParaRPr lang="en-ZA"/>
            </a:p>
          </p:txBody>
        </p:sp>
        <p:sp>
          <p:nvSpPr>
            <p:cNvPr id="30" name="AutoShape 30"/>
            <p:cNvSpPr/>
            <p:nvPr/>
          </p:nvSpPr>
          <p:spPr>
            <a:xfrm rot="-5400000">
              <a:off x="1366198" y="683099"/>
              <a:ext cx="683099" cy="683099"/>
            </a:xfrm>
            <a:prstGeom prst="rect">
              <a:avLst/>
            </a:prstGeom>
            <a:solidFill>
              <a:srgbClr val="BDA565"/>
            </a:solidFill>
          </p:spPr>
          <p:txBody>
            <a:bodyPr/>
            <a:lstStyle/>
            <a:p>
              <a:endParaRPr lang="en-ZA"/>
            </a:p>
          </p:txBody>
        </p:sp>
        <p:sp>
          <p:nvSpPr>
            <p:cNvPr id="31" name="AutoShape 31"/>
            <p:cNvSpPr/>
            <p:nvPr/>
          </p:nvSpPr>
          <p:spPr>
            <a:xfrm rot="-5400000">
              <a:off x="683099" y="7520723"/>
              <a:ext cx="683099" cy="683099"/>
            </a:xfrm>
            <a:prstGeom prst="rect">
              <a:avLst/>
            </a:prstGeom>
            <a:solidFill>
              <a:srgbClr val="BDA565"/>
            </a:solidFill>
          </p:spPr>
          <p:txBody>
            <a:bodyPr/>
            <a:lstStyle/>
            <a:p>
              <a:endParaRPr lang="en-ZA"/>
            </a:p>
          </p:txBody>
        </p:sp>
        <p:sp>
          <p:nvSpPr>
            <p:cNvPr id="32" name="AutoShape 32"/>
            <p:cNvSpPr/>
            <p:nvPr/>
          </p:nvSpPr>
          <p:spPr>
            <a:xfrm rot="-5400000">
              <a:off x="0" y="3425006"/>
              <a:ext cx="683099" cy="683099"/>
            </a:xfrm>
            <a:prstGeom prst="rect">
              <a:avLst/>
            </a:prstGeom>
            <a:solidFill>
              <a:srgbClr val="BDA565"/>
            </a:solidFill>
          </p:spPr>
          <p:txBody>
            <a:bodyPr/>
            <a:lstStyle/>
            <a:p>
              <a:endParaRPr lang="en-ZA"/>
            </a:p>
          </p:txBody>
        </p:sp>
        <p:sp>
          <p:nvSpPr>
            <p:cNvPr id="33" name="AutoShape 33"/>
            <p:cNvSpPr/>
            <p:nvPr/>
          </p:nvSpPr>
          <p:spPr>
            <a:xfrm rot="-5400000">
              <a:off x="1366198" y="5474304"/>
              <a:ext cx="683099" cy="683099"/>
            </a:xfrm>
            <a:prstGeom prst="rect">
              <a:avLst/>
            </a:prstGeom>
            <a:solidFill>
              <a:srgbClr val="BDA565"/>
            </a:solidFill>
          </p:spPr>
          <p:txBody>
            <a:bodyPr/>
            <a:lstStyle/>
            <a:p>
              <a:endParaRPr lang="en-ZA"/>
            </a:p>
          </p:txBody>
        </p:sp>
        <p:sp>
          <p:nvSpPr>
            <p:cNvPr id="34" name="AutoShape 34"/>
            <p:cNvSpPr/>
            <p:nvPr/>
          </p:nvSpPr>
          <p:spPr>
            <a:xfrm rot="-5400000">
              <a:off x="1366198" y="6837624"/>
              <a:ext cx="683099" cy="683099"/>
            </a:xfrm>
            <a:prstGeom prst="rect">
              <a:avLst/>
            </a:prstGeom>
            <a:solidFill>
              <a:srgbClr val="DAA29E"/>
            </a:solidFill>
          </p:spPr>
          <p:txBody>
            <a:bodyPr/>
            <a:lstStyle/>
            <a:p>
              <a:endParaRPr lang="en-ZA"/>
            </a:p>
          </p:txBody>
        </p:sp>
        <p:sp>
          <p:nvSpPr>
            <p:cNvPr id="35" name="AutoShape 35"/>
            <p:cNvSpPr/>
            <p:nvPr/>
          </p:nvSpPr>
          <p:spPr>
            <a:xfrm rot="-5400000">
              <a:off x="0" y="6837624"/>
              <a:ext cx="683099" cy="683099"/>
            </a:xfrm>
            <a:prstGeom prst="rect">
              <a:avLst/>
            </a:prstGeom>
            <a:solidFill>
              <a:srgbClr val="BDA565"/>
            </a:solidFill>
          </p:spPr>
          <p:txBody>
            <a:bodyPr/>
            <a:lstStyle/>
            <a:p>
              <a:endParaRPr lang="en-ZA"/>
            </a:p>
          </p:txBody>
        </p:sp>
        <p:sp>
          <p:nvSpPr>
            <p:cNvPr id="36" name="AutoShape 36"/>
            <p:cNvSpPr/>
            <p:nvPr/>
          </p:nvSpPr>
          <p:spPr>
            <a:xfrm rot="-5400000">
              <a:off x="1366198" y="8886921"/>
              <a:ext cx="683099" cy="683099"/>
            </a:xfrm>
            <a:prstGeom prst="rect">
              <a:avLst/>
            </a:prstGeom>
            <a:solidFill>
              <a:srgbClr val="BDA565"/>
            </a:solidFill>
          </p:spPr>
          <p:txBody>
            <a:bodyPr/>
            <a:lstStyle/>
            <a:p>
              <a:endParaRPr lang="en-ZA"/>
            </a:p>
          </p:txBody>
        </p:sp>
        <p:sp>
          <p:nvSpPr>
            <p:cNvPr id="37" name="AutoShape 37"/>
            <p:cNvSpPr/>
            <p:nvPr/>
          </p:nvSpPr>
          <p:spPr>
            <a:xfrm rot="-5400000">
              <a:off x="683099" y="10936218"/>
              <a:ext cx="683099" cy="683099"/>
            </a:xfrm>
            <a:prstGeom prst="rect">
              <a:avLst/>
            </a:prstGeom>
            <a:solidFill>
              <a:srgbClr val="BDA565"/>
            </a:solidFill>
          </p:spPr>
          <p:txBody>
            <a:bodyPr/>
            <a:lstStyle/>
            <a:p>
              <a:endParaRPr lang="en-ZA"/>
            </a:p>
          </p:txBody>
        </p:sp>
        <p:sp>
          <p:nvSpPr>
            <p:cNvPr id="38" name="AutoShape 38"/>
            <p:cNvSpPr/>
            <p:nvPr/>
          </p:nvSpPr>
          <p:spPr>
            <a:xfrm rot="-5400000">
              <a:off x="683099" y="11619317"/>
              <a:ext cx="683099" cy="683099"/>
            </a:xfrm>
            <a:prstGeom prst="rect">
              <a:avLst/>
            </a:prstGeom>
            <a:solidFill>
              <a:srgbClr val="FCDFDD"/>
            </a:solidFill>
          </p:spPr>
          <p:txBody>
            <a:bodyPr/>
            <a:lstStyle/>
            <a:p>
              <a:endParaRPr lang="en-ZA"/>
            </a:p>
          </p:txBody>
        </p:sp>
        <p:sp>
          <p:nvSpPr>
            <p:cNvPr id="39" name="AutoShape 39"/>
            <p:cNvSpPr/>
            <p:nvPr/>
          </p:nvSpPr>
          <p:spPr>
            <a:xfrm rot="-5400000">
              <a:off x="0" y="9570020"/>
              <a:ext cx="683099" cy="683099"/>
            </a:xfrm>
            <a:prstGeom prst="rect">
              <a:avLst/>
            </a:prstGeom>
            <a:solidFill>
              <a:srgbClr val="FCDFDD"/>
            </a:solidFill>
          </p:spPr>
          <p:txBody>
            <a:bodyPr/>
            <a:lstStyle/>
            <a:p>
              <a:endParaRPr lang="en-ZA"/>
            </a:p>
          </p:txBody>
        </p:sp>
        <p:sp>
          <p:nvSpPr>
            <p:cNvPr id="40" name="AutoShape 40"/>
            <p:cNvSpPr/>
            <p:nvPr/>
          </p:nvSpPr>
          <p:spPr>
            <a:xfrm rot="-5400000">
              <a:off x="683099" y="8203822"/>
              <a:ext cx="683099" cy="683099"/>
            </a:xfrm>
            <a:prstGeom prst="rect">
              <a:avLst/>
            </a:prstGeom>
            <a:solidFill>
              <a:srgbClr val="FCDFDD"/>
            </a:solidFill>
          </p:spPr>
          <p:txBody>
            <a:bodyPr/>
            <a:lstStyle/>
            <a:p>
              <a:endParaRPr lang="en-ZA"/>
            </a:p>
          </p:txBody>
        </p:sp>
        <p:sp>
          <p:nvSpPr>
            <p:cNvPr id="41" name="AutoShape 41"/>
            <p:cNvSpPr/>
            <p:nvPr/>
          </p:nvSpPr>
          <p:spPr>
            <a:xfrm rot="-5400000">
              <a:off x="341550" y="4449655"/>
              <a:ext cx="1366198" cy="683099"/>
            </a:xfrm>
            <a:prstGeom prst="rect">
              <a:avLst/>
            </a:prstGeom>
            <a:solidFill>
              <a:srgbClr val="DAA29E"/>
            </a:solidFill>
          </p:spPr>
          <p:txBody>
            <a:bodyPr/>
            <a:lstStyle/>
            <a:p>
              <a:endParaRPr lang="en-ZA"/>
            </a:p>
          </p:txBody>
        </p:sp>
        <p:sp>
          <p:nvSpPr>
            <p:cNvPr id="42" name="AutoShape 42"/>
            <p:cNvSpPr/>
            <p:nvPr/>
          </p:nvSpPr>
          <p:spPr>
            <a:xfrm rot="-5400000">
              <a:off x="1024649" y="9911570"/>
              <a:ext cx="1366198" cy="683099"/>
            </a:xfrm>
            <a:prstGeom prst="rect">
              <a:avLst/>
            </a:prstGeom>
            <a:solidFill>
              <a:srgbClr val="DAA29E"/>
            </a:solidFill>
          </p:spPr>
          <p:txBody>
            <a:bodyPr/>
            <a:lstStyle/>
            <a:p>
              <a:endParaRPr lang="en-ZA"/>
            </a:p>
          </p:txBody>
        </p:sp>
      </p:grpSp>
      <p:sp>
        <p:nvSpPr>
          <p:cNvPr id="43" name="Freeform 43"/>
          <p:cNvSpPr/>
          <p:nvPr/>
        </p:nvSpPr>
        <p:spPr>
          <a:xfrm>
            <a:off x="10917" y="9258300"/>
            <a:ext cx="1017783" cy="1017783"/>
          </a:xfrm>
          <a:custGeom>
            <a:avLst/>
            <a:gdLst/>
            <a:ahLst/>
            <a:cxnLst/>
            <a:rect l="l" t="t" r="r" b="b"/>
            <a:pathLst>
              <a:path w="1017783" h="1017783">
                <a:moveTo>
                  <a:pt x="0" y="0"/>
                </a:moveTo>
                <a:lnTo>
                  <a:pt x="1017783" y="0"/>
                </a:lnTo>
                <a:lnTo>
                  <a:pt x="1017783" y="1017783"/>
                </a:lnTo>
                <a:lnTo>
                  <a:pt x="0" y="101778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ZA"/>
          </a:p>
        </p:txBody>
      </p:sp>
      <p:sp>
        <p:nvSpPr>
          <p:cNvPr id="44" name="Freeform 44"/>
          <p:cNvSpPr/>
          <p:nvPr/>
        </p:nvSpPr>
        <p:spPr>
          <a:xfrm>
            <a:off x="7103901" y="9258300"/>
            <a:ext cx="1017783" cy="1017783"/>
          </a:xfrm>
          <a:custGeom>
            <a:avLst/>
            <a:gdLst/>
            <a:ahLst/>
            <a:cxnLst/>
            <a:rect l="l" t="t" r="r" b="b"/>
            <a:pathLst>
              <a:path w="1017783" h="1017783">
                <a:moveTo>
                  <a:pt x="0" y="0"/>
                </a:moveTo>
                <a:lnTo>
                  <a:pt x="1017783" y="0"/>
                </a:lnTo>
                <a:lnTo>
                  <a:pt x="1017783" y="1017783"/>
                </a:lnTo>
                <a:lnTo>
                  <a:pt x="0" y="10177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ZA"/>
          </a:p>
        </p:txBody>
      </p:sp>
      <p:grpSp>
        <p:nvGrpSpPr>
          <p:cNvPr id="45" name="Group 45"/>
          <p:cNvGrpSpPr/>
          <p:nvPr/>
        </p:nvGrpSpPr>
        <p:grpSpPr>
          <a:xfrm>
            <a:off x="9144000" y="1905456"/>
            <a:ext cx="8115300" cy="7428319"/>
            <a:chOff x="0" y="0"/>
            <a:chExt cx="10820400" cy="9904426"/>
          </a:xfrm>
        </p:grpSpPr>
        <p:sp>
          <p:nvSpPr>
            <p:cNvPr id="46" name="TextBox 46"/>
            <p:cNvSpPr txBox="1"/>
            <p:nvPr/>
          </p:nvSpPr>
          <p:spPr>
            <a:xfrm>
              <a:off x="0" y="0"/>
              <a:ext cx="10820400" cy="4191000"/>
            </a:xfrm>
            <a:prstGeom prst="rect">
              <a:avLst/>
            </a:prstGeom>
          </p:spPr>
          <p:txBody>
            <a:bodyPr lIns="0" tIns="0" rIns="0" bIns="0" rtlCol="0" anchor="t">
              <a:spAutoFit/>
            </a:bodyPr>
            <a:lstStyle/>
            <a:p>
              <a:pPr marL="0" lvl="0" indent="0" algn="l">
                <a:lnSpc>
                  <a:spcPts val="8294"/>
                </a:lnSpc>
              </a:pPr>
              <a:r>
                <a:rPr lang="en-US" sz="6912" b="1" u="none" spc="138">
                  <a:solidFill>
                    <a:srgbClr val="201702"/>
                  </a:solidFill>
                  <a:latin typeface="Roboto Mono Bold"/>
                  <a:ea typeface="Roboto Mono Bold"/>
                  <a:cs typeface="Roboto Mono Bold"/>
                  <a:sym typeface="Roboto Mono Bold"/>
                </a:rPr>
                <a:t>Enforcement of Temporal Access Denial</a:t>
              </a:r>
            </a:p>
          </p:txBody>
        </p:sp>
        <p:sp>
          <p:nvSpPr>
            <p:cNvPr id="47" name="TextBox 47"/>
            <p:cNvSpPr txBox="1"/>
            <p:nvPr/>
          </p:nvSpPr>
          <p:spPr>
            <a:xfrm>
              <a:off x="0" y="4765397"/>
              <a:ext cx="10820400" cy="1387475"/>
            </a:xfrm>
            <a:prstGeom prst="rect">
              <a:avLst/>
            </a:prstGeom>
          </p:spPr>
          <p:txBody>
            <a:bodyPr lIns="0" tIns="0" rIns="0" bIns="0" rtlCol="0" anchor="t">
              <a:spAutoFit/>
            </a:bodyPr>
            <a:lstStyle/>
            <a:p>
              <a:pPr marL="0" lvl="0" indent="0" algn="l">
                <a:lnSpc>
                  <a:spcPts val="4200"/>
                </a:lnSpc>
              </a:pPr>
              <a:r>
                <a:rPr lang="en-US" sz="3000" b="1" u="none">
                  <a:solidFill>
                    <a:srgbClr val="201702"/>
                  </a:solidFill>
                  <a:latin typeface="Lekton Bold"/>
                  <a:ea typeface="Lekton Bold"/>
                  <a:cs typeface="Lekton Bold"/>
                  <a:sym typeface="Lekton Bold"/>
                </a:rPr>
                <a:t>Understanding Server-Level Controls and Their Role in Campus Safety</a:t>
              </a:r>
            </a:p>
          </p:txBody>
        </p:sp>
        <p:sp>
          <p:nvSpPr>
            <p:cNvPr id="48" name="TextBox 48"/>
            <p:cNvSpPr txBox="1"/>
            <p:nvPr/>
          </p:nvSpPr>
          <p:spPr>
            <a:xfrm>
              <a:off x="0" y="7031432"/>
              <a:ext cx="10820400" cy="2872994"/>
            </a:xfrm>
            <a:prstGeom prst="rect">
              <a:avLst/>
            </a:prstGeom>
          </p:spPr>
          <p:txBody>
            <a:bodyPr lIns="0" tIns="0" rIns="0" bIns="0" rtlCol="0" anchor="t">
              <a:spAutoFit/>
            </a:bodyPr>
            <a:lstStyle/>
            <a:p>
              <a:pPr marL="0" lvl="0" indent="0" algn="l">
                <a:lnSpc>
                  <a:spcPts val="2903"/>
                </a:lnSpc>
                <a:spcBef>
                  <a:spcPct val="0"/>
                </a:spcBef>
              </a:pPr>
              <a:r>
                <a:rPr lang="en-US" sz="2073" u="none">
                  <a:solidFill>
                    <a:srgbClr val="201702"/>
                  </a:solidFill>
                  <a:latin typeface="Lekton"/>
                  <a:ea typeface="Lekton"/>
                  <a:cs typeface="Lekton"/>
                  <a:sym typeface="Lekton"/>
                </a:rPr>
                <a:t>Implementing </a:t>
              </a:r>
              <a:r>
                <a:rPr lang="en-US" sz="2073" b="1" u="none">
                  <a:solidFill>
                    <a:srgbClr val="201702"/>
                  </a:solidFill>
                  <a:latin typeface="Lekton Bold"/>
                  <a:ea typeface="Lekton Bold"/>
                  <a:cs typeface="Lekton Bold"/>
                  <a:sym typeface="Lekton Bold"/>
                </a:rPr>
                <a:t>server-level controls</a:t>
              </a:r>
              <a:r>
                <a:rPr lang="en-US" sz="2073" u="none">
                  <a:solidFill>
                    <a:srgbClr val="201702"/>
                  </a:solidFill>
                  <a:latin typeface="Lekton"/>
                  <a:ea typeface="Lekton"/>
                  <a:cs typeface="Lekton"/>
                  <a:sym typeface="Lekton"/>
                </a:rPr>
                <a:t> and session limits allows for effective </a:t>
              </a:r>
              <a:r>
                <a:rPr lang="en-US" sz="2073" b="1" u="none">
                  <a:solidFill>
                    <a:srgbClr val="201702"/>
                  </a:solidFill>
                  <a:latin typeface="Lekton Bold"/>
                  <a:ea typeface="Lekton Bold"/>
                  <a:cs typeface="Lekton Bold"/>
                  <a:sym typeface="Lekton Bold"/>
                </a:rPr>
                <a:t>temporal access denial</a:t>
              </a:r>
              <a:r>
                <a:rPr lang="en-US" sz="2073" u="none">
                  <a:solidFill>
                    <a:srgbClr val="201702"/>
                  </a:solidFill>
                  <a:latin typeface="Lekton"/>
                  <a:ea typeface="Lekton"/>
                  <a:cs typeface="Lekton"/>
                  <a:sym typeface="Lekton"/>
                </a:rPr>
                <a:t>, ensuring that users are notified about their access levels. This approach not only enhances security but also promotes a balanced and </a:t>
              </a:r>
              <a:r>
                <a:rPr lang="en-US" sz="2073" b="1" u="none">
                  <a:solidFill>
                    <a:srgbClr val="201702"/>
                  </a:solidFill>
                  <a:latin typeface="Lekton Bold"/>
                  <a:ea typeface="Lekton Bold"/>
                  <a:cs typeface="Lekton Bold"/>
                  <a:sym typeface="Lekton Bold"/>
                </a:rPr>
                <a:t>healthy interaction</a:t>
              </a:r>
              <a:r>
                <a:rPr lang="en-US" sz="2073" u="none">
                  <a:solidFill>
                    <a:srgbClr val="201702"/>
                  </a:solidFill>
                  <a:latin typeface="Lekton"/>
                  <a:ea typeface="Lekton"/>
                  <a:cs typeface="Lekton"/>
                  <a:sym typeface="Lekton"/>
                </a:rPr>
                <a:t> with campus safety resources, reducing the likelihood of having fake reports.</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E8884"/>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774411" cy="1275665"/>
            <a:chOff x="0" y="0"/>
            <a:chExt cx="17032548" cy="1700887"/>
          </a:xfrm>
        </p:grpSpPr>
        <p:sp>
          <p:nvSpPr>
            <p:cNvPr id="3" name="AutoShape 3"/>
            <p:cNvSpPr/>
            <p:nvPr/>
          </p:nvSpPr>
          <p:spPr>
            <a:xfrm>
              <a:off x="6244478" y="1133924"/>
              <a:ext cx="1133924" cy="566962"/>
            </a:xfrm>
            <a:prstGeom prst="rect">
              <a:avLst/>
            </a:prstGeom>
            <a:solidFill>
              <a:srgbClr val="FCDFDD"/>
            </a:solidFill>
          </p:spPr>
          <p:txBody>
            <a:bodyPr/>
            <a:lstStyle/>
            <a:p>
              <a:endParaRPr lang="en-ZA"/>
            </a:p>
          </p:txBody>
        </p:sp>
        <p:sp>
          <p:nvSpPr>
            <p:cNvPr id="4" name="AutoShape 4"/>
            <p:cNvSpPr/>
            <p:nvPr/>
          </p:nvSpPr>
          <p:spPr>
            <a:xfrm>
              <a:off x="8516274" y="1133924"/>
              <a:ext cx="1141818" cy="566962"/>
            </a:xfrm>
            <a:prstGeom prst="rect">
              <a:avLst/>
            </a:prstGeom>
            <a:solidFill>
              <a:srgbClr val="BDA565"/>
            </a:solidFill>
          </p:spPr>
          <p:txBody>
            <a:bodyPr/>
            <a:lstStyle/>
            <a:p>
              <a:endParaRPr lang="en-ZA"/>
            </a:p>
          </p:txBody>
        </p:sp>
        <p:sp>
          <p:nvSpPr>
            <p:cNvPr id="5" name="AutoShape 5"/>
            <p:cNvSpPr/>
            <p:nvPr/>
          </p:nvSpPr>
          <p:spPr>
            <a:xfrm>
              <a:off x="7949312" y="0"/>
              <a:ext cx="566962" cy="566962"/>
            </a:xfrm>
            <a:prstGeom prst="rect">
              <a:avLst/>
            </a:prstGeom>
            <a:solidFill>
              <a:srgbClr val="FCDFDD"/>
            </a:solidFill>
          </p:spPr>
          <p:txBody>
            <a:bodyPr/>
            <a:lstStyle/>
            <a:p>
              <a:endParaRPr lang="en-ZA"/>
            </a:p>
          </p:txBody>
        </p:sp>
        <p:sp>
          <p:nvSpPr>
            <p:cNvPr id="6" name="AutoShape 6"/>
            <p:cNvSpPr/>
            <p:nvPr/>
          </p:nvSpPr>
          <p:spPr>
            <a:xfrm>
              <a:off x="9654145" y="0"/>
              <a:ext cx="566962" cy="566962"/>
            </a:xfrm>
            <a:prstGeom prst="rect">
              <a:avLst/>
            </a:prstGeom>
            <a:solidFill>
              <a:srgbClr val="BDA565"/>
            </a:solidFill>
          </p:spPr>
          <p:txBody>
            <a:bodyPr/>
            <a:lstStyle/>
            <a:p>
              <a:endParaRPr lang="en-ZA"/>
            </a:p>
          </p:txBody>
        </p:sp>
        <p:sp>
          <p:nvSpPr>
            <p:cNvPr id="7" name="AutoShape 7"/>
            <p:cNvSpPr/>
            <p:nvPr/>
          </p:nvSpPr>
          <p:spPr>
            <a:xfrm>
              <a:off x="8512327" y="566962"/>
              <a:ext cx="566962" cy="566962"/>
            </a:xfrm>
            <a:prstGeom prst="rect">
              <a:avLst/>
            </a:prstGeom>
            <a:solidFill>
              <a:srgbClr val="FCDFDD"/>
            </a:solidFill>
          </p:spPr>
          <p:txBody>
            <a:bodyPr/>
            <a:lstStyle/>
            <a:p>
              <a:endParaRPr lang="en-ZA"/>
            </a:p>
          </p:txBody>
        </p:sp>
        <p:sp>
          <p:nvSpPr>
            <p:cNvPr id="8" name="AutoShape 8"/>
            <p:cNvSpPr/>
            <p:nvPr/>
          </p:nvSpPr>
          <p:spPr>
            <a:xfrm>
              <a:off x="7949312" y="1133924"/>
              <a:ext cx="566962" cy="566962"/>
            </a:xfrm>
            <a:prstGeom prst="rect">
              <a:avLst/>
            </a:prstGeom>
            <a:solidFill>
              <a:srgbClr val="FCDFDD"/>
            </a:solidFill>
          </p:spPr>
          <p:txBody>
            <a:bodyPr/>
            <a:lstStyle/>
            <a:p>
              <a:endParaRPr lang="en-ZA"/>
            </a:p>
          </p:txBody>
        </p:sp>
        <p:sp>
          <p:nvSpPr>
            <p:cNvPr id="9" name="AutoShape 9"/>
            <p:cNvSpPr/>
            <p:nvPr/>
          </p:nvSpPr>
          <p:spPr>
            <a:xfrm>
              <a:off x="6811440" y="0"/>
              <a:ext cx="566962" cy="566962"/>
            </a:xfrm>
            <a:prstGeom prst="rect">
              <a:avLst/>
            </a:prstGeom>
            <a:solidFill>
              <a:srgbClr val="FCDFDD"/>
            </a:solidFill>
          </p:spPr>
          <p:txBody>
            <a:bodyPr/>
            <a:lstStyle/>
            <a:p>
              <a:endParaRPr lang="en-ZA"/>
            </a:p>
          </p:txBody>
        </p:sp>
        <p:sp>
          <p:nvSpPr>
            <p:cNvPr id="10" name="AutoShape 10"/>
            <p:cNvSpPr/>
            <p:nvPr/>
          </p:nvSpPr>
          <p:spPr>
            <a:xfrm>
              <a:off x="10788070" y="566962"/>
              <a:ext cx="566962" cy="566962"/>
            </a:xfrm>
            <a:prstGeom prst="rect">
              <a:avLst/>
            </a:prstGeom>
            <a:solidFill>
              <a:srgbClr val="BDA565"/>
            </a:solidFill>
          </p:spPr>
          <p:txBody>
            <a:bodyPr/>
            <a:lstStyle/>
            <a:p>
              <a:endParaRPr lang="en-ZA"/>
            </a:p>
          </p:txBody>
        </p:sp>
        <p:sp>
          <p:nvSpPr>
            <p:cNvPr id="11" name="AutoShape 11"/>
            <p:cNvSpPr/>
            <p:nvPr/>
          </p:nvSpPr>
          <p:spPr>
            <a:xfrm>
              <a:off x="10221107" y="566962"/>
              <a:ext cx="566962" cy="566962"/>
            </a:xfrm>
            <a:prstGeom prst="rect">
              <a:avLst/>
            </a:prstGeom>
            <a:solidFill>
              <a:srgbClr val="FCDFDD"/>
            </a:solidFill>
          </p:spPr>
          <p:txBody>
            <a:bodyPr/>
            <a:lstStyle/>
            <a:p>
              <a:endParaRPr lang="en-ZA"/>
            </a:p>
          </p:txBody>
        </p:sp>
        <p:sp>
          <p:nvSpPr>
            <p:cNvPr id="12" name="AutoShape 12"/>
            <p:cNvSpPr/>
            <p:nvPr/>
          </p:nvSpPr>
          <p:spPr>
            <a:xfrm>
              <a:off x="5677516" y="566962"/>
              <a:ext cx="1133924" cy="566962"/>
            </a:xfrm>
            <a:prstGeom prst="rect">
              <a:avLst/>
            </a:prstGeom>
            <a:solidFill>
              <a:srgbClr val="FCDFDD"/>
            </a:solidFill>
          </p:spPr>
          <p:txBody>
            <a:bodyPr/>
            <a:lstStyle/>
            <a:p>
              <a:endParaRPr lang="en-ZA"/>
            </a:p>
          </p:txBody>
        </p:sp>
        <p:sp>
          <p:nvSpPr>
            <p:cNvPr id="13" name="AutoShape 13"/>
            <p:cNvSpPr/>
            <p:nvPr/>
          </p:nvSpPr>
          <p:spPr>
            <a:xfrm>
              <a:off x="566962" y="1133924"/>
              <a:ext cx="1133924" cy="566962"/>
            </a:xfrm>
            <a:prstGeom prst="rect">
              <a:avLst/>
            </a:prstGeom>
            <a:solidFill>
              <a:srgbClr val="FCDFDD"/>
            </a:solidFill>
          </p:spPr>
          <p:txBody>
            <a:bodyPr/>
            <a:lstStyle/>
            <a:p>
              <a:endParaRPr lang="en-ZA"/>
            </a:p>
          </p:txBody>
        </p:sp>
        <p:sp>
          <p:nvSpPr>
            <p:cNvPr id="14" name="AutoShape 14"/>
            <p:cNvSpPr/>
            <p:nvPr/>
          </p:nvSpPr>
          <p:spPr>
            <a:xfrm>
              <a:off x="2838758" y="1133924"/>
              <a:ext cx="1141818" cy="566962"/>
            </a:xfrm>
            <a:prstGeom prst="rect">
              <a:avLst/>
            </a:prstGeom>
            <a:solidFill>
              <a:srgbClr val="BDA565"/>
            </a:solidFill>
          </p:spPr>
          <p:txBody>
            <a:bodyPr/>
            <a:lstStyle/>
            <a:p>
              <a:endParaRPr lang="en-ZA"/>
            </a:p>
          </p:txBody>
        </p:sp>
        <p:sp>
          <p:nvSpPr>
            <p:cNvPr id="15" name="AutoShape 15"/>
            <p:cNvSpPr/>
            <p:nvPr/>
          </p:nvSpPr>
          <p:spPr>
            <a:xfrm>
              <a:off x="2271796" y="0"/>
              <a:ext cx="566962" cy="566962"/>
            </a:xfrm>
            <a:prstGeom prst="rect">
              <a:avLst/>
            </a:prstGeom>
            <a:solidFill>
              <a:srgbClr val="FCDFDD"/>
            </a:solidFill>
          </p:spPr>
          <p:txBody>
            <a:bodyPr/>
            <a:lstStyle/>
            <a:p>
              <a:endParaRPr lang="en-ZA"/>
            </a:p>
          </p:txBody>
        </p:sp>
        <p:sp>
          <p:nvSpPr>
            <p:cNvPr id="16" name="AutoShape 16"/>
            <p:cNvSpPr/>
            <p:nvPr/>
          </p:nvSpPr>
          <p:spPr>
            <a:xfrm>
              <a:off x="3976629" y="0"/>
              <a:ext cx="566962" cy="566962"/>
            </a:xfrm>
            <a:prstGeom prst="rect">
              <a:avLst/>
            </a:prstGeom>
            <a:solidFill>
              <a:srgbClr val="BDA565"/>
            </a:solidFill>
          </p:spPr>
          <p:txBody>
            <a:bodyPr/>
            <a:lstStyle/>
            <a:p>
              <a:endParaRPr lang="en-ZA"/>
            </a:p>
          </p:txBody>
        </p:sp>
        <p:sp>
          <p:nvSpPr>
            <p:cNvPr id="17" name="AutoShape 17"/>
            <p:cNvSpPr/>
            <p:nvPr/>
          </p:nvSpPr>
          <p:spPr>
            <a:xfrm>
              <a:off x="2834811" y="566962"/>
              <a:ext cx="566962" cy="566962"/>
            </a:xfrm>
            <a:prstGeom prst="rect">
              <a:avLst/>
            </a:prstGeom>
            <a:solidFill>
              <a:srgbClr val="FCDFDD"/>
            </a:solidFill>
          </p:spPr>
          <p:txBody>
            <a:bodyPr/>
            <a:lstStyle/>
            <a:p>
              <a:endParaRPr lang="en-ZA"/>
            </a:p>
          </p:txBody>
        </p:sp>
        <p:sp>
          <p:nvSpPr>
            <p:cNvPr id="18" name="AutoShape 18"/>
            <p:cNvSpPr/>
            <p:nvPr/>
          </p:nvSpPr>
          <p:spPr>
            <a:xfrm>
              <a:off x="2271796" y="1133924"/>
              <a:ext cx="566962" cy="566962"/>
            </a:xfrm>
            <a:prstGeom prst="rect">
              <a:avLst/>
            </a:prstGeom>
            <a:solidFill>
              <a:srgbClr val="FCDFDD"/>
            </a:solidFill>
          </p:spPr>
          <p:txBody>
            <a:bodyPr/>
            <a:lstStyle/>
            <a:p>
              <a:endParaRPr lang="en-ZA"/>
            </a:p>
          </p:txBody>
        </p:sp>
        <p:sp>
          <p:nvSpPr>
            <p:cNvPr id="19" name="AutoShape 19"/>
            <p:cNvSpPr/>
            <p:nvPr/>
          </p:nvSpPr>
          <p:spPr>
            <a:xfrm>
              <a:off x="1133924" y="0"/>
              <a:ext cx="566962" cy="566962"/>
            </a:xfrm>
            <a:prstGeom prst="rect">
              <a:avLst/>
            </a:prstGeom>
            <a:solidFill>
              <a:srgbClr val="FCDFDD"/>
            </a:solidFill>
          </p:spPr>
          <p:txBody>
            <a:bodyPr/>
            <a:lstStyle/>
            <a:p>
              <a:endParaRPr lang="en-ZA"/>
            </a:p>
          </p:txBody>
        </p:sp>
        <p:sp>
          <p:nvSpPr>
            <p:cNvPr id="20" name="AutoShape 20"/>
            <p:cNvSpPr/>
            <p:nvPr/>
          </p:nvSpPr>
          <p:spPr>
            <a:xfrm>
              <a:off x="5110554" y="566962"/>
              <a:ext cx="566962" cy="566962"/>
            </a:xfrm>
            <a:prstGeom prst="rect">
              <a:avLst/>
            </a:prstGeom>
            <a:solidFill>
              <a:srgbClr val="BDA565"/>
            </a:solidFill>
          </p:spPr>
          <p:txBody>
            <a:bodyPr/>
            <a:lstStyle/>
            <a:p>
              <a:endParaRPr lang="en-ZA"/>
            </a:p>
          </p:txBody>
        </p:sp>
        <p:sp>
          <p:nvSpPr>
            <p:cNvPr id="21" name="AutoShape 21"/>
            <p:cNvSpPr/>
            <p:nvPr/>
          </p:nvSpPr>
          <p:spPr>
            <a:xfrm>
              <a:off x="4543591" y="566962"/>
              <a:ext cx="566962" cy="566962"/>
            </a:xfrm>
            <a:prstGeom prst="rect">
              <a:avLst/>
            </a:prstGeom>
            <a:solidFill>
              <a:srgbClr val="FCDFDD"/>
            </a:solidFill>
          </p:spPr>
          <p:txBody>
            <a:bodyPr/>
            <a:lstStyle/>
            <a:p>
              <a:endParaRPr lang="en-ZA"/>
            </a:p>
          </p:txBody>
        </p:sp>
        <p:sp>
          <p:nvSpPr>
            <p:cNvPr id="22" name="AutoShape 22"/>
            <p:cNvSpPr/>
            <p:nvPr/>
          </p:nvSpPr>
          <p:spPr>
            <a:xfrm>
              <a:off x="0" y="566962"/>
              <a:ext cx="1133924" cy="566962"/>
            </a:xfrm>
            <a:prstGeom prst="rect">
              <a:avLst/>
            </a:prstGeom>
            <a:solidFill>
              <a:srgbClr val="FCDFDD"/>
            </a:solidFill>
          </p:spPr>
          <p:txBody>
            <a:bodyPr/>
            <a:lstStyle/>
            <a:p>
              <a:endParaRPr lang="en-ZA"/>
            </a:p>
          </p:txBody>
        </p:sp>
        <p:sp>
          <p:nvSpPr>
            <p:cNvPr id="23" name="AutoShape 23"/>
            <p:cNvSpPr/>
            <p:nvPr/>
          </p:nvSpPr>
          <p:spPr>
            <a:xfrm>
              <a:off x="11921994" y="1133924"/>
              <a:ext cx="1133924" cy="566962"/>
            </a:xfrm>
            <a:prstGeom prst="rect">
              <a:avLst/>
            </a:prstGeom>
            <a:solidFill>
              <a:srgbClr val="FCDFDD"/>
            </a:solidFill>
          </p:spPr>
          <p:txBody>
            <a:bodyPr/>
            <a:lstStyle/>
            <a:p>
              <a:endParaRPr lang="en-ZA"/>
            </a:p>
          </p:txBody>
        </p:sp>
        <p:sp>
          <p:nvSpPr>
            <p:cNvPr id="24" name="AutoShape 24"/>
            <p:cNvSpPr/>
            <p:nvPr/>
          </p:nvSpPr>
          <p:spPr>
            <a:xfrm>
              <a:off x="14193790" y="1133924"/>
              <a:ext cx="1141818" cy="566962"/>
            </a:xfrm>
            <a:prstGeom prst="rect">
              <a:avLst/>
            </a:prstGeom>
            <a:solidFill>
              <a:srgbClr val="BDA565"/>
            </a:solidFill>
          </p:spPr>
          <p:txBody>
            <a:bodyPr/>
            <a:lstStyle/>
            <a:p>
              <a:endParaRPr lang="en-ZA"/>
            </a:p>
          </p:txBody>
        </p:sp>
        <p:sp>
          <p:nvSpPr>
            <p:cNvPr id="25" name="AutoShape 25"/>
            <p:cNvSpPr/>
            <p:nvPr/>
          </p:nvSpPr>
          <p:spPr>
            <a:xfrm>
              <a:off x="13626828" y="0"/>
              <a:ext cx="566962" cy="566962"/>
            </a:xfrm>
            <a:prstGeom prst="rect">
              <a:avLst/>
            </a:prstGeom>
            <a:solidFill>
              <a:srgbClr val="FCDFDD"/>
            </a:solidFill>
          </p:spPr>
          <p:txBody>
            <a:bodyPr/>
            <a:lstStyle/>
            <a:p>
              <a:endParaRPr lang="en-ZA"/>
            </a:p>
          </p:txBody>
        </p:sp>
        <p:sp>
          <p:nvSpPr>
            <p:cNvPr id="26" name="AutoShape 26"/>
            <p:cNvSpPr/>
            <p:nvPr/>
          </p:nvSpPr>
          <p:spPr>
            <a:xfrm>
              <a:off x="15331661" y="0"/>
              <a:ext cx="566962" cy="566962"/>
            </a:xfrm>
            <a:prstGeom prst="rect">
              <a:avLst/>
            </a:prstGeom>
            <a:solidFill>
              <a:srgbClr val="BDA565"/>
            </a:solidFill>
          </p:spPr>
          <p:txBody>
            <a:bodyPr/>
            <a:lstStyle/>
            <a:p>
              <a:endParaRPr lang="en-ZA"/>
            </a:p>
          </p:txBody>
        </p:sp>
        <p:sp>
          <p:nvSpPr>
            <p:cNvPr id="27" name="AutoShape 27"/>
            <p:cNvSpPr/>
            <p:nvPr/>
          </p:nvSpPr>
          <p:spPr>
            <a:xfrm>
              <a:off x="14189843" y="566962"/>
              <a:ext cx="566962" cy="566962"/>
            </a:xfrm>
            <a:prstGeom prst="rect">
              <a:avLst/>
            </a:prstGeom>
            <a:solidFill>
              <a:srgbClr val="FCDFDD"/>
            </a:solidFill>
          </p:spPr>
          <p:txBody>
            <a:bodyPr/>
            <a:lstStyle/>
            <a:p>
              <a:endParaRPr lang="en-ZA"/>
            </a:p>
          </p:txBody>
        </p:sp>
        <p:sp>
          <p:nvSpPr>
            <p:cNvPr id="28" name="AutoShape 28"/>
            <p:cNvSpPr/>
            <p:nvPr/>
          </p:nvSpPr>
          <p:spPr>
            <a:xfrm>
              <a:off x="13626828" y="1133924"/>
              <a:ext cx="566962" cy="566962"/>
            </a:xfrm>
            <a:prstGeom prst="rect">
              <a:avLst/>
            </a:prstGeom>
            <a:solidFill>
              <a:srgbClr val="FCDFDD"/>
            </a:solidFill>
          </p:spPr>
          <p:txBody>
            <a:bodyPr/>
            <a:lstStyle/>
            <a:p>
              <a:endParaRPr lang="en-ZA"/>
            </a:p>
          </p:txBody>
        </p:sp>
        <p:sp>
          <p:nvSpPr>
            <p:cNvPr id="29" name="AutoShape 29"/>
            <p:cNvSpPr/>
            <p:nvPr/>
          </p:nvSpPr>
          <p:spPr>
            <a:xfrm>
              <a:off x="12488956" y="0"/>
              <a:ext cx="566962" cy="566962"/>
            </a:xfrm>
            <a:prstGeom prst="rect">
              <a:avLst/>
            </a:prstGeom>
            <a:solidFill>
              <a:srgbClr val="FCDFDD"/>
            </a:solidFill>
          </p:spPr>
          <p:txBody>
            <a:bodyPr/>
            <a:lstStyle/>
            <a:p>
              <a:endParaRPr lang="en-ZA"/>
            </a:p>
          </p:txBody>
        </p:sp>
        <p:sp>
          <p:nvSpPr>
            <p:cNvPr id="30" name="AutoShape 30"/>
            <p:cNvSpPr/>
            <p:nvPr/>
          </p:nvSpPr>
          <p:spPr>
            <a:xfrm>
              <a:off x="16465586" y="566962"/>
              <a:ext cx="566962" cy="566962"/>
            </a:xfrm>
            <a:prstGeom prst="rect">
              <a:avLst/>
            </a:prstGeom>
            <a:solidFill>
              <a:srgbClr val="BDA565"/>
            </a:solidFill>
          </p:spPr>
          <p:txBody>
            <a:bodyPr/>
            <a:lstStyle/>
            <a:p>
              <a:endParaRPr lang="en-ZA"/>
            </a:p>
          </p:txBody>
        </p:sp>
        <p:sp>
          <p:nvSpPr>
            <p:cNvPr id="31" name="AutoShape 31"/>
            <p:cNvSpPr/>
            <p:nvPr/>
          </p:nvSpPr>
          <p:spPr>
            <a:xfrm>
              <a:off x="15898623" y="566962"/>
              <a:ext cx="566962" cy="566962"/>
            </a:xfrm>
            <a:prstGeom prst="rect">
              <a:avLst/>
            </a:prstGeom>
            <a:solidFill>
              <a:srgbClr val="FCDFDD"/>
            </a:solidFill>
          </p:spPr>
          <p:txBody>
            <a:bodyPr/>
            <a:lstStyle/>
            <a:p>
              <a:endParaRPr lang="en-ZA"/>
            </a:p>
          </p:txBody>
        </p:sp>
        <p:sp>
          <p:nvSpPr>
            <p:cNvPr id="32" name="AutoShape 32"/>
            <p:cNvSpPr/>
            <p:nvPr/>
          </p:nvSpPr>
          <p:spPr>
            <a:xfrm>
              <a:off x="11355032" y="566962"/>
              <a:ext cx="1133924" cy="566962"/>
            </a:xfrm>
            <a:prstGeom prst="rect">
              <a:avLst/>
            </a:prstGeom>
            <a:solidFill>
              <a:srgbClr val="FCDFDD"/>
            </a:solidFill>
          </p:spPr>
          <p:txBody>
            <a:bodyPr/>
            <a:lstStyle/>
            <a:p>
              <a:endParaRPr lang="en-ZA"/>
            </a:p>
          </p:txBody>
        </p:sp>
      </p:grpSp>
      <p:grpSp>
        <p:nvGrpSpPr>
          <p:cNvPr id="33" name="Group 33"/>
          <p:cNvGrpSpPr/>
          <p:nvPr/>
        </p:nvGrpSpPr>
        <p:grpSpPr>
          <a:xfrm>
            <a:off x="12774411" y="0"/>
            <a:ext cx="12774411" cy="1275665"/>
            <a:chOff x="0" y="0"/>
            <a:chExt cx="17032548" cy="1700887"/>
          </a:xfrm>
        </p:grpSpPr>
        <p:sp>
          <p:nvSpPr>
            <p:cNvPr id="34" name="AutoShape 34"/>
            <p:cNvSpPr/>
            <p:nvPr/>
          </p:nvSpPr>
          <p:spPr>
            <a:xfrm>
              <a:off x="6244478" y="1133924"/>
              <a:ext cx="1133924" cy="566962"/>
            </a:xfrm>
            <a:prstGeom prst="rect">
              <a:avLst/>
            </a:prstGeom>
            <a:solidFill>
              <a:srgbClr val="FCDFDD"/>
            </a:solidFill>
          </p:spPr>
          <p:txBody>
            <a:bodyPr/>
            <a:lstStyle/>
            <a:p>
              <a:endParaRPr lang="en-ZA"/>
            </a:p>
          </p:txBody>
        </p:sp>
        <p:sp>
          <p:nvSpPr>
            <p:cNvPr id="35" name="AutoShape 35"/>
            <p:cNvSpPr/>
            <p:nvPr/>
          </p:nvSpPr>
          <p:spPr>
            <a:xfrm>
              <a:off x="8516274" y="1133924"/>
              <a:ext cx="1141818" cy="566962"/>
            </a:xfrm>
            <a:prstGeom prst="rect">
              <a:avLst/>
            </a:prstGeom>
            <a:solidFill>
              <a:srgbClr val="BDA565"/>
            </a:solidFill>
          </p:spPr>
          <p:txBody>
            <a:bodyPr/>
            <a:lstStyle/>
            <a:p>
              <a:endParaRPr lang="en-ZA"/>
            </a:p>
          </p:txBody>
        </p:sp>
        <p:sp>
          <p:nvSpPr>
            <p:cNvPr id="36" name="AutoShape 36"/>
            <p:cNvSpPr/>
            <p:nvPr/>
          </p:nvSpPr>
          <p:spPr>
            <a:xfrm>
              <a:off x="7949312" y="0"/>
              <a:ext cx="566962" cy="566962"/>
            </a:xfrm>
            <a:prstGeom prst="rect">
              <a:avLst/>
            </a:prstGeom>
            <a:solidFill>
              <a:srgbClr val="FCDFDD"/>
            </a:solidFill>
          </p:spPr>
          <p:txBody>
            <a:bodyPr/>
            <a:lstStyle/>
            <a:p>
              <a:endParaRPr lang="en-ZA"/>
            </a:p>
          </p:txBody>
        </p:sp>
        <p:sp>
          <p:nvSpPr>
            <p:cNvPr id="37" name="AutoShape 37"/>
            <p:cNvSpPr/>
            <p:nvPr/>
          </p:nvSpPr>
          <p:spPr>
            <a:xfrm>
              <a:off x="9654145" y="0"/>
              <a:ext cx="566962" cy="566962"/>
            </a:xfrm>
            <a:prstGeom prst="rect">
              <a:avLst/>
            </a:prstGeom>
            <a:solidFill>
              <a:srgbClr val="BDA565"/>
            </a:solidFill>
          </p:spPr>
          <p:txBody>
            <a:bodyPr/>
            <a:lstStyle/>
            <a:p>
              <a:endParaRPr lang="en-ZA"/>
            </a:p>
          </p:txBody>
        </p:sp>
        <p:sp>
          <p:nvSpPr>
            <p:cNvPr id="38" name="AutoShape 38"/>
            <p:cNvSpPr/>
            <p:nvPr/>
          </p:nvSpPr>
          <p:spPr>
            <a:xfrm>
              <a:off x="8512327" y="566962"/>
              <a:ext cx="566962" cy="566962"/>
            </a:xfrm>
            <a:prstGeom prst="rect">
              <a:avLst/>
            </a:prstGeom>
            <a:solidFill>
              <a:srgbClr val="FCDFDD"/>
            </a:solidFill>
          </p:spPr>
          <p:txBody>
            <a:bodyPr/>
            <a:lstStyle/>
            <a:p>
              <a:endParaRPr lang="en-ZA"/>
            </a:p>
          </p:txBody>
        </p:sp>
        <p:sp>
          <p:nvSpPr>
            <p:cNvPr id="39" name="AutoShape 39"/>
            <p:cNvSpPr/>
            <p:nvPr/>
          </p:nvSpPr>
          <p:spPr>
            <a:xfrm>
              <a:off x="7949312" y="1133924"/>
              <a:ext cx="566962" cy="566962"/>
            </a:xfrm>
            <a:prstGeom prst="rect">
              <a:avLst/>
            </a:prstGeom>
            <a:solidFill>
              <a:srgbClr val="FCDFDD"/>
            </a:solidFill>
          </p:spPr>
          <p:txBody>
            <a:bodyPr/>
            <a:lstStyle/>
            <a:p>
              <a:endParaRPr lang="en-ZA"/>
            </a:p>
          </p:txBody>
        </p:sp>
        <p:sp>
          <p:nvSpPr>
            <p:cNvPr id="40" name="AutoShape 40"/>
            <p:cNvSpPr/>
            <p:nvPr/>
          </p:nvSpPr>
          <p:spPr>
            <a:xfrm>
              <a:off x="6811440" y="0"/>
              <a:ext cx="566962" cy="566962"/>
            </a:xfrm>
            <a:prstGeom prst="rect">
              <a:avLst/>
            </a:prstGeom>
            <a:solidFill>
              <a:srgbClr val="FCDFDD"/>
            </a:solidFill>
          </p:spPr>
          <p:txBody>
            <a:bodyPr/>
            <a:lstStyle/>
            <a:p>
              <a:endParaRPr lang="en-ZA"/>
            </a:p>
          </p:txBody>
        </p:sp>
        <p:sp>
          <p:nvSpPr>
            <p:cNvPr id="41" name="AutoShape 41"/>
            <p:cNvSpPr/>
            <p:nvPr/>
          </p:nvSpPr>
          <p:spPr>
            <a:xfrm>
              <a:off x="10788070" y="566962"/>
              <a:ext cx="566962" cy="566962"/>
            </a:xfrm>
            <a:prstGeom prst="rect">
              <a:avLst/>
            </a:prstGeom>
            <a:solidFill>
              <a:srgbClr val="BDA565"/>
            </a:solidFill>
          </p:spPr>
          <p:txBody>
            <a:bodyPr/>
            <a:lstStyle/>
            <a:p>
              <a:endParaRPr lang="en-ZA"/>
            </a:p>
          </p:txBody>
        </p:sp>
        <p:sp>
          <p:nvSpPr>
            <p:cNvPr id="42" name="AutoShape 42"/>
            <p:cNvSpPr/>
            <p:nvPr/>
          </p:nvSpPr>
          <p:spPr>
            <a:xfrm>
              <a:off x="10221107" y="566962"/>
              <a:ext cx="566962" cy="566962"/>
            </a:xfrm>
            <a:prstGeom prst="rect">
              <a:avLst/>
            </a:prstGeom>
            <a:solidFill>
              <a:srgbClr val="FCDFDD"/>
            </a:solidFill>
          </p:spPr>
          <p:txBody>
            <a:bodyPr/>
            <a:lstStyle/>
            <a:p>
              <a:endParaRPr lang="en-ZA"/>
            </a:p>
          </p:txBody>
        </p:sp>
        <p:sp>
          <p:nvSpPr>
            <p:cNvPr id="43" name="AutoShape 43"/>
            <p:cNvSpPr/>
            <p:nvPr/>
          </p:nvSpPr>
          <p:spPr>
            <a:xfrm>
              <a:off x="5677516" y="566962"/>
              <a:ext cx="1133924" cy="566962"/>
            </a:xfrm>
            <a:prstGeom prst="rect">
              <a:avLst/>
            </a:prstGeom>
            <a:solidFill>
              <a:srgbClr val="FCDFDD"/>
            </a:solidFill>
          </p:spPr>
          <p:txBody>
            <a:bodyPr/>
            <a:lstStyle/>
            <a:p>
              <a:endParaRPr lang="en-ZA"/>
            </a:p>
          </p:txBody>
        </p:sp>
        <p:sp>
          <p:nvSpPr>
            <p:cNvPr id="44" name="AutoShape 44"/>
            <p:cNvSpPr/>
            <p:nvPr/>
          </p:nvSpPr>
          <p:spPr>
            <a:xfrm>
              <a:off x="566962" y="1133924"/>
              <a:ext cx="1133924" cy="566962"/>
            </a:xfrm>
            <a:prstGeom prst="rect">
              <a:avLst/>
            </a:prstGeom>
            <a:solidFill>
              <a:srgbClr val="FCDFDD"/>
            </a:solidFill>
          </p:spPr>
          <p:txBody>
            <a:bodyPr/>
            <a:lstStyle/>
            <a:p>
              <a:endParaRPr lang="en-ZA"/>
            </a:p>
          </p:txBody>
        </p:sp>
        <p:sp>
          <p:nvSpPr>
            <p:cNvPr id="45" name="AutoShape 45"/>
            <p:cNvSpPr/>
            <p:nvPr/>
          </p:nvSpPr>
          <p:spPr>
            <a:xfrm>
              <a:off x="2838758" y="1133924"/>
              <a:ext cx="1141818" cy="566962"/>
            </a:xfrm>
            <a:prstGeom prst="rect">
              <a:avLst/>
            </a:prstGeom>
            <a:solidFill>
              <a:srgbClr val="BDA565"/>
            </a:solidFill>
          </p:spPr>
          <p:txBody>
            <a:bodyPr/>
            <a:lstStyle/>
            <a:p>
              <a:endParaRPr lang="en-ZA"/>
            </a:p>
          </p:txBody>
        </p:sp>
        <p:sp>
          <p:nvSpPr>
            <p:cNvPr id="46" name="AutoShape 46"/>
            <p:cNvSpPr/>
            <p:nvPr/>
          </p:nvSpPr>
          <p:spPr>
            <a:xfrm>
              <a:off x="2271796" y="0"/>
              <a:ext cx="566962" cy="566962"/>
            </a:xfrm>
            <a:prstGeom prst="rect">
              <a:avLst/>
            </a:prstGeom>
            <a:solidFill>
              <a:srgbClr val="FCDFDD"/>
            </a:solidFill>
          </p:spPr>
          <p:txBody>
            <a:bodyPr/>
            <a:lstStyle/>
            <a:p>
              <a:endParaRPr lang="en-ZA"/>
            </a:p>
          </p:txBody>
        </p:sp>
        <p:sp>
          <p:nvSpPr>
            <p:cNvPr id="47" name="AutoShape 47"/>
            <p:cNvSpPr/>
            <p:nvPr/>
          </p:nvSpPr>
          <p:spPr>
            <a:xfrm>
              <a:off x="3976629" y="0"/>
              <a:ext cx="566962" cy="566962"/>
            </a:xfrm>
            <a:prstGeom prst="rect">
              <a:avLst/>
            </a:prstGeom>
            <a:solidFill>
              <a:srgbClr val="BDA565"/>
            </a:solidFill>
          </p:spPr>
          <p:txBody>
            <a:bodyPr/>
            <a:lstStyle/>
            <a:p>
              <a:endParaRPr lang="en-ZA"/>
            </a:p>
          </p:txBody>
        </p:sp>
        <p:sp>
          <p:nvSpPr>
            <p:cNvPr id="48" name="AutoShape 48"/>
            <p:cNvSpPr/>
            <p:nvPr/>
          </p:nvSpPr>
          <p:spPr>
            <a:xfrm>
              <a:off x="2834811" y="566962"/>
              <a:ext cx="566962" cy="566962"/>
            </a:xfrm>
            <a:prstGeom prst="rect">
              <a:avLst/>
            </a:prstGeom>
            <a:solidFill>
              <a:srgbClr val="FCDFDD"/>
            </a:solidFill>
          </p:spPr>
          <p:txBody>
            <a:bodyPr/>
            <a:lstStyle/>
            <a:p>
              <a:endParaRPr lang="en-ZA"/>
            </a:p>
          </p:txBody>
        </p:sp>
        <p:sp>
          <p:nvSpPr>
            <p:cNvPr id="49" name="AutoShape 49"/>
            <p:cNvSpPr/>
            <p:nvPr/>
          </p:nvSpPr>
          <p:spPr>
            <a:xfrm>
              <a:off x="2271796" y="1133924"/>
              <a:ext cx="566962" cy="566962"/>
            </a:xfrm>
            <a:prstGeom prst="rect">
              <a:avLst/>
            </a:prstGeom>
            <a:solidFill>
              <a:srgbClr val="FCDFDD"/>
            </a:solidFill>
          </p:spPr>
          <p:txBody>
            <a:bodyPr/>
            <a:lstStyle/>
            <a:p>
              <a:endParaRPr lang="en-ZA"/>
            </a:p>
          </p:txBody>
        </p:sp>
        <p:sp>
          <p:nvSpPr>
            <p:cNvPr id="50" name="AutoShape 50"/>
            <p:cNvSpPr/>
            <p:nvPr/>
          </p:nvSpPr>
          <p:spPr>
            <a:xfrm>
              <a:off x="1133924" y="0"/>
              <a:ext cx="566962" cy="566962"/>
            </a:xfrm>
            <a:prstGeom prst="rect">
              <a:avLst/>
            </a:prstGeom>
            <a:solidFill>
              <a:srgbClr val="FCDFDD"/>
            </a:solidFill>
          </p:spPr>
          <p:txBody>
            <a:bodyPr/>
            <a:lstStyle/>
            <a:p>
              <a:endParaRPr lang="en-ZA"/>
            </a:p>
          </p:txBody>
        </p:sp>
        <p:sp>
          <p:nvSpPr>
            <p:cNvPr id="51" name="AutoShape 51"/>
            <p:cNvSpPr/>
            <p:nvPr/>
          </p:nvSpPr>
          <p:spPr>
            <a:xfrm>
              <a:off x="5110554" y="566962"/>
              <a:ext cx="566962" cy="566962"/>
            </a:xfrm>
            <a:prstGeom prst="rect">
              <a:avLst/>
            </a:prstGeom>
            <a:solidFill>
              <a:srgbClr val="BDA565"/>
            </a:solidFill>
          </p:spPr>
          <p:txBody>
            <a:bodyPr/>
            <a:lstStyle/>
            <a:p>
              <a:endParaRPr lang="en-ZA"/>
            </a:p>
          </p:txBody>
        </p:sp>
        <p:sp>
          <p:nvSpPr>
            <p:cNvPr id="52" name="AutoShape 52"/>
            <p:cNvSpPr/>
            <p:nvPr/>
          </p:nvSpPr>
          <p:spPr>
            <a:xfrm>
              <a:off x="4543591" y="566962"/>
              <a:ext cx="566962" cy="566962"/>
            </a:xfrm>
            <a:prstGeom prst="rect">
              <a:avLst/>
            </a:prstGeom>
            <a:solidFill>
              <a:srgbClr val="FCDFDD"/>
            </a:solidFill>
          </p:spPr>
          <p:txBody>
            <a:bodyPr/>
            <a:lstStyle/>
            <a:p>
              <a:endParaRPr lang="en-ZA"/>
            </a:p>
          </p:txBody>
        </p:sp>
        <p:sp>
          <p:nvSpPr>
            <p:cNvPr id="53" name="AutoShape 53"/>
            <p:cNvSpPr/>
            <p:nvPr/>
          </p:nvSpPr>
          <p:spPr>
            <a:xfrm>
              <a:off x="0" y="566962"/>
              <a:ext cx="1133924" cy="566962"/>
            </a:xfrm>
            <a:prstGeom prst="rect">
              <a:avLst/>
            </a:prstGeom>
            <a:solidFill>
              <a:srgbClr val="FCDFDD"/>
            </a:solidFill>
          </p:spPr>
          <p:txBody>
            <a:bodyPr/>
            <a:lstStyle/>
            <a:p>
              <a:endParaRPr lang="en-ZA"/>
            </a:p>
          </p:txBody>
        </p:sp>
        <p:sp>
          <p:nvSpPr>
            <p:cNvPr id="54" name="AutoShape 54"/>
            <p:cNvSpPr/>
            <p:nvPr/>
          </p:nvSpPr>
          <p:spPr>
            <a:xfrm>
              <a:off x="11921994" y="1133924"/>
              <a:ext cx="1133924" cy="566962"/>
            </a:xfrm>
            <a:prstGeom prst="rect">
              <a:avLst/>
            </a:prstGeom>
            <a:solidFill>
              <a:srgbClr val="FCDFDD"/>
            </a:solidFill>
          </p:spPr>
          <p:txBody>
            <a:bodyPr/>
            <a:lstStyle/>
            <a:p>
              <a:endParaRPr lang="en-ZA"/>
            </a:p>
          </p:txBody>
        </p:sp>
        <p:sp>
          <p:nvSpPr>
            <p:cNvPr id="55" name="AutoShape 55"/>
            <p:cNvSpPr/>
            <p:nvPr/>
          </p:nvSpPr>
          <p:spPr>
            <a:xfrm>
              <a:off x="14193790" y="1133924"/>
              <a:ext cx="1141818" cy="566962"/>
            </a:xfrm>
            <a:prstGeom prst="rect">
              <a:avLst/>
            </a:prstGeom>
            <a:solidFill>
              <a:srgbClr val="BDA565"/>
            </a:solidFill>
          </p:spPr>
          <p:txBody>
            <a:bodyPr/>
            <a:lstStyle/>
            <a:p>
              <a:endParaRPr lang="en-ZA"/>
            </a:p>
          </p:txBody>
        </p:sp>
        <p:sp>
          <p:nvSpPr>
            <p:cNvPr id="56" name="AutoShape 56"/>
            <p:cNvSpPr/>
            <p:nvPr/>
          </p:nvSpPr>
          <p:spPr>
            <a:xfrm>
              <a:off x="13626828" y="0"/>
              <a:ext cx="566962" cy="566962"/>
            </a:xfrm>
            <a:prstGeom prst="rect">
              <a:avLst/>
            </a:prstGeom>
            <a:solidFill>
              <a:srgbClr val="FCDFDD"/>
            </a:solidFill>
          </p:spPr>
          <p:txBody>
            <a:bodyPr/>
            <a:lstStyle/>
            <a:p>
              <a:endParaRPr lang="en-ZA"/>
            </a:p>
          </p:txBody>
        </p:sp>
        <p:sp>
          <p:nvSpPr>
            <p:cNvPr id="57" name="AutoShape 57"/>
            <p:cNvSpPr/>
            <p:nvPr/>
          </p:nvSpPr>
          <p:spPr>
            <a:xfrm>
              <a:off x="15331661" y="0"/>
              <a:ext cx="566962" cy="566962"/>
            </a:xfrm>
            <a:prstGeom prst="rect">
              <a:avLst/>
            </a:prstGeom>
            <a:solidFill>
              <a:srgbClr val="BDA565"/>
            </a:solidFill>
          </p:spPr>
          <p:txBody>
            <a:bodyPr/>
            <a:lstStyle/>
            <a:p>
              <a:endParaRPr lang="en-ZA"/>
            </a:p>
          </p:txBody>
        </p:sp>
        <p:sp>
          <p:nvSpPr>
            <p:cNvPr id="58" name="AutoShape 58"/>
            <p:cNvSpPr/>
            <p:nvPr/>
          </p:nvSpPr>
          <p:spPr>
            <a:xfrm>
              <a:off x="14189843" y="566962"/>
              <a:ext cx="566962" cy="566962"/>
            </a:xfrm>
            <a:prstGeom prst="rect">
              <a:avLst/>
            </a:prstGeom>
            <a:solidFill>
              <a:srgbClr val="FCDFDD"/>
            </a:solidFill>
          </p:spPr>
          <p:txBody>
            <a:bodyPr/>
            <a:lstStyle/>
            <a:p>
              <a:endParaRPr lang="en-ZA"/>
            </a:p>
          </p:txBody>
        </p:sp>
        <p:sp>
          <p:nvSpPr>
            <p:cNvPr id="59" name="AutoShape 59"/>
            <p:cNvSpPr/>
            <p:nvPr/>
          </p:nvSpPr>
          <p:spPr>
            <a:xfrm>
              <a:off x="13626828" y="1133924"/>
              <a:ext cx="566962" cy="566962"/>
            </a:xfrm>
            <a:prstGeom prst="rect">
              <a:avLst/>
            </a:prstGeom>
            <a:solidFill>
              <a:srgbClr val="FCDFDD"/>
            </a:solidFill>
          </p:spPr>
          <p:txBody>
            <a:bodyPr/>
            <a:lstStyle/>
            <a:p>
              <a:endParaRPr lang="en-ZA"/>
            </a:p>
          </p:txBody>
        </p:sp>
        <p:sp>
          <p:nvSpPr>
            <p:cNvPr id="60" name="AutoShape 60"/>
            <p:cNvSpPr/>
            <p:nvPr/>
          </p:nvSpPr>
          <p:spPr>
            <a:xfrm>
              <a:off x="12488956" y="0"/>
              <a:ext cx="566962" cy="566962"/>
            </a:xfrm>
            <a:prstGeom prst="rect">
              <a:avLst/>
            </a:prstGeom>
            <a:solidFill>
              <a:srgbClr val="FCDFDD"/>
            </a:solidFill>
          </p:spPr>
          <p:txBody>
            <a:bodyPr/>
            <a:lstStyle/>
            <a:p>
              <a:endParaRPr lang="en-ZA"/>
            </a:p>
          </p:txBody>
        </p:sp>
        <p:sp>
          <p:nvSpPr>
            <p:cNvPr id="61" name="AutoShape 61"/>
            <p:cNvSpPr/>
            <p:nvPr/>
          </p:nvSpPr>
          <p:spPr>
            <a:xfrm>
              <a:off x="16465586" y="566962"/>
              <a:ext cx="566962" cy="566962"/>
            </a:xfrm>
            <a:prstGeom prst="rect">
              <a:avLst/>
            </a:prstGeom>
            <a:solidFill>
              <a:srgbClr val="BDA565"/>
            </a:solidFill>
          </p:spPr>
          <p:txBody>
            <a:bodyPr/>
            <a:lstStyle/>
            <a:p>
              <a:endParaRPr lang="en-ZA"/>
            </a:p>
          </p:txBody>
        </p:sp>
        <p:sp>
          <p:nvSpPr>
            <p:cNvPr id="62" name="AutoShape 62"/>
            <p:cNvSpPr/>
            <p:nvPr/>
          </p:nvSpPr>
          <p:spPr>
            <a:xfrm>
              <a:off x="15898623" y="566962"/>
              <a:ext cx="566962" cy="566962"/>
            </a:xfrm>
            <a:prstGeom prst="rect">
              <a:avLst/>
            </a:prstGeom>
            <a:solidFill>
              <a:srgbClr val="FCDFDD"/>
            </a:solidFill>
          </p:spPr>
          <p:txBody>
            <a:bodyPr/>
            <a:lstStyle/>
            <a:p>
              <a:endParaRPr lang="en-ZA"/>
            </a:p>
          </p:txBody>
        </p:sp>
        <p:sp>
          <p:nvSpPr>
            <p:cNvPr id="63" name="AutoShape 63"/>
            <p:cNvSpPr/>
            <p:nvPr/>
          </p:nvSpPr>
          <p:spPr>
            <a:xfrm>
              <a:off x="11355032" y="566962"/>
              <a:ext cx="1133924" cy="566962"/>
            </a:xfrm>
            <a:prstGeom prst="rect">
              <a:avLst/>
            </a:prstGeom>
            <a:solidFill>
              <a:srgbClr val="FCDFDD"/>
            </a:solidFill>
          </p:spPr>
          <p:txBody>
            <a:bodyPr/>
            <a:lstStyle/>
            <a:p>
              <a:endParaRPr lang="en-ZA"/>
            </a:p>
          </p:txBody>
        </p:sp>
      </p:grpSp>
      <p:grpSp>
        <p:nvGrpSpPr>
          <p:cNvPr id="64" name="Group 64"/>
          <p:cNvGrpSpPr/>
          <p:nvPr/>
        </p:nvGrpSpPr>
        <p:grpSpPr>
          <a:xfrm>
            <a:off x="1028700" y="2779735"/>
            <a:ext cx="16230600" cy="1812229"/>
            <a:chOff x="0" y="0"/>
            <a:chExt cx="21640800" cy="2416305"/>
          </a:xfrm>
        </p:grpSpPr>
        <p:sp>
          <p:nvSpPr>
            <p:cNvPr id="65" name="TextBox 65"/>
            <p:cNvSpPr txBox="1"/>
            <p:nvPr/>
          </p:nvSpPr>
          <p:spPr>
            <a:xfrm>
              <a:off x="0" y="0"/>
              <a:ext cx="21640800" cy="1409700"/>
            </a:xfrm>
            <a:prstGeom prst="rect">
              <a:avLst/>
            </a:prstGeom>
          </p:spPr>
          <p:txBody>
            <a:bodyPr lIns="0" tIns="0" rIns="0" bIns="0" rtlCol="0" anchor="t">
              <a:spAutoFit/>
            </a:bodyPr>
            <a:lstStyle/>
            <a:p>
              <a:pPr marL="0" lvl="0" indent="0" algn="ctr">
                <a:lnSpc>
                  <a:spcPts val="8399"/>
                </a:lnSpc>
              </a:pPr>
              <a:r>
                <a:rPr lang="en-US" sz="6999" b="1" u="none" spc="139">
                  <a:solidFill>
                    <a:srgbClr val="FDF9EF"/>
                  </a:solidFill>
                  <a:latin typeface="Roboto Mono Bold"/>
                  <a:ea typeface="Roboto Mono Bold"/>
                  <a:cs typeface="Roboto Mono Bold"/>
                  <a:sym typeface="Roboto Mono Bold"/>
                </a:rPr>
                <a:t>Advantages of the System</a:t>
              </a:r>
            </a:p>
          </p:txBody>
        </p:sp>
        <p:sp>
          <p:nvSpPr>
            <p:cNvPr id="66" name="TextBox 66"/>
            <p:cNvSpPr txBox="1"/>
            <p:nvPr/>
          </p:nvSpPr>
          <p:spPr>
            <a:xfrm>
              <a:off x="1823861" y="2010643"/>
              <a:ext cx="17993079" cy="405662"/>
            </a:xfrm>
            <a:prstGeom prst="rect">
              <a:avLst/>
            </a:prstGeom>
          </p:spPr>
          <p:txBody>
            <a:bodyPr lIns="0" tIns="0" rIns="0" bIns="0" rtlCol="0" anchor="t">
              <a:spAutoFit/>
            </a:bodyPr>
            <a:lstStyle/>
            <a:p>
              <a:pPr marL="0" lvl="0" indent="0" algn="ctr">
                <a:lnSpc>
                  <a:spcPts val="2524"/>
                </a:lnSpc>
              </a:pPr>
              <a:r>
                <a:rPr lang="en-US" sz="1803" b="1" u="none">
                  <a:solidFill>
                    <a:srgbClr val="FDF9EF"/>
                  </a:solidFill>
                  <a:latin typeface="Lekton Bold"/>
                  <a:ea typeface="Lekton Bold"/>
                  <a:cs typeface="Lekton Bold"/>
                  <a:sym typeface="Lekton Bold"/>
                </a:rPr>
                <a:t>Exploring how our campus safety system enhances real-time awareness and promotes responsible movement.</a:t>
              </a:r>
            </a:p>
          </p:txBody>
        </p:sp>
      </p:grpSp>
      <p:sp>
        <p:nvSpPr>
          <p:cNvPr id="67" name="AutoShape 67"/>
          <p:cNvSpPr/>
          <p:nvPr/>
        </p:nvSpPr>
        <p:spPr>
          <a:xfrm>
            <a:off x="0" y="6184435"/>
            <a:ext cx="18288000" cy="4102565"/>
          </a:xfrm>
          <a:prstGeom prst="rect">
            <a:avLst/>
          </a:prstGeom>
          <a:solidFill>
            <a:srgbClr val="FCDFDD"/>
          </a:solidFill>
        </p:spPr>
        <p:txBody>
          <a:bodyPr/>
          <a:lstStyle/>
          <a:p>
            <a:endParaRPr lang="en-ZA"/>
          </a:p>
        </p:txBody>
      </p:sp>
      <p:grpSp>
        <p:nvGrpSpPr>
          <p:cNvPr id="68" name="Group 68"/>
          <p:cNvGrpSpPr/>
          <p:nvPr/>
        </p:nvGrpSpPr>
        <p:grpSpPr>
          <a:xfrm>
            <a:off x="1339652" y="7037691"/>
            <a:ext cx="4096961" cy="2005720"/>
            <a:chOff x="0" y="0"/>
            <a:chExt cx="5462614" cy="2674293"/>
          </a:xfrm>
        </p:grpSpPr>
        <p:grpSp>
          <p:nvGrpSpPr>
            <p:cNvPr id="69" name="Group 69"/>
            <p:cNvGrpSpPr/>
            <p:nvPr/>
          </p:nvGrpSpPr>
          <p:grpSpPr>
            <a:xfrm>
              <a:off x="1958240" y="552888"/>
              <a:ext cx="1546135" cy="746672"/>
              <a:chOff x="0" y="0"/>
              <a:chExt cx="1183407" cy="571500"/>
            </a:xfrm>
          </p:grpSpPr>
          <p:sp>
            <p:nvSpPr>
              <p:cNvPr id="70" name="Freeform 70"/>
              <p:cNvSpPr/>
              <p:nvPr/>
            </p:nvSpPr>
            <p:spPr>
              <a:xfrm>
                <a:off x="0" y="255270"/>
                <a:ext cx="1183407" cy="69850"/>
              </a:xfrm>
              <a:custGeom>
                <a:avLst/>
                <a:gdLst/>
                <a:ahLst/>
                <a:cxnLst/>
                <a:rect l="l" t="t" r="r" b="b"/>
                <a:pathLst>
                  <a:path w="1183407" h="69850">
                    <a:moveTo>
                      <a:pt x="892577" y="0"/>
                    </a:moveTo>
                    <a:lnTo>
                      <a:pt x="0" y="0"/>
                    </a:lnTo>
                    <a:lnTo>
                      <a:pt x="0" y="69850"/>
                    </a:lnTo>
                    <a:lnTo>
                      <a:pt x="1183407" y="69850"/>
                    </a:lnTo>
                    <a:lnTo>
                      <a:pt x="1183407" y="0"/>
                    </a:lnTo>
                    <a:close/>
                  </a:path>
                </a:pathLst>
              </a:custGeom>
              <a:solidFill>
                <a:srgbClr val="BE8884"/>
              </a:solidFill>
            </p:spPr>
            <p:txBody>
              <a:bodyPr/>
              <a:lstStyle/>
              <a:p>
                <a:endParaRPr lang="en-ZA"/>
              </a:p>
            </p:txBody>
          </p:sp>
        </p:grpSp>
        <p:sp>
          <p:nvSpPr>
            <p:cNvPr id="71" name="TextBox 71"/>
            <p:cNvSpPr txBox="1"/>
            <p:nvPr/>
          </p:nvSpPr>
          <p:spPr>
            <a:xfrm>
              <a:off x="0" y="-28575"/>
              <a:ext cx="5462614" cy="391743"/>
            </a:xfrm>
            <a:prstGeom prst="rect">
              <a:avLst/>
            </a:prstGeom>
          </p:spPr>
          <p:txBody>
            <a:bodyPr lIns="0" tIns="0" rIns="0" bIns="0" rtlCol="0" anchor="t">
              <a:spAutoFit/>
            </a:bodyPr>
            <a:lstStyle/>
            <a:p>
              <a:pPr marL="0" lvl="0" indent="0" algn="ctr">
                <a:lnSpc>
                  <a:spcPts val="2343"/>
                </a:lnSpc>
              </a:pPr>
              <a:r>
                <a:rPr lang="en-US" sz="1803" b="1" u="none" spc="-18">
                  <a:solidFill>
                    <a:srgbClr val="201702"/>
                  </a:solidFill>
                  <a:latin typeface="Roboto Mono Bold"/>
                  <a:ea typeface="Roboto Mono Bold"/>
                  <a:cs typeface="Roboto Mono Bold"/>
                  <a:sym typeface="Roboto Mono Bold"/>
                </a:rPr>
                <a:t>Real-Time Insights</a:t>
              </a:r>
            </a:p>
          </p:txBody>
        </p:sp>
        <p:sp>
          <p:nvSpPr>
            <p:cNvPr id="72" name="TextBox 72"/>
            <p:cNvSpPr txBox="1"/>
            <p:nvPr/>
          </p:nvSpPr>
          <p:spPr>
            <a:xfrm>
              <a:off x="0" y="1597968"/>
              <a:ext cx="5462614" cy="1076325"/>
            </a:xfrm>
            <a:prstGeom prst="rect">
              <a:avLst/>
            </a:prstGeom>
          </p:spPr>
          <p:txBody>
            <a:bodyPr lIns="0" tIns="0" rIns="0" bIns="0" rtlCol="0" anchor="t">
              <a:spAutoFit/>
            </a:bodyPr>
            <a:lstStyle/>
            <a:p>
              <a:pPr marL="0" lvl="0" indent="0" algn="ctr">
                <a:lnSpc>
                  <a:spcPts val="2163"/>
                </a:lnSpc>
                <a:spcBef>
                  <a:spcPct val="0"/>
                </a:spcBef>
              </a:pPr>
              <a:r>
                <a:rPr lang="en-US" sz="1803" b="1" u="none">
                  <a:solidFill>
                    <a:srgbClr val="201702"/>
                  </a:solidFill>
                  <a:latin typeface="Roboto Mono Bold"/>
                  <a:ea typeface="Roboto Mono Bold"/>
                  <a:cs typeface="Roboto Mono Bold"/>
                  <a:sym typeface="Roboto Mono Bold"/>
                </a:rPr>
                <a:t>Immediate data access improves safety response times.</a:t>
              </a:r>
            </a:p>
          </p:txBody>
        </p:sp>
      </p:grpSp>
      <p:grpSp>
        <p:nvGrpSpPr>
          <p:cNvPr id="73" name="Group 73"/>
          <p:cNvGrpSpPr/>
          <p:nvPr/>
        </p:nvGrpSpPr>
        <p:grpSpPr>
          <a:xfrm>
            <a:off x="6593476" y="7037691"/>
            <a:ext cx="4896428" cy="1739020"/>
            <a:chOff x="0" y="0"/>
            <a:chExt cx="6528571" cy="2318693"/>
          </a:xfrm>
        </p:grpSpPr>
        <p:grpSp>
          <p:nvGrpSpPr>
            <p:cNvPr id="74" name="Group 74"/>
            <p:cNvGrpSpPr/>
            <p:nvPr/>
          </p:nvGrpSpPr>
          <p:grpSpPr>
            <a:xfrm>
              <a:off x="2491218" y="552888"/>
              <a:ext cx="1546135" cy="746672"/>
              <a:chOff x="0" y="0"/>
              <a:chExt cx="1183407" cy="571500"/>
            </a:xfrm>
          </p:grpSpPr>
          <p:sp>
            <p:nvSpPr>
              <p:cNvPr id="75" name="Freeform 75"/>
              <p:cNvSpPr/>
              <p:nvPr/>
            </p:nvSpPr>
            <p:spPr>
              <a:xfrm>
                <a:off x="0" y="255270"/>
                <a:ext cx="1183407" cy="69850"/>
              </a:xfrm>
              <a:custGeom>
                <a:avLst/>
                <a:gdLst/>
                <a:ahLst/>
                <a:cxnLst/>
                <a:rect l="l" t="t" r="r" b="b"/>
                <a:pathLst>
                  <a:path w="1183407" h="69850">
                    <a:moveTo>
                      <a:pt x="892577" y="0"/>
                    </a:moveTo>
                    <a:lnTo>
                      <a:pt x="0" y="0"/>
                    </a:lnTo>
                    <a:lnTo>
                      <a:pt x="0" y="69850"/>
                    </a:lnTo>
                    <a:lnTo>
                      <a:pt x="1183407" y="69850"/>
                    </a:lnTo>
                    <a:lnTo>
                      <a:pt x="1183407" y="0"/>
                    </a:lnTo>
                    <a:close/>
                  </a:path>
                </a:pathLst>
              </a:custGeom>
              <a:solidFill>
                <a:srgbClr val="BE8884"/>
              </a:solidFill>
            </p:spPr>
            <p:txBody>
              <a:bodyPr/>
              <a:lstStyle/>
              <a:p>
                <a:endParaRPr lang="en-ZA"/>
              </a:p>
            </p:txBody>
          </p:sp>
        </p:grpSp>
        <p:sp>
          <p:nvSpPr>
            <p:cNvPr id="76" name="TextBox 76"/>
            <p:cNvSpPr txBox="1"/>
            <p:nvPr/>
          </p:nvSpPr>
          <p:spPr>
            <a:xfrm>
              <a:off x="0" y="-28575"/>
              <a:ext cx="6528571" cy="391743"/>
            </a:xfrm>
            <a:prstGeom prst="rect">
              <a:avLst/>
            </a:prstGeom>
          </p:spPr>
          <p:txBody>
            <a:bodyPr lIns="0" tIns="0" rIns="0" bIns="0" rtlCol="0" anchor="t">
              <a:spAutoFit/>
            </a:bodyPr>
            <a:lstStyle/>
            <a:p>
              <a:pPr marL="0" lvl="0" indent="0" algn="ctr">
                <a:lnSpc>
                  <a:spcPts val="2343"/>
                </a:lnSpc>
              </a:pPr>
              <a:r>
                <a:rPr lang="en-US" sz="1803" b="1" u="none" spc="-18">
                  <a:solidFill>
                    <a:srgbClr val="201702"/>
                  </a:solidFill>
                  <a:latin typeface="Roboto Mono Bold"/>
                  <a:ea typeface="Roboto Mono Bold"/>
                  <a:cs typeface="Roboto Mono Bold"/>
                  <a:sym typeface="Roboto Mono Bold"/>
                </a:rPr>
                <a:t>Data-Driven Awareness</a:t>
              </a:r>
            </a:p>
          </p:txBody>
        </p:sp>
        <p:sp>
          <p:nvSpPr>
            <p:cNvPr id="77" name="TextBox 77"/>
            <p:cNvSpPr txBox="1"/>
            <p:nvPr/>
          </p:nvSpPr>
          <p:spPr>
            <a:xfrm>
              <a:off x="532978" y="1597968"/>
              <a:ext cx="5462614" cy="720725"/>
            </a:xfrm>
            <a:prstGeom prst="rect">
              <a:avLst/>
            </a:prstGeom>
          </p:spPr>
          <p:txBody>
            <a:bodyPr lIns="0" tIns="0" rIns="0" bIns="0" rtlCol="0" anchor="t">
              <a:spAutoFit/>
            </a:bodyPr>
            <a:lstStyle/>
            <a:p>
              <a:pPr marL="0" lvl="0" indent="0" algn="ctr">
                <a:lnSpc>
                  <a:spcPts val="2163"/>
                </a:lnSpc>
                <a:spcBef>
                  <a:spcPct val="0"/>
                </a:spcBef>
              </a:pPr>
              <a:r>
                <a:rPr lang="en-US" sz="1803" b="1" u="none">
                  <a:solidFill>
                    <a:srgbClr val="201702"/>
                  </a:solidFill>
                  <a:latin typeface="Roboto Mono Bold"/>
                  <a:ea typeface="Roboto Mono Bold"/>
                  <a:cs typeface="Roboto Mono Bold"/>
                  <a:sym typeface="Roboto Mono Bold"/>
                </a:rPr>
                <a:t>Informed decisions based on accurate and timely data.</a:t>
              </a:r>
            </a:p>
          </p:txBody>
        </p:sp>
      </p:grpSp>
      <p:grpSp>
        <p:nvGrpSpPr>
          <p:cNvPr id="78" name="Group 78"/>
          <p:cNvGrpSpPr/>
          <p:nvPr/>
        </p:nvGrpSpPr>
        <p:grpSpPr>
          <a:xfrm>
            <a:off x="12434103" y="7037691"/>
            <a:ext cx="4514245" cy="2005720"/>
            <a:chOff x="0" y="0"/>
            <a:chExt cx="6018993" cy="2674293"/>
          </a:xfrm>
        </p:grpSpPr>
        <p:grpSp>
          <p:nvGrpSpPr>
            <p:cNvPr id="79" name="Group 79"/>
            <p:cNvGrpSpPr/>
            <p:nvPr/>
          </p:nvGrpSpPr>
          <p:grpSpPr>
            <a:xfrm>
              <a:off x="2236429" y="552888"/>
              <a:ext cx="1546135" cy="746672"/>
              <a:chOff x="0" y="0"/>
              <a:chExt cx="1183407" cy="571500"/>
            </a:xfrm>
          </p:grpSpPr>
          <p:sp>
            <p:nvSpPr>
              <p:cNvPr id="80" name="Freeform 80"/>
              <p:cNvSpPr/>
              <p:nvPr/>
            </p:nvSpPr>
            <p:spPr>
              <a:xfrm>
                <a:off x="0" y="255270"/>
                <a:ext cx="1183407" cy="69850"/>
              </a:xfrm>
              <a:custGeom>
                <a:avLst/>
                <a:gdLst/>
                <a:ahLst/>
                <a:cxnLst/>
                <a:rect l="l" t="t" r="r" b="b"/>
                <a:pathLst>
                  <a:path w="1183407" h="69850">
                    <a:moveTo>
                      <a:pt x="892577" y="0"/>
                    </a:moveTo>
                    <a:lnTo>
                      <a:pt x="0" y="0"/>
                    </a:lnTo>
                    <a:lnTo>
                      <a:pt x="0" y="69850"/>
                    </a:lnTo>
                    <a:lnTo>
                      <a:pt x="1183407" y="69850"/>
                    </a:lnTo>
                    <a:lnTo>
                      <a:pt x="1183407" y="0"/>
                    </a:lnTo>
                    <a:close/>
                  </a:path>
                </a:pathLst>
              </a:custGeom>
              <a:solidFill>
                <a:srgbClr val="BE8884"/>
              </a:solidFill>
            </p:spPr>
            <p:txBody>
              <a:bodyPr/>
              <a:lstStyle/>
              <a:p>
                <a:endParaRPr lang="en-ZA"/>
              </a:p>
            </p:txBody>
          </p:sp>
        </p:grpSp>
        <p:sp>
          <p:nvSpPr>
            <p:cNvPr id="81" name="TextBox 81"/>
            <p:cNvSpPr txBox="1"/>
            <p:nvPr/>
          </p:nvSpPr>
          <p:spPr>
            <a:xfrm>
              <a:off x="0" y="-28575"/>
              <a:ext cx="6018993" cy="391743"/>
            </a:xfrm>
            <a:prstGeom prst="rect">
              <a:avLst/>
            </a:prstGeom>
          </p:spPr>
          <p:txBody>
            <a:bodyPr lIns="0" tIns="0" rIns="0" bIns="0" rtlCol="0" anchor="t">
              <a:spAutoFit/>
            </a:bodyPr>
            <a:lstStyle/>
            <a:p>
              <a:pPr marL="0" lvl="0" indent="0" algn="ctr">
                <a:lnSpc>
                  <a:spcPts val="2343"/>
                </a:lnSpc>
              </a:pPr>
              <a:r>
                <a:rPr lang="en-US" sz="1803" b="1" u="none" spc="-18">
                  <a:solidFill>
                    <a:srgbClr val="201702"/>
                  </a:solidFill>
                  <a:latin typeface="Roboto Mono Bold"/>
                  <a:ea typeface="Roboto Mono Bold"/>
                  <a:cs typeface="Roboto Mono Bold"/>
                  <a:sym typeface="Roboto Mono Bold"/>
                </a:rPr>
                <a:t>Scalability</a:t>
              </a:r>
            </a:p>
          </p:txBody>
        </p:sp>
        <p:sp>
          <p:nvSpPr>
            <p:cNvPr id="82" name="TextBox 82"/>
            <p:cNvSpPr txBox="1"/>
            <p:nvPr/>
          </p:nvSpPr>
          <p:spPr>
            <a:xfrm>
              <a:off x="278189" y="1597968"/>
              <a:ext cx="5462614" cy="1076325"/>
            </a:xfrm>
            <a:prstGeom prst="rect">
              <a:avLst/>
            </a:prstGeom>
          </p:spPr>
          <p:txBody>
            <a:bodyPr lIns="0" tIns="0" rIns="0" bIns="0" rtlCol="0" anchor="t">
              <a:spAutoFit/>
            </a:bodyPr>
            <a:lstStyle/>
            <a:p>
              <a:pPr marL="0" lvl="0" indent="0" algn="ctr">
                <a:lnSpc>
                  <a:spcPts val="2163"/>
                </a:lnSpc>
                <a:spcBef>
                  <a:spcPct val="0"/>
                </a:spcBef>
              </a:pPr>
              <a:r>
                <a:rPr lang="en-US" sz="1803" b="1" u="none">
                  <a:solidFill>
                    <a:srgbClr val="201702"/>
                  </a:solidFill>
                  <a:latin typeface="Roboto Mono Bold"/>
                  <a:ea typeface="Roboto Mono Bold"/>
                  <a:cs typeface="Roboto Mono Bold"/>
                  <a:sym typeface="Roboto Mono Bold"/>
                </a:rPr>
                <a:t>Easily adapts to growing campus needs and user demands.</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E8884"/>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774411" cy="1275665"/>
            <a:chOff x="0" y="0"/>
            <a:chExt cx="17032548" cy="1700887"/>
          </a:xfrm>
        </p:grpSpPr>
        <p:sp>
          <p:nvSpPr>
            <p:cNvPr id="3" name="AutoShape 3"/>
            <p:cNvSpPr/>
            <p:nvPr/>
          </p:nvSpPr>
          <p:spPr>
            <a:xfrm>
              <a:off x="6244478" y="1133924"/>
              <a:ext cx="1133924" cy="566962"/>
            </a:xfrm>
            <a:prstGeom prst="rect">
              <a:avLst/>
            </a:prstGeom>
            <a:solidFill>
              <a:srgbClr val="FCDFDD"/>
            </a:solidFill>
          </p:spPr>
          <p:txBody>
            <a:bodyPr/>
            <a:lstStyle/>
            <a:p>
              <a:endParaRPr lang="en-ZA"/>
            </a:p>
          </p:txBody>
        </p:sp>
        <p:sp>
          <p:nvSpPr>
            <p:cNvPr id="4" name="AutoShape 4"/>
            <p:cNvSpPr/>
            <p:nvPr/>
          </p:nvSpPr>
          <p:spPr>
            <a:xfrm>
              <a:off x="8516274" y="1133924"/>
              <a:ext cx="1141818" cy="566962"/>
            </a:xfrm>
            <a:prstGeom prst="rect">
              <a:avLst/>
            </a:prstGeom>
            <a:solidFill>
              <a:srgbClr val="BDA565"/>
            </a:solidFill>
          </p:spPr>
          <p:txBody>
            <a:bodyPr/>
            <a:lstStyle/>
            <a:p>
              <a:endParaRPr lang="en-ZA"/>
            </a:p>
          </p:txBody>
        </p:sp>
        <p:sp>
          <p:nvSpPr>
            <p:cNvPr id="5" name="AutoShape 5"/>
            <p:cNvSpPr/>
            <p:nvPr/>
          </p:nvSpPr>
          <p:spPr>
            <a:xfrm>
              <a:off x="7949312" y="0"/>
              <a:ext cx="566962" cy="566962"/>
            </a:xfrm>
            <a:prstGeom prst="rect">
              <a:avLst/>
            </a:prstGeom>
            <a:solidFill>
              <a:srgbClr val="FCDFDD"/>
            </a:solidFill>
          </p:spPr>
          <p:txBody>
            <a:bodyPr/>
            <a:lstStyle/>
            <a:p>
              <a:endParaRPr lang="en-ZA"/>
            </a:p>
          </p:txBody>
        </p:sp>
        <p:sp>
          <p:nvSpPr>
            <p:cNvPr id="6" name="AutoShape 6"/>
            <p:cNvSpPr/>
            <p:nvPr/>
          </p:nvSpPr>
          <p:spPr>
            <a:xfrm>
              <a:off x="9654145" y="0"/>
              <a:ext cx="566962" cy="566962"/>
            </a:xfrm>
            <a:prstGeom prst="rect">
              <a:avLst/>
            </a:prstGeom>
            <a:solidFill>
              <a:srgbClr val="BDA565"/>
            </a:solidFill>
          </p:spPr>
          <p:txBody>
            <a:bodyPr/>
            <a:lstStyle/>
            <a:p>
              <a:endParaRPr lang="en-ZA"/>
            </a:p>
          </p:txBody>
        </p:sp>
        <p:sp>
          <p:nvSpPr>
            <p:cNvPr id="7" name="AutoShape 7"/>
            <p:cNvSpPr/>
            <p:nvPr/>
          </p:nvSpPr>
          <p:spPr>
            <a:xfrm>
              <a:off x="8512327" y="566962"/>
              <a:ext cx="566962" cy="566962"/>
            </a:xfrm>
            <a:prstGeom prst="rect">
              <a:avLst/>
            </a:prstGeom>
            <a:solidFill>
              <a:srgbClr val="FCDFDD"/>
            </a:solidFill>
          </p:spPr>
          <p:txBody>
            <a:bodyPr/>
            <a:lstStyle/>
            <a:p>
              <a:endParaRPr lang="en-ZA"/>
            </a:p>
          </p:txBody>
        </p:sp>
        <p:sp>
          <p:nvSpPr>
            <p:cNvPr id="8" name="AutoShape 8"/>
            <p:cNvSpPr/>
            <p:nvPr/>
          </p:nvSpPr>
          <p:spPr>
            <a:xfrm>
              <a:off x="7949312" y="1133924"/>
              <a:ext cx="566962" cy="566962"/>
            </a:xfrm>
            <a:prstGeom prst="rect">
              <a:avLst/>
            </a:prstGeom>
            <a:solidFill>
              <a:srgbClr val="FCDFDD"/>
            </a:solidFill>
          </p:spPr>
          <p:txBody>
            <a:bodyPr/>
            <a:lstStyle/>
            <a:p>
              <a:endParaRPr lang="en-ZA"/>
            </a:p>
          </p:txBody>
        </p:sp>
        <p:sp>
          <p:nvSpPr>
            <p:cNvPr id="9" name="AutoShape 9"/>
            <p:cNvSpPr/>
            <p:nvPr/>
          </p:nvSpPr>
          <p:spPr>
            <a:xfrm>
              <a:off x="6811440" y="0"/>
              <a:ext cx="566962" cy="566962"/>
            </a:xfrm>
            <a:prstGeom prst="rect">
              <a:avLst/>
            </a:prstGeom>
            <a:solidFill>
              <a:srgbClr val="FCDFDD"/>
            </a:solidFill>
          </p:spPr>
          <p:txBody>
            <a:bodyPr/>
            <a:lstStyle/>
            <a:p>
              <a:endParaRPr lang="en-ZA"/>
            </a:p>
          </p:txBody>
        </p:sp>
        <p:sp>
          <p:nvSpPr>
            <p:cNvPr id="10" name="AutoShape 10"/>
            <p:cNvSpPr/>
            <p:nvPr/>
          </p:nvSpPr>
          <p:spPr>
            <a:xfrm>
              <a:off x="10788070" y="566962"/>
              <a:ext cx="566962" cy="566962"/>
            </a:xfrm>
            <a:prstGeom prst="rect">
              <a:avLst/>
            </a:prstGeom>
            <a:solidFill>
              <a:srgbClr val="BDA565"/>
            </a:solidFill>
          </p:spPr>
          <p:txBody>
            <a:bodyPr/>
            <a:lstStyle/>
            <a:p>
              <a:endParaRPr lang="en-ZA"/>
            </a:p>
          </p:txBody>
        </p:sp>
        <p:sp>
          <p:nvSpPr>
            <p:cNvPr id="11" name="AutoShape 11"/>
            <p:cNvSpPr/>
            <p:nvPr/>
          </p:nvSpPr>
          <p:spPr>
            <a:xfrm>
              <a:off x="10221107" y="566962"/>
              <a:ext cx="566962" cy="566962"/>
            </a:xfrm>
            <a:prstGeom prst="rect">
              <a:avLst/>
            </a:prstGeom>
            <a:solidFill>
              <a:srgbClr val="FCDFDD"/>
            </a:solidFill>
          </p:spPr>
          <p:txBody>
            <a:bodyPr/>
            <a:lstStyle/>
            <a:p>
              <a:endParaRPr lang="en-ZA"/>
            </a:p>
          </p:txBody>
        </p:sp>
        <p:sp>
          <p:nvSpPr>
            <p:cNvPr id="12" name="AutoShape 12"/>
            <p:cNvSpPr/>
            <p:nvPr/>
          </p:nvSpPr>
          <p:spPr>
            <a:xfrm>
              <a:off x="5677516" y="566962"/>
              <a:ext cx="1133924" cy="566962"/>
            </a:xfrm>
            <a:prstGeom prst="rect">
              <a:avLst/>
            </a:prstGeom>
            <a:solidFill>
              <a:srgbClr val="FCDFDD"/>
            </a:solidFill>
          </p:spPr>
          <p:txBody>
            <a:bodyPr/>
            <a:lstStyle/>
            <a:p>
              <a:endParaRPr lang="en-ZA"/>
            </a:p>
          </p:txBody>
        </p:sp>
        <p:sp>
          <p:nvSpPr>
            <p:cNvPr id="13" name="AutoShape 13"/>
            <p:cNvSpPr/>
            <p:nvPr/>
          </p:nvSpPr>
          <p:spPr>
            <a:xfrm>
              <a:off x="566962" y="1133924"/>
              <a:ext cx="1133924" cy="566962"/>
            </a:xfrm>
            <a:prstGeom prst="rect">
              <a:avLst/>
            </a:prstGeom>
            <a:solidFill>
              <a:srgbClr val="FCDFDD"/>
            </a:solidFill>
          </p:spPr>
          <p:txBody>
            <a:bodyPr/>
            <a:lstStyle/>
            <a:p>
              <a:endParaRPr lang="en-ZA"/>
            </a:p>
          </p:txBody>
        </p:sp>
        <p:sp>
          <p:nvSpPr>
            <p:cNvPr id="14" name="AutoShape 14"/>
            <p:cNvSpPr/>
            <p:nvPr/>
          </p:nvSpPr>
          <p:spPr>
            <a:xfrm>
              <a:off x="2838758" y="1133924"/>
              <a:ext cx="1141818" cy="566962"/>
            </a:xfrm>
            <a:prstGeom prst="rect">
              <a:avLst/>
            </a:prstGeom>
            <a:solidFill>
              <a:srgbClr val="BDA565"/>
            </a:solidFill>
          </p:spPr>
          <p:txBody>
            <a:bodyPr/>
            <a:lstStyle/>
            <a:p>
              <a:endParaRPr lang="en-ZA"/>
            </a:p>
          </p:txBody>
        </p:sp>
        <p:sp>
          <p:nvSpPr>
            <p:cNvPr id="15" name="AutoShape 15"/>
            <p:cNvSpPr/>
            <p:nvPr/>
          </p:nvSpPr>
          <p:spPr>
            <a:xfrm>
              <a:off x="2271796" y="0"/>
              <a:ext cx="566962" cy="566962"/>
            </a:xfrm>
            <a:prstGeom prst="rect">
              <a:avLst/>
            </a:prstGeom>
            <a:solidFill>
              <a:srgbClr val="FCDFDD"/>
            </a:solidFill>
          </p:spPr>
          <p:txBody>
            <a:bodyPr/>
            <a:lstStyle/>
            <a:p>
              <a:endParaRPr lang="en-ZA"/>
            </a:p>
          </p:txBody>
        </p:sp>
        <p:sp>
          <p:nvSpPr>
            <p:cNvPr id="16" name="AutoShape 16"/>
            <p:cNvSpPr/>
            <p:nvPr/>
          </p:nvSpPr>
          <p:spPr>
            <a:xfrm>
              <a:off x="3976629" y="0"/>
              <a:ext cx="566962" cy="566962"/>
            </a:xfrm>
            <a:prstGeom prst="rect">
              <a:avLst/>
            </a:prstGeom>
            <a:solidFill>
              <a:srgbClr val="BDA565"/>
            </a:solidFill>
          </p:spPr>
          <p:txBody>
            <a:bodyPr/>
            <a:lstStyle/>
            <a:p>
              <a:endParaRPr lang="en-ZA"/>
            </a:p>
          </p:txBody>
        </p:sp>
        <p:sp>
          <p:nvSpPr>
            <p:cNvPr id="17" name="AutoShape 17"/>
            <p:cNvSpPr/>
            <p:nvPr/>
          </p:nvSpPr>
          <p:spPr>
            <a:xfrm>
              <a:off x="2834811" y="566962"/>
              <a:ext cx="566962" cy="566962"/>
            </a:xfrm>
            <a:prstGeom prst="rect">
              <a:avLst/>
            </a:prstGeom>
            <a:solidFill>
              <a:srgbClr val="FCDFDD"/>
            </a:solidFill>
          </p:spPr>
          <p:txBody>
            <a:bodyPr/>
            <a:lstStyle/>
            <a:p>
              <a:endParaRPr lang="en-ZA"/>
            </a:p>
          </p:txBody>
        </p:sp>
        <p:sp>
          <p:nvSpPr>
            <p:cNvPr id="18" name="AutoShape 18"/>
            <p:cNvSpPr/>
            <p:nvPr/>
          </p:nvSpPr>
          <p:spPr>
            <a:xfrm>
              <a:off x="2271796" y="1133924"/>
              <a:ext cx="566962" cy="566962"/>
            </a:xfrm>
            <a:prstGeom prst="rect">
              <a:avLst/>
            </a:prstGeom>
            <a:solidFill>
              <a:srgbClr val="FCDFDD"/>
            </a:solidFill>
          </p:spPr>
          <p:txBody>
            <a:bodyPr/>
            <a:lstStyle/>
            <a:p>
              <a:endParaRPr lang="en-ZA"/>
            </a:p>
          </p:txBody>
        </p:sp>
        <p:sp>
          <p:nvSpPr>
            <p:cNvPr id="19" name="AutoShape 19"/>
            <p:cNvSpPr/>
            <p:nvPr/>
          </p:nvSpPr>
          <p:spPr>
            <a:xfrm>
              <a:off x="1133924" y="0"/>
              <a:ext cx="566962" cy="566962"/>
            </a:xfrm>
            <a:prstGeom prst="rect">
              <a:avLst/>
            </a:prstGeom>
            <a:solidFill>
              <a:srgbClr val="FCDFDD"/>
            </a:solidFill>
          </p:spPr>
          <p:txBody>
            <a:bodyPr/>
            <a:lstStyle/>
            <a:p>
              <a:endParaRPr lang="en-ZA"/>
            </a:p>
          </p:txBody>
        </p:sp>
        <p:sp>
          <p:nvSpPr>
            <p:cNvPr id="20" name="AutoShape 20"/>
            <p:cNvSpPr/>
            <p:nvPr/>
          </p:nvSpPr>
          <p:spPr>
            <a:xfrm>
              <a:off x="5110554" y="566962"/>
              <a:ext cx="566962" cy="566962"/>
            </a:xfrm>
            <a:prstGeom prst="rect">
              <a:avLst/>
            </a:prstGeom>
            <a:solidFill>
              <a:srgbClr val="BDA565"/>
            </a:solidFill>
          </p:spPr>
          <p:txBody>
            <a:bodyPr/>
            <a:lstStyle/>
            <a:p>
              <a:endParaRPr lang="en-ZA"/>
            </a:p>
          </p:txBody>
        </p:sp>
        <p:sp>
          <p:nvSpPr>
            <p:cNvPr id="21" name="AutoShape 21"/>
            <p:cNvSpPr/>
            <p:nvPr/>
          </p:nvSpPr>
          <p:spPr>
            <a:xfrm>
              <a:off x="4543591" y="566962"/>
              <a:ext cx="566962" cy="566962"/>
            </a:xfrm>
            <a:prstGeom prst="rect">
              <a:avLst/>
            </a:prstGeom>
            <a:solidFill>
              <a:srgbClr val="FCDFDD"/>
            </a:solidFill>
          </p:spPr>
          <p:txBody>
            <a:bodyPr/>
            <a:lstStyle/>
            <a:p>
              <a:endParaRPr lang="en-ZA"/>
            </a:p>
          </p:txBody>
        </p:sp>
        <p:sp>
          <p:nvSpPr>
            <p:cNvPr id="22" name="AutoShape 22"/>
            <p:cNvSpPr/>
            <p:nvPr/>
          </p:nvSpPr>
          <p:spPr>
            <a:xfrm>
              <a:off x="0" y="566962"/>
              <a:ext cx="1133924" cy="566962"/>
            </a:xfrm>
            <a:prstGeom prst="rect">
              <a:avLst/>
            </a:prstGeom>
            <a:solidFill>
              <a:srgbClr val="FCDFDD"/>
            </a:solidFill>
          </p:spPr>
          <p:txBody>
            <a:bodyPr/>
            <a:lstStyle/>
            <a:p>
              <a:endParaRPr lang="en-ZA"/>
            </a:p>
          </p:txBody>
        </p:sp>
        <p:sp>
          <p:nvSpPr>
            <p:cNvPr id="23" name="AutoShape 23"/>
            <p:cNvSpPr/>
            <p:nvPr/>
          </p:nvSpPr>
          <p:spPr>
            <a:xfrm>
              <a:off x="11921994" y="1133924"/>
              <a:ext cx="1133924" cy="566962"/>
            </a:xfrm>
            <a:prstGeom prst="rect">
              <a:avLst/>
            </a:prstGeom>
            <a:solidFill>
              <a:srgbClr val="FCDFDD"/>
            </a:solidFill>
          </p:spPr>
          <p:txBody>
            <a:bodyPr/>
            <a:lstStyle/>
            <a:p>
              <a:endParaRPr lang="en-ZA"/>
            </a:p>
          </p:txBody>
        </p:sp>
        <p:sp>
          <p:nvSpPr>
            <p:cNvPr id="24" name="AutoShape 24"/>
            <p:cNvSpPr/>
            <p:nvPr/>
          </p:nvSpPr>
          <p:spPr>
            <a:xfrm>
              <a:off x="14193790" y="1133924"/>
              <a:ext cx="1141818" cy="566962"/>
            </a:xfrm>
            <a:prstGeom prst="rect">
              <a:avLst/>
            </a:prstGeom>
            <a:solidFill>
              <a:srgbClr val="BDA565"/>
            </a:solidFill>
          </p:spPr>
          <p:txBody>
            <a:bodyPr/>
            <a:lstStyle/>
            <a:p>
              <a:endParaRPr lang="en-ZA"/>
            </a:p>
          </p:txBody>
        </p:sp>
        <p:sp>
          <p:nvSpPr>
            <p:cNvPr id="25" name="AutoShape 25"/>
            <p:cNvSpPr/>
            <p:nvPr/>
          </p:nvSpPr>
          <p:spPr>
            <a:xfrm>
              <a:off x="13626828" y="0"/>
              <a:ext cx="566962" cy="566962"/>
            </a:xfrm>
            <a:prstGeom prst="rect">
              <a:avLst/>
            </a:prstGeom>
            <a:solidFill>
              <a:srgbClr val="FCDFDD"/>
            </a:solidFill>
          </p:spPr>
          <p:txBody>
            <a:bodyPr/>
            <a:lstStyle/>
            <a:p>
              <a:endParaRPr lang="en-ZA"/>
            </a:p>
          </p:txBody>
        </p:sp>
        <p:sp>
          <p:nvSpPr>
            <p:cNvPr id="26" name="AutoShape 26"/>
            <p:cNvSpPr/>
            <p:nvPr/>
          </p:nvSpPr>
          <p:spPr>
            <a:xfrm>
              <a:off x="15331661" y="0"/>
              <a:ext cx="566962" cy="566962"/>
            </a:xfrm>
            <a:prstGeom prst="rect">
              <a:avLst/>
            </a:prstGeom>
            <a:solidFill>
              <a:srgbClr val="BDA565"/>
            </a:solidFill>
          </p:spPr>
          <p:txBody>
            <a:bodyPr/>
            <a:lstStyle/>
            <a:p>
              <a:endParaRPr lang="en-ZA"/>
            </a:p>
          </p:txBody>
        </p:sp>
        <p:sp>
          <p:nvSpPr>
            <p:cNvPr id="27" name="AutoShape 27"/>
            <p:cNvSpPr/>
            <p:nvPr/>
          </p:nvSpPr>
          <p:spPr>
            <a:xfrm>
              <a:off x="14189843" y="566962"/>
              <a:ext cx="566962" cy="566962"/>
            </a:xfrm>
            <a:prstGeom prst="rect">
              <a:avLst/>
            </a:prstGeom>
            <a:solidFill>
              <a:srgbClr val="FCDFDD"/>
            </a:solidFill>
          </p:spPr>
          <p:txBody>
            <a:bodyPr/>
            <a:lstStyle/>
            <a:p>
              <a:endParaRPr lang="en-ZA"/>
            </a:p>
          </p:txBody>
        </p:sp>
        <p:sp>
          <p:nvSpPr>
            <p:cNvPr id="28" name="AutoShape 28"/>
            <p:cNvSpPr/>
            <p:nvPr/>
          </p:nvSpPr>
          <p:spPr>
            <a:xfrm>
              <a:off x="13626828" y="1133924"/>
              <a:ext cx="566962" cy="566962"/>
            </a:xfrm>
            <a:prstGeom prst="rect">
              <a:avLst/>
            </a:prstGeom>
            <a:solidFill>
              <a:srgbClr val="FCDFDD"/>
            </a:solidFill>
          </p:spPr>
          <p:txBody>
            <a:bodyPr/>
            <a:lstStyle/>
            <a:p>
              <a:endParaRPr lang="en-ZA"/>
            </a:p>
          </p:txBody>
        </p:sp>
        <p:sp>
          <p:nvSpPr>
            <p:cNvPr id="29" name="AutoShape 29"/>
            <p:cNvSpPr/>
            <p:nvPr/>
          </p:nvSpPr>
          <p:spPr>
            <a:xfrm>
              <a:off x="12488956" y="0"/>
              <a:ext cx="566962" cy="566962"/>
            </a:xfrm>
            <a:prstGeom prst="rect">
              <a:avLst/>
            </a:prstGeom>
            <a:solidFill>
              <a:srgbClr val="FCDFDD"/>
            </a:solidFill>
          </p:spPr>
          <p:txBody>
            <a:bodyPr/>
            <a:lstStyle/>
            <a:p>
              <a:endParaRPr lang="en-ZA"/>
            </a:p>
          </p:txBody>
        </p:sp>
        <p:sp>
          <p:nvSpPr>
            <p:cNvPr id="30" name="AutoShape 30"/>
            <p:cNvSpPr/>
            <p:nvPr/>
          </p:nvSpPr>
          <p:spPr>
            <a:xfrm>
              <a:off x="16465586" y="566962"/>
              <a:ext cx="566962" cy="566962"/>
            </a:xfrm>
            <a:prstGeom prst="rect">
              <a:avLst/>
            </a:prstGeom>
            <a:solidFill>
              <a:srgbClr val="BDA565"/>
            </a:solidFill>
          </p:spPr>
          <p:txBody>
            <a:bodyPr/>
            <a:lstStyle/>
            <a:p>
              <a:endParaRPr lang="en-ZA"/>
            </a:p>
          </p:txBody>
        </p:sp>
        <p:sp>
          <p:nvSpPr>
            <p:cNvPr id="31" name="AutoShape 31"/>
            <p:cNvSpPr/>
            <p:nvPr/>
          </p:nvSpPr>
          <p:spPr>
            <a:xfrm>
              <a:off x="15898623" y="566962"/>
              <a:ext cx="566962" cy="566962"/>
            </a:xfrm>
            <a:prstGeom prst="rect">
              <a:avLst/>
            </a:prstGeom>
            <a:solidFill>
              <a:srgbClr val="FCDFDD"/>
            </a:solidFill>
          </p:spPr>
          <p:txBody>
            <a:bodyPr/>
            <a:lstStyle/>
            <a:p>
              <a:endParaRPr lang="en-ZA"/>
            </a:p>
          </p:txBody>
        </p:sp>
        <p:sp>
          <p:nvSpPr>
            <p:cNvPr id="32" name="AutoShape 32"/>
            <p:cNvSpPr/>
            <p:nvPr/>
          </p:nvSpPr>
          <p:spPr>
            <a:xfrm>
              <a:off x="11355032" y="566962"/>
              <a:ext cx="1133924" cy="566962"/>
            </a:xfrm>
            <a:prstGeom prst="rect">
              <a:avLst/>
            </a:prstGeom>
            <a:solidFill>
              <a:srgbClr val="FCDFDD"/>
            </a:solidFill>
          </p:spPr>
          <p:txBody>
            <a:bodyPr/>
            <a:lstStyle/>
            <a:p>
              <a:endParaRPr lang="en-ZA"/>
            </a:p>
          </p:txBody>
        </p:sp>
      </p:grpSp>
      <p:grpSp>
        <p:nvGrpSpPr>
          <p:cNvPr id="33" name="Group 33"/>
          <p:cNvGrpSpPr/>
          <p:nvPr/>
        </p:nvGrpSpPr>
        <p:grpSpPr>
          <a:xfrm>
            <a:off x="12774411" y="0"/>
            <a:ext cx="12774411" cy="1275665"/>
            <a:chOff x="0" y="0"/>
            <a:chExt cx="17032548" cy="1700887"/>
          </a:xfrm>
        </p:grpSpPr>
        <p:sp>
          <p:nvSpPr>
            <p:cNvPr id="34" name="AutoShape 34"/>
            <p:cNvSpPr/>
            <p:nvPr/>
          </p:nvSpPr>
          <p:spPr>
            <a:xfrm>
              <a:off x="6244478" y="1133924"/>
              <a:ext cx="1133924" cy="566962"/>
            </a:xfrm>
            <a:prstGeom prst="rect">
              <a:avLst/>
            </a:prstGeom>
            <a:solidFill>
              <a:srgbClr val="FCDFDD"/>
            </a:solidFill>
          </p:spPr>
          <p:txBody>
            <a:bodyPr/>
            <a:lstStyle/>
            <a:p>
              <a:endParaRPr lang="en-ZA"/>
            </a:p>
          </p:txBody>
        </p:sp>
        <p:sp>
          <p:nvSpPr>
            <p:cNvPr id="35" name="AutoShape 35"/>
            <p:cNvSpPr/>
            <p:nvPr/>
          </p:nvSpPr>
          <p:spPr>
            <a:xfrm>
              <a:off x="8516274" y="1133924"/>
              <a:ext cx="1141818" cy="566962"/>
            </a:xfrm>
            <a:prstGeom prst="rect">
              <a:avLst/>
            </a:prstGeom>
            <a:solidFill>
              <a:srgbClr val="BDA565"/>
            </a:solidFill>
          </p:spPr>
          <p:txBody>
            <a:bodyPr/>
            <a:lstStyle/>
            <a:p>
              <a:endParaRPr lang="en-ZA"/>
            </a:p>
          </p:txBody>
        </p:sp>
        <p:sp>
          <p:nvSpPr>
            <p:cNvPr id="36" name="AutoShape 36"/>
            <p:cNvSpPr/>
            <p:nvPr/>
          </p:nvSpPr>
          <p:spPr>
            <a:xfrm>
              <a:off x="7949312" y="0"/>
              <a:ext cx="566962" cy="566962"/>
            </a:xfrm>
            <a:prstGeom prst="rect">
              <a:avLst/>
            </a:prstGeom>
            <a:solidFill>
              <a:srgbClr val="FCDFDD"/>
            </a:solidFill>
          </p:spPr>
          <p:txBody>
            <a:bodyPr/>
            <a:lstStyle/>
            <a:p>
              <a:endParaRPr lang="en-ZA"/>
            </a:p>
          </p:txBody>
        </p:sp>
        <p:sp>
          <p:nvSpPr>
            <p:cNvPr id="37" name="AutoShape 37"/>
            <p:cNvSpPr/>
            <p:nvPr/>
          </p:nvSpPr>
          <p:spPr>
            <a:xfrm>
              <a:off x="9654145" y="0"/>
              <a:ext cx="566962" cy="566962"/>
            </a:xfrm>
            <a:prstGeom prst="rect">
              <a:avLst/>
            </a:prstGeom>
            <a:solidFill>
              <a:srgbClr val="BDA565"/>
            </a:solidFill>
          </p:spPr>
          <p:txBody>
            <a:bodyPr/>
            <a:lstStyle/>
            <a:p>
              <a:endParaRPr lang="en-ZA"/>
            </a:p>
          </p:txBody>
        </p:sp>
        <p:sp>
          <p:nvSpPr>
            <p:cNvPr id="38" name="AutoShape 38"/>
            <p:cNvSpPr/>
            <p:nvPr/>
          </p:nvSpPr>
          <p:spPr>
            <a:xfrm>
              <a:off x="8512327" y="566962"/>
              <a:ext cx="566962" cy="566962"/>
            </a:xfrm>
            <a:prstGeom prst="rect">
              <a:avLst/>
            </a:prstGeom>
            <a:solidFill>
              <a:srgbClr val="FCDFDD"/>
            </a:solidFill>
          </p:spPr>
          <p:txBody>
            <a:bodyPr/>
            <a:lstStyle/>
            <a:p>
              <a:endParaRPr lang="en-ZA"/>
            </a:p>
          </p:txBody>
        </p:sp>
        <p:sp>
          <p:nvSpPr>
            <p:cNvPr id="39" name="AutoShape 39"/>
            <p:cNvSpPr/>
            <p:nvPr/>
          </p:nvSpPr>
          <p:spPr>
            <a:xfrm>
              <a:off x="7949312" y="1133924"/>
              <a:ext cx="566962" cy="566962"/>
            </a:xfrm>
            <a:prstGeom prst="rect">
              <a:avLst/>
            </a:prstGeom>
            <a:solidFill>
              <a:srgbClr val="FCDFDD"/>
            </a:solidFill>
          </p:spPr>
          <p:txBody>
            <a:bodyPr/>
            <a:lstStyle/>
            <a:p>
              <a:endParaRPr lang="en-ZA"/>
            </a:p>
          </p:txBody>
        </p:sp>
        <p:sp>
          <p:nvSpPr>
            <p:cNvPr id="40" name="AutoShape 40"/>
            <p:cNvSpPr/>
            <p:nvPr/>
          </p:nvSpPr>
          <p:spPr>
            <a:xfrm>
              <a:off x="6811440" y="0"/>
              <a:ext cx="566962" cy="566962"/>
            </a:xfrm>
            <a:prstGeom prst="rect">
              <a:avLst/>
            </a:prstGeom>
            <a:solidFill>
              <a:srgbClr val="FCDFDD"/>
            </a:solidFill>
          </p:spPr>
          <p:txBody>
            <a:bodyPr/>
            <a:lstStyle/>
            <a:p>
              <a:endParaRPr lang="en-ZA"/>
            </a:p>
          </p:txBody>
        </p:sp>
        <p:sp>
          <p:nvSpPr>
            <p:cNvPr id="41" name="AutoShape 41"/>
            <p:cNvSpPr/>
            <p:nvPr/>
          </p:nvSpPr>
          <p:spPr>
            <a:xfrm>
              <a:off x="10788070" y="566962"/>
              <a:ext cx="566962" cy="566962"/>
            </a:xfrm>
            <a:prstGeom prst="rect">
              <a:avLst/>
            </a:prstGeom>
            <a:solidFill>
              <a:srgbClr val="BDA565"/>
            </a:solidFill>
          </p:spPr>
          <p:txBody>
            <a:bodyPr/>
            <a:lstStyle/>
            <a:p>
              <a:endParaRPr lang="en-ZA"/>
            </a:p>
          </p:txBody>
        </p:sp>
        <p:sp>
          <p:nvSpPr>
            <p:cNvPr id="42" name="AutoShape 42"/>
            <p:cNvSpPr/>
            <p:nvPr/>
          </p:nvSpPr>
          <p:spPr>
            <a:xfrm>
              <a:off x="10221107" y="566962"/>
              <a:ext cx="566962" cy="566962"/>
            </a:xfrm>
            <a:prstGeom prst="rect">
              <a:avLst/>
            </a:prstGeom>
            <a:solidFill>
              <a:srgbClr val="FCDFDD"/>
            </a:solidFill>
          </p:spPr>
          <p:txBody>
            <a:bodyPr/>
            <a:lstStyle/>
            <a:p>
              <a:endParaRPr lang="en-ZA"/>
            </a:p>
          </p:txBody>
        </p:sp>
        <p:sp>
          <p:nvSpPr>
            <p:cNvPr id="43" name="AutoShape 43"/>
            <p:cNvSpPr/>
            <p:nvPr/>
          </p:nvSpPr>
          <p:spPr>
            <a:xfrm>
              <a:off x="5677516" y="566962"/>
              <a:ext cx="1133924" cy="566962"/>
            </a:xfrm>
            <a:prstGeom prst="rect">
              <a:avLst/>
            </a:prstGeom>
            <a:solidFill>
              <a:srgbClr val="FCDFDD"/>
            </a:solidFill>
          </p:spPr>
          <p:txBody>
            <a:bodyPr/>
            <a:lstStyle/>
            <a:p>
              <a:endParaRPr lang="en-ZA"/>
            </a:p>
          </p:txBody>
        </p:sp>
        <p:sp>
          <p:nvSpPr>
            <p:cNvPr id="44" name="AutoShape 44"/>
            <p:cNvSpPr/>
            <p:nvPr/>
          </p:nvSpPr>
          <p:spPr>
            <a:xfrm>
              <a:off x="566962" y="1133924"/>
              <a:ext cx="1133924" cy="566962"/>
            </a:xfrm>
            <a:prstGeom prst="rect">
              <a:avLst/>
            </a:prstGeom>
            <a:solidFill>
              <a:srgbClr val="FCDFDD"/>
            </a:solidFill>
          </p:spPr>
          <p:txBody>
            <a:bodyPr/>
            <a:lstStyle/>
            <a:p>
              <a:endParaRPr lang="en-ZA"/>
            </a:p>
          </p:txBody>
        </p:sp>
        <p:sp>
          <p:nvSpPr>
            <p:cNvPr id="45" name="AutoShape 45"/>
            <p:cNvSpPr/>
            <p:nvPr/>
          </p:nvSpPr>
          <p:spPr>
            <a:xfrm>
              <a:off x="2838758" y="1133924"/>
              <a:ext cx="1141818" cy="566962"/>
            </a:xfrm>
            <a:prstGeom prst="rect">
              <a:avLst/>
            </a:prstGeom>
            <a:solidFill>
              <a:srgbClr val="BDA565"/>
            </a:solidFill>
          </p:spPr>
          <p:txBody>
            <a:bodyPr/>
            <a:lstStyle/>
            <a:p>
              <a:endParaRPr lang="en-ZA"/>
            </a:p>
          </p:txBody>
        </p:sp>
        <p:sp>
          <p:nvSpPr>
            <p:cNvPr id="46" name="AutoShape 46"/>
            <p:cNvSpPr/>
            <p:nvPr/>
          </p:nvSpPr>
          <p:spPr>
            <a:xfrm>
              <a:off x="2271796" y="0"/>
              <a:ext cx="566962" cy="566962"/>
            </a:xfrm>
            <a:prstGeom prst="rect">
              <a:avLst/>
            </a:prstGeom>
            <a:solidFill>
              <a:srgbClr val="FCDFDD"/>
            </a:solidFill>
          </p:spPr>
          <p:txBody>
            <a:bodyPr/>
            <a:lstStyle/>
            <a:p>
              <a:endParaRPr lang="en-ZA"/>
            </a:p>
          </p:txBody>
        </p:sp>
        <p:sp>
          <p:nvSpPr>
            <p:cNvPr id="47" name="AutoShape 47"/>
            <p:cNvSpPr/>
            <p:nvPr/>
          </p:nvSpPr>
          <p:spPr>
            <a:xfrm>
              <a:off x="3976629" y="0"/>
              <a:ext cx="566962" cy="566962"/>
            </a:xfrm>
            <a:prstGeom prst="rect">
              <a:avLst/>
            </a:prstGeom>
            <a:solidFill>
              <a:srgbClr val="BDA565"/>
            </a:solidFill>
          </p:spPr>
          <p:txBody>
            <a:bodyPr/>
            <a:lstStyle/>
            <a:p>
              <a:endParaRPr lang="en-ZA"/>
            </a:p>
          </p:txBody>
        </p:sp>
        <p:sp>
          <p:nvSpPr>
            <p:cNvPr id="48" name="AutoShape 48"/>
            <p:cNvSpPr/>
            <p:nvPr/>
          </p:nvSpPr>
          <p:spPr>
            <a:xfrm>
              <a:off x="2834811" y="566962"/>
              <a:ext cx="566962" cy="566962"/>
            </a:xfrm>
            <a:prstGeom prst="rect">
              <a:avLst/>
            </a:prstGeom>
            <a:solidFill>
              <a:srgbClr val="FCDFDD"/>
            </a:solidFill>
          </p:spPr>
          <p:txBody>
            <a:bodyPr/>
            <a:lstStyle/>
            <a:p>
              <a:endParaRPr lang="en-ZA"/>
            </a:p>
          </p:txBody>
        </p:sp>
        <p:sp>
          <p:nvSpPr>
            <p:cNvPr id="49" name="AutoShape 49"/>
            <p:cNvSpPr/>
            <p:nvPr/>
          </p:nvSpPr>
          <p:spPr>
            <a:xfrm>
              <a:off x="2271796" y="1133924"/>
              <a:ext cx="566962" cy="566962"/>
            </a:xfrm>
            <a:prstGeom prst="rect">
              <a:avLst/>
            </a:prstGeom>
            <a:solidFill>
              <a:srgbClr val="FCDFDD"/>
            </a:solidFill>
          </p:spPr>
          <p:txBody>
            <a:bodyPr/>
            <a:lstStyle/>
            <a:p>
              <a:endParaRPr lang="en-ZA"/>
            </a:p>
          </p:txBody>
        </p:sp>
        <p:sp>
          <p:nvSpPr>
            <p:cNvPr id="50" name="AutoShape 50"/>
            <p:cNvSpPr/>
            <p:nvPr/>
          </p:nvSpPr>
          <p:spPr>
            <a:xfrm>
              <a:off x="1133924" y="0"/>
              <a:ext cx="566962" cy="566962"/>
            </a:xfrm>
            <a:prstGeom prst="rect">
              <a:avLst/>
            </a:prstGeom>
            <a:solidFill>
              <a:srgbClr val="FCDFDD"/>
            </a:solidFill>
          </p:spPr>
          <p:txBody>
            <a:bodyPr/>
            <a:lstStyle/>
            <a:p>
              <a:endParaRPr lang="en-ZA"/>
            </a:p>
          </p:txBody>
        </p:sp>
        <p:sp>
          <p:nvSpPr>
            <p:cNvPr id="51" name="AutoShape 51"/>
            <p:cNvSpPr/>
            <p:nvPr/>
          </p:nvSpPr>
          <p:spPr>
            <a:xfrm>
              <a:off x="5110554" y="566962"/>
              <a:ext cx="566962" cy="566962"/>
            </a:xfrm>
            <a:prstGeom prst="rect">
              <a:avLst/>
            </a:prstGeom>
            <a:solidFill>
              <a:srgbClr val="BDA565"/>
            </a:solidFill>
          </p:spPr>
          <p:txBody>
            <a:bodyPr/>
            <a:lstStyle/>
            <a:p>
              <a:endParaRPr lang="en-ZA"/>
            </a:p>
          </p:txBody>
        </p:sp>
        <p:sp>
          <p:nvSpPr>
            <p:cNvPr id="52" name="AutoShape 52"/>
            <p:cNvSpPr/>
            <p:nvPr/>
          </p:nvSpPr>
          <p:spPr>
            <a:xfrm>
              <a:off x="4543591" y="566962"/>
              <a:ext cx="566962" cy="566962"/>
            </a:xfrm>
            <a:prstGeom prst="rect">
              <a:avLst/>
            </a:prstGeom>
            <a:solidFill>
              <a:srgbClr val="FCDFDD"/>
            </a:solidFill>
          </p:spPr>
          <p:txBody>
            <a:bodyPr/>
            <a:lstStyle/>
            <a:p>
              <a:endParaRPr lang="en-ZA"/>
            </a:p>
          </p:txBody>
        </p:sp>
        <p:sp>
          <p:nvSpPr>
            <p:cNvPr id="53" name="AutoShape 53"/>
            <p:cNvSpPr/>
            <p:nvPr/>
          </p:nvSpPr>
          <p:spPr>
            <a:xfrm>
              <a:off x="0" y="566962"/>
              <a:ext cx="1133924" cy="566962"/>
            </a:xfrm>
            <a:prstGeom prst="rect">
              <a:avLst/>
            </a:prstGeom>
            <a:solidFill>
              <a:srgbClr val="FCDFDD"/>
            </a:solidFill>
          </p:spPr>
          <p:txBody>
            <a:bodyPr/>
            <a:lstStyle/>
            <a:p>
              <a:endParaRPr lang="en-ZA"/>
            </a:p>
          </p:txBody>
        </p:sp>
        <p:sp>
          <p:nvSpPr>
            <p:cNvPr id="54" name="AutoShape 54"/>
            <p:cNvSpPr/>
            <p:nvPr/>
          </p:nvSpPr>
          <p:spPr>
            <a:xfrm>
              <a:off x="11921994" y="1133924"/>
              <a:ext cx="1133924" cy="566962"/>
            </a:xfrm>
            <a:prstGeom prst="rect">
              <a:avLst/>
            </a:prstGeom>
            <a:solidFill>
              <a:srgbClr val="FCDFDD"/>
            </a:solidFill>
          </p:spPr>
          <p:txBody>
            <a:bodyPr/>
            <a:lstStyle/>
            <a:p>
              <a:endParaRPr lang="en-ZA"/>
            </a:p>
          </p:txBody>
        </p:sp>
        <p:sp>
          <p:nvSpPr>
            <p:cNvPr id="55" name="AutoShape 55"/>
            <p:cNvSpPr/>
            <p:nvPr/>
          </p:nvSpPr>
          <p:spPr>
            <a:xfrm>
              <a:off x="14193790" y="1133924"/>
              <a:ext cx="1141818" cy="566962"/>
            </a:xfrm>
            <a:prstGeom prst="rect">
              <a:avLst/>
            </a:prstGeom>
            <a:solidFill>
              <a:srgbClr val="BDA565"/>
            </a:solidFill>
          </p:spPr>
          <p:txBody>
            <a:bodyPr/>
            <a:lstStyle/>
            <a:p>
              <a:endParaRPr lang="en-ZA"/>
            </a:p>
          </p:txBody>
        </p:sp>
        <p:sp>
          <p:nvSpPr>
            <p:cNvPr id="56" name="AutoShape 56"/>
            <p:cNvSpPr/>
            <p:nvPr/>
          </p:nvSpPr>
          <p:spPr>
            <a:xfrm>
              <a:off x="13626828" y="0"/>
              <a:ext cx="566962" cy="566962"/>
            </a:xfrm>
            <a:prstGeom prst="rect">
              <a:avLst/>
            </a:prstGeom>
            <a:solidFill>
              <a:srgbClr val="FCDFDD"/>
            </a:solidFill>
          </p:spPr>
          <p:txBody>
            <a:bodyPr/>
            <a:lstStyle/>
            <a:p>
              <a:endParaRPr lang="en-ZA"/>
            </a:p>
          </p:txBody>
        </p:sp>
        <p:sp>
          <p:nvSpPr>
            <p:cNvPr id="57" name="AutoShape 57"/>
            <p:cNvSpPr/>
            <p:nvPr/>
          </p:nvSpPr>
          <p:spPr>
            <a:xfrm>
              <a:off x="15331661" y="0"/>
              <a:ext cx="566962" cy="566962"/>
            </a:xfrm>
            <a:prstGeom prst="rect">
              <a:avLst/>
            </a:prstGeom>
            <a:solidFill>
              <a:srgbClr val="BDA565"/>
            </a:solidFill>
          </p:spPr>
          <p:txBody>
            <a:bodyPr/>
            <a:lstStyle/>
            <a:p>
              <a:endParaRPr lang="en-ZA"/>
            </a:p>
          </p:txBody>
        </p:sp>
        <p:sp>
          <p:nvSpPr>
            <p:cNvPr id="58" name="AutoShape 58"/>
            <p:cNvSpPr/>
            <p:nvPr/>
          </p:nvSpPr>
          <p:spPr>
            <a:xfrm>
              <a:off x="14189843" y="566962"/>
              <a:ext cx="566962" cy="566962"/>
            </a:xfrm>
            <a:prstGeom prst="rect">
              <a:avLst/>
            </a:prstGeom>
            <a:solidFill>
              <a:srgbClr val="FCDFDD"/>
            </a:solidFill>
          </p:spPr>
          <p:txBody>
            <a:bodyPr/>
            <a:lstStyle/>
            <a:p>
              <a:endParaRPr lang="en-ZA"/>
            </a:p>
          </p:txBody>
        </p:sp>
        <p:sp>
          <p:nvSpPr>
            <p:cNvPr id="59" name="AutoShape 59"/>
            <p:cNvSpPr/>
            <p:nvPr/>
          </p:nvSpPr>
          <p:spPr>
            <a:xfrm>
              <a:off x="13626828" y="1133924"/>
              <a:ext cx="566962" cy="566962"/>
            </a:xfrm>
            <a:prstGeom prst="rect">
              <a:avLst/>
            </a:prstGeom>
            <a:solidFill>
              <a:srgbClr val="FCDFDD"/>
            </a:solidFill>
          </p:spPr>
          <p:txBody>
            <a:bodyPr/>
            <a:lstStyle/>
            <a:p>
              <a:endParaRPr lang="en-ZA"/>
            </a:p>
          </p:txBody>
        </p:sp>
        <p:sp>
          <p:nvSpPr>
            <p:cNvPr id="60" name="AutoShape 60"/>
            <p:cNvSpPr/>
            <p:nvPr/>
          </p:nvSpPr>
          <p:spPr>
            <a:xfrm>
              <a:off x="12488956" y="0"/>
              <a:ext cx="566962" cy="566962"/>
            </a:xfrm>
            <a:prstGeom prst="rect">
              <a:avLst/>
            </a:prstGeom>
            <a:solidFill>
              <a:srgbClr val="FCDFDD"/>
            </a:solidFill>
          </p:spPr>
          <p:txBody>
            <a:bodyPr/>
            <a:lstStyle/>
            <a:p>
              <a:endParaRPr lang="en-ZA"/>
            </a:p>
          </p:txBody>
        </p:sp>
        <p:sp>
          <p:nvSpPr>
            <p:cNvPr id="61" name="AutoShape 61"/>
            <p:cNvSpPr/>
            <p:nvPr/>
          </p:nvSpPr>
          <p:spPr>
            <a:xfrm>
              <a:off x="16465586" y="566962"/>
              <a:ext cx="566962" cy="566962"/>
            </a:xfrm>
            <a:prstGeom prst="rect">
              <a:avLst/>
            </a:prstGeom>
            <a:solidFill>
              <a:srgbClr val="BDA565"/>
            </a:solidFill>
          </p:spPr>
          <p:txBody>
            <a:bodyPr/>
            <a:lstStyle/>
            <a:p>
              <a:endParaRPr lang="en-ZA"/>
            </a:p>
          </p:txBody>
        </p:sp>
        <p:sp>
          <p:nvSpPr>
            <p:cNvPr id="62" name="AutoShape 62"/>
            <p:cNvSpPr/>
            <p:nvPr/>
          </p:nvSpPr>
          <p:spPr>
            <a:xfrm>
              <a:off x="15898623" y="566962"/>
              <a:ext cx="566962" cy="566962"/>
            </a:xfrm>
            <a:prstGeom prst="rect">
              <a:avLst/>
            </a:prstGeom>
            <a:solidFill>
              <a:srgbClr val="FCDFDD"/>
            </a:solidFill>
          </p:spPr>
          <p:txBody>
            <a:bodyPr/>
            <a:lstStyle/>
            <a:p>
              <a:endParaRPr lang="en-ZA"/>
            </a:p>
          </p:txBody>
        </p:sp>
        <p:sp>
          <p:nvSpPr>
            <p:cNvPr id="63" name="AutoShape 63"/>
            <p:cNvSpPr/>
            <p:nvPr/>
          </p:nvSpPr>
          <p:spPr>
            <a:xfrm>
              <a:off x="11355032" y="566962"/>
              <a:ext cx="1133924" cy="566962"/>
            </a:xfrm>
            <a:prstGeom prst="rect">
              <a:avLst/>
            </a:prstGeom>
            <a:solidFill>
              <a:srgbClr val="FCDFDD"/>
            </a:solidFill>
          </p:spPr>
          <p:txBody>
            <a:bodyPr/>
            <a:lstStyle/>
            <a:p>
              <a:endParaRPr lang="en-ZA"/>
            </a:p>
          </p:txBody>
        </p:sp>
      </p:grpSp>
      <p:grpSp>
        <p:nvGrpSpPr>
          <p:cNvPr id="64" name="Group 64"/>
          <p:cNvGrpSpPr/>
          <p:nvPr/>
        </p:nvGrpSpPr>
        <p:grpSpPr>
          <a:xfrm>
            <a:off x="1028700" y="2775237"/>
            <a:ext cx="16230600" cy="1821224"/>
            <a:chOff x="0" y="0"/>
            <a:chExt cx="21640800" cy="2428299"/>
          </a:xfrm>
        </p:grpSpPr>
        <p:sp>
          <p:nvSpPr>
            <p:cNvPr id="65" name="TextBox 65"/>
            <p:cNvSpPr txBox="1"/>
            <p:nvPr/>
          </p:nvSpPr>
          <p:spPr>
            <a:xfrm>
              <a:off x="0" y="0"/>
              <a:ext cx="21640800" cy="1409700"/>
            </a:xfrm>
            <a:prstGeom prst="rect">
              <a:avLst/>
            </a:prstGeom>
          </p:spPr>
          <p:txBody>
            <a:bodyPr lIns="0" tIns="0" rIns="0" bIns="0" rtlCol="0" anchor="t">
              <a:spAutoFit/>
            </a:bodyPr>
            <a:lstStyle/>
            <a:p>
              <a:pPr marL="0" lvl="0" indent="0" algn="ctr">
                <a:lnSpc>
                  <a:spcPts val="8399"/>
                </a:lnSpc>
              </a:pPr>
              <a:r>
                <a:rPr lang="en-US" sz="6999" b="1" u="none" spc="139">
                  <a:solidFill>
                    <a:srgbClr val="FDF9EF"/>
                  </a:solidFill>
                  <a:latin typeface="Roboto Mono Bold"/>
                  <a:ea typeface="Roboto Mono Bold"/>
                  <a:cs typeface="Roboto Mono Bold"/>
                  <a:sym typeface="Roboto Mono Bold"/>
                </a:rPr>
                <a:t>Disadvantages of the System</a:t>
              </a:r>
            </a:p>
          </p:txBody>
        </p:sp>
        <p:sp>
          <p:nvSpPr>
            <p:cNvPr id="66" name="TextBox 66"/>
            <p:cNvSpPr txBox="1"/>
            <p:nvPr/>
          </p:nvSpPr>
          <p:spPr>
            <a:xfrm>
              <a:off x="1823861" y="2010643"/>
              <a:ext cx="17993079" cy="417656"/>
            </a:xfrm>
            <a:prstGeom prst="rect">
              <a:avLst/>
            </a:prstGeom>
          </p:spPr>
          <p:txBody>
            <a:bodyPr lIns="0" tIns="0" rIns="0" bIns="0" rtlCol="0" anchor="t">
              <a:spAutoFit/>
            </a:bodyPr>
            <a:lstStyle/>
            <a:p>
              <a:pPr marL="0" lvl="0" indent="0" algn="ctr">
                <a:lnSpc>
                  <a:spcPts val="2553"/>
                </a:lnSpc>
              </a:pPr>
              <a:r>
                <a:rPr lang="en-US" sz="1823" b="1" u="none">
                  <a:solidFill>
                    <a:srgbClr val="FDF9EF"/>
                  </a:solidFill>
                  <a:latin typeface="Lekton Bold"/>
                  <a:ea typeface="Lekton Bold"/>
                  <a:cs typeface="Lekton Bold"/>
                  <a:sym typeface="Lekton Bold"/>
                </a:rPr>
                <a:t>Understanding potential concerns and challenges in campus safety monitoring and alerting systems</a:t>
              </a:r>
            </a:p>
          </p:txBody>
        </p:sp>
      </p:grpSp>
      <p:sp>
        <p:nvSpPr>
          <p:cNvPr id="67" name="AutoShape 67"/>
          <p:cNvSpPr/>
          <p:nvPr/>
        </p:nvSpPr>
        <p:spPr>
          <a:xfrm>
            <a:off x="0" y="6184435"/>
            <a:ext cx="18288000" cy="4102565"/>
          </a:xfrm>
          <a:prstGeom prst="rect">
            <a:avLst/>
          </a:prstGeom>
          <a:solidFill>
            <a:srgbClr val="FCDFDD"/>
          </a:solidFill>
        </p:spPr>
        <p:txBody>
          <a:bodyPr/>
          <a:lstStyle/>
          <a:p>
            <a:endParaRPr lang="en-ZA"/>
          </a:p>
        </p:txBody>
      </p:sp>
      <p:grpSp>
        <p:nvGrpSpPr>
          <p:cNvPr id="68" name="Group 68"/>
          <p:cNvGrpSpPr/>
          <p:nvPr/>
        </p:nvGrpSpPr>
        <p:grpSpPr>
          <a:xfrm>
            <a:off x="1339652" y="7037691"/>
            <a:ext cx="4096961" cy="1757805"/>
            <a:chOff x="0" y="0"/>
            <a:chExt cx="5462614" cy="2343740"/>
          </a:xfrm>
        </p:grpSpPr>
        <p:grpSp>
          <p:nvGrpSpPr>
            <p:cNvPr id="69" name="Group 69"/>
            <p:cNvGrpSpPr/>
            <p:nvPr/>
          </p:nvGrpSpPr>
          <p:grpSpPr>
            <a:xfrm>
              <a:off x="1958240" y="552535"/>
              <a:ext cx="1546135" cy="746672"/>
              <a:chOff x="0" y="0"/>
              <a:chExt cx="1183407" cy="571500"/>
            </a:xfrm>
          </p:grpSpPr>
          <p:sp>
            <p:nvSpPr>
              <p:cNvPr id="70" name="Freeform 70"/>
              <p:cNvSpPr/>
              <p:nvPr/>
            </p:nvSpPr>
            <p:spPr>
              <a:xfrm>
                <a:off x="0" y="255270"/>
                <a:ext cx="1183407" cy="69850"/>
              </a:xfrm>
              <a:custGeom>
                <a:avLst/>
                <a:gdLst/>
                <a:ahLst/>
                <a:cxnLst/>
                <a:rect l="l" t="t" r="r" b="b"/>
                <a:pathLst>
                  <a:path w="1183407" h="69850">
                    <a:moveTo>
                      <a:pt x="892577" y="0"/>
                    </a:moveTo>
                    <a:lnTo>
                      <a:pt x="0" y="0"/>
                    </a:lnTo>
                    <a:lnTo>
                      <a:pt x="0" y="69850"/>
                    </a:lnTo>
                    <a:lnTo>
                      <a:pt x="1183407" y="69850"/>
                    </a:lnTo>
                    <a:lnTo>
                      <a:pt x="1183407" y="0"/>
                    </a:lnTo>
                    <a:close/>
                  </a:path>
                </a:pathLst>
              </a:custGeom>
              <a:solidFill>
                <a:srgbClr val="BE8884"/>
              </a:solidFill>
            </p:spPr>
            <p:txBody>
              <a:bodyPr/>
              <a:lstStyle/>
              <a:p>
                <a:endParaRPr lang="en-ZA"/>
              </a:p>
            </p:txBody>
          </p:sp>
        </p:grpSp>
        <p:sp>
          <p:nvSpPr>
            <p:cNvPr id="71" name="TextBox 71"/>
            <p:cNvSpPr txBox="1"/>
            <p:nvPr/>
          </p:nvSpPr>
          <p:spPr>
            <a:xfrm>
              <a:off x="0" y="-19050"/>
              <a:ext cx="5462614" cy="381865"/>
            </a:xfrm>
            <a:prstGeom prst="rect">
              <a:avLst/>
            </a:prstGeom>
          </p:spPr>
          <p:txBody>
            <a:bodyPr lIns="0" tIns="0" rIns="0" bIns="0" rtlCol="0" anchor="t">
              <a:spAutoFit/>
            </a:bodyPr>
            <a:lstStyle/>
            <a:p>
              <a:pPr marL="0" lvl="0" indent="0" algn="ctr">
                <a:lnSpc>
                  <a:spcPts val="2371"/>
                </a:lnSpc>
              </a:pPr>
              <a:r>
                <a:rPr lang="en-US" sz="1823" b="1" u="none" spc="-18">
                  <a:solidFill>
                    <a:srgbClr val="201702"/>
                  </a:solidFill>
                  <a:latin typeface="Roboto Mono Bold"/>
                  <a:ea typeface="Roboto Mono Bold"/>
                  <a:cs typeface="Roboto Mono Bold"/>
                  <a:sym typeface="Roboto Mono Bold"/>
                </a:rPr>
                <a:t>Possible Anxiety</a:t>
              </a:r>
            </a:p>
          </p:txBody>
        </p:sp>
        <p:sp>
          <p:nvSpPr>
            <p:cNvPr id="72" name="TextBox 72"/>
            <p:cNvSpPr txBox="1"/>
            <p:nvPr/>
          </p:nvSpPr>
          <p:spPr>
            <a:xfrm>
              <a:off x="0" y="1607140"/>
              <a:ext cx="5462614" cy="736600"/>
            </a:xfrm>
            <a:prstGeom prst="rect">
              <a:avLst/>
            </a:prstGeom>
          </p:spPr>
          <p:txBody>
            <a:bodyPr lIns="0" tIns="0" rIns="0" bIns="0" rtlCol="0" anchor="t">
              <a:spAutoFit/>
            </a:bodyPr>
            <a:lstStyle/>
            <a:p>
              <a:pPr marL="0" lvl="0" indent="0" algn="ctr">
                <a:lnSpc>
                  <a:spcPts val="2188"/>
                </a:lnSpc>
                <a:spcBef>
                  <a:spcPct val="0"/>
                </a:spcBef>
              </a:pPr>
              <a:r>
                <a:rPr lang="en-US" sz="1823" b="1" u="none">
                  <a:solidFill>
                    <a:srgbClr val="201702"/>
                  </a:solidFill>
                  <a:latin typeface="Roboto Mono Bold"/>
                  <a:ea typeface="Roboto Mono Bold"/>
                  <a:cs typeface="Roboto Mono Bold"/>
                  <a:sym typeface="Roboto Mono Bold"/>
                </a:rPr>
                <a:t>Users may experience stress from continuous alerts.</a:t>
              </a:r>
            </a:p>
          </p:txBody>
        </p:sp>
      </p:grpSp>
      <p:grpSp>
        <p:nvGrpSpPr>
          <p:cNvPr id="73" name="Group 73"/>
          <p:cNvGrpSpPr/>
          <p:nvPr/>
        </p:nvGrpSpPr>
        <p:grpSpPr>
          <a:xfrm>
            <a:off x="6593476" y="7037691"/>
            <a:ext cx="4896428" cy="1757805"/>
            <a:chOff x="0" y="0"/>
            <a:chExt cx="6528571" cy="2343740"/>
          </a:xfrm>
        </p:grpSpPr>
        <p:grpSp>
          <p:nvGrpSpPr>
            <p:cNvPr id="74" name="Group 74"/>
            <p:cNvGrpSpPr/>
            <p:nvPr/>
          </p:nvGrpSpPr>
          <p:grpSpPr>
            <a:xfrm>
              <a:off x="2491218" y="552535"/>
              <a:ext cx="1546135" cy="746672"/>
              <a:chOff x="0" y="0"/>
              <a:chExt cx="1183407" cy="571500"/>
            </a:xfrm>
          </p:grpSpPr>
          <p:sp>
            <p:nvSpPr>
              <p:cNvPr id="75" name="Freeform 75"/>
              <p:cNvSpPr/>
              <p:nvPr/>
            </p:nvSpPr>
            <p:spPr>
              <a:xfrm>
                <a:off x="0" y="255270"/>
                <a:ext cx="1183407" cy="69850"/>
              </a:xfrm>
              <a:custGeom>
                <a:avLst/>
                <a:gdLst/>
                <a:ahLst/>
                <a:cxnLst/>
                <a:rect l="l" t="t" r="r" b="b"/>
                <a:pathLst>
                  <a:path w="1183407" h="69850">
                    <a:moveTo>
                      <a:pt x="892577" y="0"/>
                    </a:moveTo>
                    <a:lnTo>
                      <a:pt x="0" y="0"/>
                    </a:lnTo>
                    <a:lnTo>
                      <a:pt x="0" y="69850"/>
                    </a:lnTo>
                    <a:lnTo>
                      <a:pt x="1183407" y="69850"/>
                    </a:lnTo>
                    <a:lnTo>
                      <a:pt x="1183407" y="0"/>
                    </a:lnTo>
                    <a:close/>
                  </a:path>
                </a:pathLst>
              </a:custGeom>
              <a:solidFill>
                <a:srgbClr val="BE8884"/>
              </a:solidFill>
            </p:spPr>
            <p:txBody>
              <a:bodyPr/>
              <a:lstStyle/>
              <a:p>
                <a:endParaRPr lang="en-ZA"/>
              </a:p>
            </p:txBody>
          </p:sp>
        </p:grpSp>
        <p:sp>
          <p:nvSpPr>
            <p:cNvPr id="76" name="TextBox 76"/>
            <p:cNvSpPr txBox="1"/>
            <p:nvPr/>
          </p:nvSpPr>
          <p:spPr>
            <a:xfrm>
              <a:off x="0" y="-19050"/>
              <a:ext cx="6528571" cy="381865"/>
            </a:xfrm>
            <a:prstGeom prst="rect">
              <a:avLst/>
            </a:prstGeom>
          </p:spPr>
          <p:txBody>
            <a:bodyPr lIns="0" tIns="0" rIns="0" bIns="0" rtlCol="0" anchor="t">
              <a:spAutoFit/>
            </a:bodyPr>
            <a:lstStyle/>
            <a:p>
              <a:pPr marL="0" lvl="0" indent="0" algn="ctr">
                <a:lnSpc>
                  <a:spcPts val="2371"/>
                </a:lnSpc>
              </a:pPr>
              <a:r>
                <a:rPr lang="en-US" sz="1823" b="1" u="none" spc="-18">
                  <a:solidFill>
                    <a:srgbClr val="201702"/>
                  </a:solidFill>
                  <a:latin typeface="Roboto Mono Bold"/>
                  <a:ea typeface="Roboto Mono Bold"/>
                  <a:cs typeface="Roboto Mono Bold"/>
                  <a:sym typeface="Roboto Mono Bold"/>
                </a:rPr>
                <a:t>Internet/Server Dependency</a:t>
              </a:r>
            </a:p>
          </p:txBody>
        </p:sp>
        <p:sp>
          <p:nvSpPr>
            <p:cNvPr id="77" name="TextBox 77"/>
            <p:cNvSpPr txBox="1"/>
            <p:nvPr/>
          </p:nvSpPr>
          <p:spPr>
            <a:xfrm>
              <a:off x="532978" y="1607140"/>
              <a:ext cx="5462614" cy="736600"/>
            </a:xfrm>
            <a:prstGeom prst="rect">
              <a:avLst/>
            </a:prstGeom>
          </p:spPr>
          <p:txBody>
            <a:bodyPr lIns="0" tIns="0" rIns="0" bIns="0" rtlCol="0" anchor="t">
              <a:spAutoFit/>
            </a:bodyPr>
            <a:lstStyle/>
            <a:p>
              <a:pPr marL="0" lvl="0" indent="0" algn="ctr">
                <a:lnSpc>
                  <a:spcPts val="2188"/>
                </a:lnSpc>
                <a:spcBef>
                  <a:spcPct val="0"/>
                </a:spcBef>
              </a:pPr>
              <a:r>
                <a:rPr lang="en-US" sz="1823" b="1" u="none">
                  <a:solidFill>
                    <a:srgbClr val="201702"/>
                  </a:solidFill>
                  <a:latin typeface="Roboto Mono Bold"/>
                  <a:ea typeface="Roboto Mono Bold"/>
                  <a:cs typeface="Roboto Mono Bold"/>
                  <a:sym typeface="Roboto Mono Bold"/>
                </a:rPr>
                <a:t>System relies heavily on stable internet connectivity.</a:t>
              </a:r>
            </a:p>
          </p:txBody>
        </p:sp>
      </p:grpSp>
      <p:grpSp>
        <p:nvGrpSpPr>
          <p:cNvPr id="78" name="Group 78"/>
          <p:cNvGrpSpPr/>
          <p:nvPr/>
        </p:nvGrpSpPr>
        <p:grpSpPr>
          <a:xfrm>
            <a:off x="12434103" y="7037691"/>
            <a:ext cx="4514245" cy="1757805"/>
            <a:chOff x="0" y="0"/>
            <a:chExt cx="6018993" cy="2343740"/>
          </a:xfrm>
        </p:grpSpPr>
        <p:grpSp>
          <p:nvGrpSpPr>
            <p:cNvPr id="79" name="Group 79"/>
            <p:cNvGrpSpPr/>
            <p:nvPr/>
          </p:nvGrpSpPr>
          <p:grpSpPr>
            <a:xfrm>
              <a:off x="2236429" y="552535"/>
              <a:ext cx="1546135" cy="746672"/>
              <a:chOff x="0" y="0"/>
              <a:chExt cx="1183407" cy="571500"/>
            </a:xfrm>
          </p:grpSpPr>
          <p:sp>
            <p:nvSpPr>
              <p:cNvPr id="80" name="Freeform 80"/>
              <p:cNvSpPr/>
              <p:nvPr/>
            </p:nvSpPr>
            <p:spPr>
              <a:xfrm>
                <a:off x="0" y="255270"/>
                <a:ext cx="1183407" cy="69850"/>
              </a:xfrm>
              <a:custGeom>
                <a:avLst/>
                <a:gdLst/>
                <a:ahLst/>
                <a:cxnLst/>
                <a:rect l="l" t="t" r="r" b="b"/>
                <a:pathLst>
                  <a:path w="1183407" h="69850">
                    <a:moveTo>
                      <a:pt x="892577" y="0"/>
                    </a:moveTo>
                    <a:lnTo>
                      <a:pt x="0" y="0"/>
                    </a:lnTo>
                    <a:lnTo>
                      <a:pt x="0" y="69850"/>
                    </a:lnTo>
                    <a:lnTo>
                      <a:pt x="1183407" y="69850"/>
                    </a:lnTo>
                    <a:lnTo>
                      <a:pt x="1183407" y="0"/>
                    </a:lnTo>
                    <a:close/>
                  </a:path>
                </a:pathLst>
              </a:custGeom>
              <a:solidFill>
                <a:srgbClr val="BE8884"/>
              </a:solidFill>
            </p:spPr>
            <p:txBody>
              <a:bodyPr/>
              <a:lstStyle/>
              <a:p>
                <a:endParaRPr lang="en-ZA"/>
              </a:p>
            </p:txBody>
          </p:sp>
        </p:grpSp>
        <p:sp>
          <p:nvSpPr>
            <p:cNvPr id="81" name="TextBox 81"/>
            <p:cNvSpPr txBox="1"/>
            <p:nvPr/>
          </p:nvSpPr>
          <p:spPr>
            <a:xfrm>
              <a:off x="0" y="-19050"/>
              <a:ext cx="6018993" cy="381865"/>
            </a:xfrm>
            <a:prstGeom prst="rect">
              <a:avLst/>
            </a:prstGeom>
          </p:spPr>
          <p:txBody>
            <a:bodyPr lIns="0" tIns="0" rIns="0" bIns="0" rtlCol="0" anchor="t">
              <a:spAutoFit/>
            </a:bodyPr>
            <a:lstStyle/>
            <a:p>
              <a:pPr marL="0" lvl="0" indent="0" algn="ctr">
                <a:lnSpc>
                  <a:spcPts val="2371"/>
                </a:lnSpc>
              </a:pPr>
              <a:r>
                <a:rPr lang="en-US" sz="1823" b="1" u="none" spc="-18">
                  <a:solidFill>
                    <a:srgbClr val="201702"/>
                  </a:solidFill>
                  <a:latin typeface="Roboto Mono Bold"/>
                  <a:ea typeface="Roboto Mono Bold"/>
                  <a:cs typeface="Roboto Mono Bold"/>
                  <a:sym typeface="Roboto Mono Bold"/>
                </a:rPr>
                <a:t>Data Accuracy Concerns</a:t>
              </a:r>
            </a:p>
          </p:txBody>
        </p:sp>
        <p:sp>
          <p:nvSpPr>
            <p:cNvPr id="82" name="TextBox 82"/>
            <p:cNvSpPr txBox="1"/>
            <p:nvPr/>
          </p:nvSpPr>
          <p:spPr>
            <a:xfrm>
              <a:off x="278189" y="1607140"/>
              <a:ext cx="5462614" cy="736600"/>
            </a:xfrm>
            <a:prstGeom prst="rect">
              <a:avLst/>
            </a:prstGeom>
          </p:spPr>
          <p:txBody>
            <a:bodyPr lIns="0" tIns="0" rIns="0" bIns="0" rtlCol="0" anchor="t">
              <a:spAutoFit/>
            </a:bodyPr>
            <a:lstStyle/>
            <a:p>
              <a:pPr marL="0" lvl="0" indent="0" algn="ctr">
                <a:lnSpc>
                  <a:spcPts val="2188"/>
                </a:lnSpc>
                <a:spcBef>
                  <a:spcPct val="0"/>
                </a:spcBef>
              </a:pPr>
              <a:r>
                <a:rPr lang="en-US" sz="1823" b="1" u="none">
                  <a:solidFill>
                    <a:srgbClr val="201702"/>
                  </a:solidFill>
                  <a:latin typeface="Roboto Mono Bold"/>
                  <a:ea typeface="Roboto Mono Bold"/>
                  <a:cs typeface="Roboto Mono Bold"/>
                  <a:sym typeface="Roboto Mono Bold"/>
                </a:rPr>
                <a:t>Inaccurate data can lead to mistrust in the system.</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BDB9"/>
        </a:solidFill>
        <a:effectLst/>
      </p:bgPr>
    </p:bg>
    <p:spTree>
      <p:nvGrpSpPr>
        <p:cNvPr id="1" name=""/>
        <p:cNvGrpSpPr/>
        <p:nvPr/>
      </p:nvGrpSpPr>
      <p:grpSpPr>
        <a:xfrm>
          <a:off x="0" y="0"/>
          <a:ext cx="0" cy="0"/>
          <a:chOff x="0" y="0"/>
          <a:chExt cx="0" cy="0"/>
        </a:xfrm>
      </p:grpSpPr>
      <p:grpSp>
        <p:nvGrpSpPr>
          <p:cNvPr id="2" name="Group 2"/>
          <p:cNvGrpSpPr/>
          <p:nvPr/>
        </p:nvGrpSpPr>
        <p:grpSpPr>
          <a:xfrm>
            <a:off x="11313345" y="0"/>
            <a:ext cx="6974655" cy="10287000"/>
            <a:chOff x="0" y="0"/>
            <a:chExt cx="6571245" cy="9692006"/>
          </a:xfrm>
        </p:grpSpPr>
        <p:sp>
          <p:nvSpPr>
            <p:cNvPr id="3" name="Freeform 3"/>
            <p:cNvSpPr/>
            <p:nvPr/>
          </p:nvSpPr>
          <p:spPr>
            <a:xfrm>
              <a:off x="0" y="0"/>
              <a:ext cx="6571245" cy="9692007"/>
            </a:xfrm>
            <a:custGeom>
              <a:avLst/>
              <a:gdLst/>
              <a:ahLst/>
              <a:cxnLst/>
              <a:rect l="l" t="t" r="r" b="b"/>
              <a:pathLst>
                <a:path w="6571245" h="9692007">
                  <a:moveTo>
                    <a:pt x="6439820" y="0"/>
                  </a:moveTo>
                  <a:cubicBezTo>
                    <a:pt x="5214941" y="0"/>
                    <a:pt x="3984803" y="0"/>
                    <a:pt x="2759923" y="0"/>
                  </a:cubicBezTo>
                  <a:cubicBezTo>
                    <a:pt x="2759923" y="96920"/>
                    <a:pt x="2759923" y="290760"/>
                    <a:pt x="2759923" y="387680"/>
                  </a:cubicBezTo>
                  <a:lnTo>
                    <a:pt x="2628498" y="387680"/>
                  </a:lnTo>
                  <a:cubicBezTo>
                    <a:pt x="2628498" y="484600"/>
                    <a:pt x="2628498" y="678440"/>
                    <a:pt x="2628498" y="775361"/>
                  </a:cubicBezTo>
                  <a:lnTo>
                    <a:pt x="2497073" y="775361"/>
                  </a:lnTo>
                  <a:cubicBezTo>
                    <a:pt x="2497073" y="947878"/>
                    <a:pt x="2497073" y="1184363"/>
                    <a:pt x="2497073" y="1356881"/>
                  </a:cubicBezTo>
                  <a:lnTo>
                    <a:pt x="2365648" y="1356881"/>
                  </a:lnTo>
                  <a:cubicBezTo>
                    <a:pt x="2365648" y="1453801"/>
                    <a:pt x="2365648" y="1647641"/>
                    <a:pt x="2365648" y="1744561"/>
                  </a:cubicBezTo>
                  <a:lnTo>
                    <a:pt x="2234223" y="1744561"/>
                  </a:lnTo>
                  <a:cubicBezTo>
                    <a:pt x="2234223" y="1841481"/>
                    <a:pt x="2234223" y="2035321"/>
                    <a:pt x="2234223" y="2132241"/>
                  </a:cubicBezTo>
                  <a:lnTo>
                    <a:pt x="2102798" y="2132241"/>
                  </a:lnTo>
                  <a:cubicBezTo>
                    <a:pt x="2102798" y="2304759"/>
                    <a:pt x="2102798" y="2541244"/>
                    <a:pt x="2102798" y="2713762"/>
                  </a:cubicBezTo>
                  <a:lnTo>
                    <a:pt x="1971374" y="2713762"/>
                  </a:lnTo>
                  <a:cubicBezTo>
                    <a:pt x="1971374" y="2810682"/>
                    <a:pt x="1971374" y="3004522"/>
                    <a:pt x="1971374" y="3101442"/>
                  </a:cubicBezTo>
                  <a:lnTo>
                    <a:pt x="1839949" y="3101442"/>
                  </a:lnTo>
                  <a:cubicBezTo>
                    <a:pt x="1839949" y="3198362"/>
                    <a:pt x="1839949" y="3392202"/>
                    <a:pt x="1839949" y="3489122"/>
                  </a:cubicBezTo>
                  <a:lnTo>
                    <a:pt x="1708524" y="3489122"/>
                  </a:lnTo>
                  <a:cubicBezTo>
                    <a:pt x="1708524" y="3661640"/>
                    <a:pt x="1708524" y="3898125"/>
                    <a:pt x="1708524" y="4070643"/>
                  </a:cubicBezTo>
                  <a:lnTo>
                    <a:pt x="1577099" y="4070643"/>
                  </a:lnTo>
                  <a:cubicBezTo>
                    <a:pt x="1577099" y="4167563"/>
                    <a:pt x="1577099" y="4361403"/>
                    <a:pt x="1577099" y="4458323"/>
                  </a:cubicBezTo>
                  <a:lnTo>
                    <a:pt x="1445674" y="4458323"/>
                  </a:lnTo>
                  <a:cubicBezTo>
                    <a:pt x="1445674" y="4630841"/>
                    <a:pt x="1445674" y="4867326"/>
                    <a:pt x="1445674" y="5039844"/>
                  </a:cubicBezTo>
                  <a:lnTo>
                    <a:pt x="1314249" y="5039844"/>
                  </a:lnTo>
                  <a:cubicBezTo>
                    <a:pt x="1314249" y="5136764"/>
                    <a:pt x="1314249" y="5330604"/>
                    <a:pt x="1314249" y="5427524"/>
                  </a:cubicBezTo>
                  <a:lnTo>
                    <a:pt x="1182824" y="5427524"/>
                  </a:lnTo>
                  <a:cubicBezTo>
                    <a:pt x="1182824" y="5600041"/>
                    <a:pt x="1182824" y="5836526"/>
                    <a:pt x="1182824" y="6009044"/>
                  </a:cubicBezTo>
                  <a:lnTo>
                    <a:pt x="1051399" y="6009044"/>
                  </a:lnTo>
                  <a:cubicBezTo>
                    <a:pt x="1051399" y="6105964"/>
                    <a:pt x="1051399" y="6299804"/>
                    <a:pt x="1051399" y="6396724"/>
                  </a:cubicBezTo>
                  <a:lnTo>
                    <a:pt x="919974" y="6396724"/>
                  </a:lnTo>
                  <a:cubicBezTo>
                    <a:pt x="919974" y="6493644"/>
                    <a:pt x="919974" y="6687485"/>
                    <a:pt x="919974" y="6784404"/>
                  </a:cubicBezTo>
                  <a:lnTo>
                    <a:pt x="788549" y="6784404"/>
                  </a:lnTo>
                  <a:cubicBezTo>
                    <a:pt x="788549" y="6956922"/>
                    <a:pt x="788549" y="7193407"/>
                    <a:pt x="788549" y="7365925"/>
                  </a:cubicBezTo>
                  <a:lnTo>
                    <a:pt x="657125" y="7365925"/>
                  </a:lnTo>
                  <a:cubicBezTo>
                    <a:pt x="657125" y="7462845"/>
                    <a:pt x="657125" y="7656685"/>
                    <a:pt x="657125" y="7753605"/>
                  </a:cubicBezTo>
                  <a:lnTo>
                    <a:pt x="525700" y="7753605"/>
                  </a:lnTo>
                  <a:cubicBezTo>
                    <a:pt x="525700" y="7850525"/>
                    <a:pt x="525700" y="8044366"/>
                    <a:pt x="525700" y="8141285"/>
                  </a:cubicBezTo>
                  <a:lnTo>
                    <a:pt x="394275" y="8141285"/>
                  </a:lnTo>
                  <a:cubicBezTo>
                    <a:pt x="394275" y="8313803"/>
                    <a:pt x="394275" y="8550288"/>
                    <a:pt x="394275" y="8722806"/>
                  </a:cubicBezTo>
                  <a:lnTo>
                    <a:pt x="262850" y="8722806"/>
                  </a:lnTo>
                  <a:cubicBezTo>
                    <a:pt x="262850" y="8819726"/>
                    <a:pt x="262850" y="9013566"/>
                    <a:pt x="262850" y="9110486"/>
                  </a:cubicBezTo>
                  <a:lnTo>
                    <a:pt x="131425" y="9110486"/>
                  </a:lnTo>
                  <a:cubicBezTo>
                    <a:pt x="131425" y="9207406"/>
                    <a:pt x="131425" y="9401246"/>
                    <a:pt x="131425" y="9498166"/>
                  </a:cubicBezTo>
                  <a:lnTo>
                    <a:pt x="0" y="9498166"/>
                  </a:lnTo>
                  <a:lnTo>
                    <a:pt x="0" y="9692007"/>
                  </a:lnTo>
                  <a:cubicBezTo>
                    <a:pt x="1356305" y="9692007"/>
                    <a:pt x="2717867" y="9692007"/>
                    <a:pt x="4074172" y="9692007"/>
                  </a:cubicBezTo>
                  <a:lnTo>
                    <a:pt x="4074172" y="9498166"/>
                  </a:lnTo>
                  <a:lnTo>
                    <a:pt x="4205597" y="9498166"/>
                  </a:lnTo>
                  <a:cubicBezTo>
                    <a:pt x="4205597" y="9401246"/>
                    <a:pt x="4205597" y="9207406"/>
                    <a:pt x="4205597" y="9110486"/>
                  </a:cubicBezTo>
                  <a:lnTo>
                    <a:pt x="4337022" y="9110486"/>
                  </a:lnTo>
                  <a:cubicBezTo>
                    <a:pt x="4337022" y="8937968"/>
                    <a:pt x="4337022" y="8701484"/>
                    <a:pt x="4337022" y="8528965"/>
                  </a:cubicBezTo>
                  <a:lnTo>
                    <a:pt x="4468447" y="8528965"/>
                  </a:lnTo>
                  <a:cubicBezTo>
                    <a:pt x="4468447" y="8432046"/>
                    <a:pt x="4468447" y="8238206"/>
                    <a:pt x="4468447" y="8141285"/>
                  </a:cubicBezTo>
                  <a:lnTo>
                    <a:pt x="4599872" y="8141285"/>
                  </a:lnTo>
                  <a:cubicBezTo>
                    <a:pt x="4599872" y="7968768"/>
                    <a:pt x="4599872" y="7732282"/>
                    <a:pt x="4599872" y="7559765"/>
                  </a:cubicBezTo>
                  <a:lnTo>
                    <a:pt x="4731296" y="7559765"/>
                  </a:lnTo>
                  <a:cubicBezTo>
                    <a:pt x="4731296" y="7462845"/>
                    <a:pt x="4731296" y="7269005"/>
                    <a:pt x="4731296" y="7172085"/>
                  </a:cubicBezTo>
                  <a:lnTo>
                    <a:pt x="4862721" y="7172085"/>
                  </a:lnTo>
                  <a:cubicBezTo>
                    <a:pt x="4862721" y="6999567"/>
                    <a:pt x="4862721" y="6763082"/>
                    <a:pt x="4862721" y="6590564"/>
                  </a:cubicBezTo>
                  <a:lnTo>
                    <a:pt x="4994146" y="6590564"/>
                  </a:lnTo>
                  <a:cubicBezTo>
                    <a:pt x="4994146" y="6493644"/>
                    <a:pt x="4994146" y="6299804"/>
                    <a:pt x="4994146" y="6202884"/>
                  </a:cubicBezTo>
                  <a:lnTo>
                    <a:pt x="5125571" y="6202884"/>
                  </a:lnTo>
                  <a:cubicBezTo>
                    <a:pt x="5125571" y="6030366"/>
                    <a:pt x="5125571" y="5793881"/>
                    <a:pt x="5125571" y="5621364"/>
                  </a:cubicBezTo>
                  <a:lnTo>
                    <a:pt x="5256996" y="5621364"/>
                  </a:lnTo>
                  <a:cubicBezTo>
                    <a:pt x="5256996" y="5448846"/>
                    <a:pt x="5256996" y="5212361"/>
                    <a:pt x="5256996" y="5039844"/>
                  </a:cubicBezTo>
                  <a:lnTo>
                    <a:pt x="5388421" y="5039844"/>
                  </a:lnTo>
                  <a:cubicBezTo>
                    <a:pt x="5388421" y="4942923"/>
                    <a:pt x="5388421" y="4749083"/>
                    <a:pt x="5388421" y="4652163"/>
                  </a:cubicBezTo>
                  <a:lnTo>
                    <a:pt x="5519846" y="4652163"/>
                  </a:lnTo>
                  <a:cubicBezTo>
                    <a:pt x="5519846" y="4479646"/>
                    <a:pt x="5519846" y="4243160"/>
                    <a:pt x="5519846" y="4070643"/>
                  </a:cubicBezTo>
                  <a:lnTo>
                    <a:pt x="5651271" y="4070643"/>
                  </a:lnTo>
                  <a:cubicBezTo>
                    <a:pt x="5651271" y="3973723"/>
                    <a:pt x="5651271" y="3779882"/>
                    <a:pt x="5651271" y="3682962"/>
                  </a:cubicBezTo>
                  <a:lnTo>
                    <a:pt x="5782696" y="3682962"/>
                  </a:lnTo>
                  <a:cubicBezTo>
                    <a:pt x="5782696" y="3510445"/>
                    <a:pt x="5782696" y="3273960"/>
                    <a:pt x="5782696" y="3101442"/>
                  </a:cubicBezTo>
                  <a:lnTo>
                    <a:pt x="5914121" y="3101442"/>
                  </a:lnTo>
                  <a:cubicBezTo>
                    <a:pt x="5914121" y="2928925"/>
                    <a:pt x="5914121" y="2692439"/>
                    <a:pt x="5914121" y="2519922"/>
                  </a:cubicBezTo>
                  <a:lnTo>
                    <a:pt x="6045546" y="2519922"/>
                  </a:lnTo>
                  <a:cubicBezTo>
                    <a:pt x="6045546" y="2347404"/>
                    <a:pt x="6045546" y="2110919"/>
                    <a:pt x="6045546" y="1938401"/>
                  </a:cubicBezTo>
                  <a:lnTo>
                    <a:pt x="6176971" y="1938401"/>
                  </a:lnTo>
                  <a:cubicBezTo>
                    <a:pt x="6176971" y="1841481"/>
                    <a:pt x="6176971" y="1647641"/>
                    <a:pt x="6176971" y="1550721"/>
                  </a:cubicBezTo>
                  <a:lnTo>
                    <a:pt x="6308396" y="1550721"/>
                  </a:lnTo>
                  <a:cubicBezTo>
                    <a:pt x="6308396" y="1378203"/>
                    <a:pt x="6308396" y="1141718"/>
                    <a:pt x="6308396" y="969201"/>
                  </a:cubicBezTo>
                  <a:lnTo>
                    <a:pt x="6439820" y="969201"/>
                  </a:lnTo>
                  <a:cubicBezTo>
                    <a:pt x="6439820" y="872281"/>
                    <a:pt x="6439820" y="678440"/>
                    <a:pt x="6439820" y="581520"/>
                  </a:cubicBezTo>
                  <a:lnTo>
                    <a:pt x="6571245" y="581520"/>
                  </a:lnTo>
                  <a:cubicBezTo>
                    <a:pt x="6571245" y="409003"/>
                    <a:pt x="6571245" y="172518"/>
                    <a:pt x="6571245" y="0"/>
                  </a:cubicBezTo>
                  <a:lnTo>
                    <a:pt x="6439820" y="0"/>
                  </a:lnTo>
                  <a:close/>
                </a:path>
              </a:pathLst>
            </a:custGeom>
            <a:blipFill>
              <a:blip r:embed="rId2"/>
              <a:stretch>
                <a:fillRect l="-61363" r="-61363"/>
              </a:stretch>
            </a:blipFill>
          </p:spPr>
          <p:txBody>
            <a:bodyPr/>
            <a:lstStyle/>
            <a:p>
              <a:endParaRPr lang="en-ZA"/>
            </a:p>
          </p:txBody>
        </p:sp>
      </p:grpSp>
      <p:grpSp>
        <p:nvGrpSpPr>
          <p:cNvPr id="4" name="Group 4"/>
          <p:cNvGrpSpPr/>
          <p:nvPr/>
        </p:nvGrpSpPr>
        <p:grpSpPr>
          <a:xfrm>
            <a:off x="0" y="-769870"/>
            <a:ext cx="11332395" cy="2263328"/>
            <a:chOff x="0" y="0"/>
            <a:chExt cx="15109860" cy="3017770"/>
          </a:xfrm>
        </p:grpSpPr>
        <p:sp>
          <p:nvSpPr>
            <p:cNvPr id="5" name="AutoShape 5"/>
            <p:cNvSpPr/>
            <p:nvPr/>
          </p:nvSpPr>
          <p:spPr>
            <a:xfrm>
              <a:off x="11079164" y="2011847"/>
              <a:ext cx="2011847" cy="1005923"/>
            </a:xfrm>
            <a:prstGeom prst="rect">
              <a:avLst/>
            </a:prstGeom>
            <a:solidFill>
              <a:srgbClr val="BDA565"/>
            </a:solidFill>
          </p:spPr>
          <p:txBody>
            <a:bodyPr/>
            <a:lstStyle/>
            <a:p>
              <a:endParaRPr lang="en-ZA"/>
            </a:p>
          </p:txBody>
        </p:sp>
        <p:sp>
          <p:nvSpPr>
            <p:cNvPr id="6" name="AutoShape 6"/>
            <p:cNvSpPr/>
            <p:nvPr/>
          </p:nvSpPr>
          <p:spPr>
            <a:xfrm>
              <a:off x="14103937" y="0"/>
              <a:ext cx="1005923" cy="1005923"/>
            </a:xfrm>
            <a:prstGeom prst="rect">
              <a:avLst/>
            </a:prstGeom>
            <a:solidFill>
              <a:srgbClr val="BDA565"/>
            </a:solidFill>
          </p:spPr>
          <p:txBody>
            <a:bodyPr/>
            <a:lstStyle/>
            <a:p>
              <a:endParaRPr lang="en-ZA"/>
            </a:p>
          </p:txBody>
        </p:sp>
        <p:sp>
          <p:nvSpPr>
            <p:cNvPr id="7" name="AutoShape 7"/>
            <p:cNvSpPr/>
            <p:nvPr/>
          </p:nvSpPr>
          <p:spPr>
            <a:xfrm>
              <a:off x="14103937" y="2011847"/>
              <a:ext cx="1005923" cy="1005923"/>
            </a:xfrm>
            <a:prstGeom prst="rect">
              <a:avLst/>
            </a:prstGeom>
            <a:solidFill>
              <a:srgbClr val="BDA565"/>
            </a:solidFill>
          </p:spPr>
          <p:txBody>
            <a:bodyPr/>
            <a:lstStyle/>
            <a:p>
              <a:endParaRPr lang="en-ZA"/>
            </a:p>
          </p:txBody>
        </p:sp>
        <p:sp>
          <p:nvSpPr>
            <p:cNvPr id="8" name="AutoShape 8"/>
            <p:cNvSpPr/>
            <p:nvPr/>
          </p:nvSpPr>
          <p:spPr>
            <a:xfrm>
              <a:off x="12085087" y="0"/>
              <a:ext cx="1005923" cy="1005923"/>
            </a:xfrm>
            <a:prstGeom prst="rect">
              <a:avLst/>
            </a:prstGeom>
            <a:solidFill>
              <a:srgbClr val="BDA565"/>
            </a:solidFill>
          </p:spPr>
          <p:txBody>
            <a:bodyPr/>
            <a:lstStyle/>
            <a:p>
              <a:endParaRPr lang="en-ZA"/>
            </a:p>
          </p:txBody>
        </p:sp>
        <p:sp>
          <p:nvSpPr>
            <p:cNvPr id="9" name="AutoShape 9"/>
            <p:cNvSpPr/>
            <p:nvPr/>
          </p:nvSpPr>
          <p:spPr>
            <a:xfrm>
              <a:off x="10073240" y="1005923"/>
              <a:ext cx="2011847" cy="1005923"/>
            </a:xfrm>
            <a:prstGeom prst="rect">
              <a:avLst/>
            </a:prstGeom>
            <a:solidFill>
              <a:srgbClr val="BDA565"/>
            </a:solidFill>
          </p:spPr>
          <p:txBody>
            <a:bodyPr/>
            <a:lstStyle/>
            <a:p>
              <a:endParaRPr lang="en-ZA"/>
            </a:p>
          </p:txBody>
        </p:sp>
        <p:sp>
          <p:nvSpPr>
            <p:cNvPr id="10" name="AutoShape 10"/>
            <p:cNvSpPr/>
            <p:nvPr/>
          </p:nvSpPr>
          <p:spPr>
            <a:xfrm>
              <a:off x="1005923" y="2011847"/>
              <a:ext cx="2011847" cy="1005923"/>
            </a:xfrm>
            <a:prstGeom prst="rect">
              <a:avLst/>
            </a:prstGeom>
            <a:solidFill>
              <a:srgbClr val="BDA565"/>
            </a:solidFill>
          </p:spPr>
          <p:txBody>
            <a:bodyPr/>
            <a:lstStyle/>
            <a:p>
              <a:endParaRPr lang="en-ZA"/>
            </a:p>
          </p:txBody>
        </p:sp>
        <p:sp>
          <p:nvSpPr>
            <p:cNvPr id="11" name="AutoShape 11"/>
            <p:cNvSpPr/>
            <p:nvPr/>
          </p:nvSpPr>
          <p:spPr>
            <a:xfrm>
              <a:off x="5036620" y="2011847"/>
              <a:ext cx="2025852" cy="1005923"/>
            </a:xfrm>
            <a:prstGeom prst="rect">
              <a:avLst/>
            </a:prstGeom>
            <a:solidFill>
              <a:srgbClr val="FCDFDD"/>
            </a:solidFill>
          </p:spPr>
          <p:txBody>
            <a:bodyPr/>
            <a:lstStyle/>
            <a:p>
              <a:endParaRPr lang="en-ZA"/>
            </a:p>
          </p:txBody>
        </p:sp>
        <p:sp>
          <p:nvSpPr>
            <p:cNvPr id="12" name="AutoShape 12"/>
            <p:cNvSpPr/>
            <p:nvPr/>
          </p:nvSpPr>
          <p:spPr>
            <a:xfrm>
              <a:off x="4030697" y="0"/>
              <a:ext cx="1005923" cy="1005923"/>
            </a:xfrm>
            <a:prstGeom prst="rect">
              <a:avLst/>
            </a:prstGeom>
            <a:solidFill>
              <a:srgbClr val="BDA565"/>
            </a:solidFill>
          </p:spPr>
          <p:txBody>
            <a:bodyPr/>
            <a:lstStyle/>
            <a:p>
              <a:endParaRPr lang="en-ZA"/>
            </a:p>
          </p:txBody>
        </p:sp>
        <p:sp>
          <p:nvSpPr>
            <p:cNvPr id="13" name="AutoShape 13"/>
            <p:cNvSpPr/>
            <p:nvPr/>
          </p:nvSpPr>
          <p:spPr>
            <a:xfrm>
              <a:off x="7055470" y="0"/>
              <a:ext cx="1005923" cy="1005923"/>
            </a:xfrm>
            <a:prstGeom prst="rect">
              <a:avLst/>
            </a:prstGeom>
            <a:solidFill>
              <a:srgbClr val="FCDFDD"/>
            </a:solidFill>
          </p:spPr>
          <p:txBody>
            <a:bodyPr/>
            <a:lstStyle/>
            <a:p>
              <a:endParaRPr lang="en-ZA"/>
            </a:p>
          </p:txBody>
        </p:sp>
        <p:sp>
          <p:nvSpPr>
            <p:cNvPr id="14" name="AutoShape 14"/>
            <p:cNvSpPr/>
            <p:nvPr/>
          </p:nvSpPr>
          <p:spPr>
            <a:xfrm>
              <a:off x="5029617" y="1005923"/>
              <a:ext cx="1005923" cy="1005923"/>
            </a:xfrm>
            <a:prstGeom prst="rect">
              <a:avLst/>
            </a:prstGeom>
            <a:solidFill>
              <a:srgbClr val="BDA565"/>
            </a:solidFill>
          </p:spPr>
          <p:txBody>
            <a:bodyPr/>
            <a:lstStyle/>
            <a:p>
              <a:endParaRPr lang="en-ZA"/>
            </a:p>
          </p:txBody>
        </p:sp>
        <p:sp>
          <p:nvSpPr>
            <p:cNvPr id="15" name="AutoShape 15"/>
            <p:cNvSpPr/>
            <p:nvPr/>
          </p:nvSpPr>
          <p:spPr>
            <a:xfrm>
              <a:off x="4030697" y="2011847"/>
              <a:ext cx="1005923" cy="1005923"/>
            </a:xfrm>
            <a:prstGeom prst="rect">
              <a:avLst/>
            </a:prstGeom>
            <a:solidFill>
              <a:srgbClr val="BDA565"/>
            </a:solidFill>
          </p:spPr>
          <p:txBody>
            <a:bodyPr/>
            <a:lstStyle/>
            <a:p>
              <a:endParaRPr lang="en-ZA"/>
            </a:p>
          </p:txBody>
        </p:sp>
        <p:sp>
          <p:nvSpPr>
            <p:cNvPr id="16" name="AutoShape 16"/>
            <p:cNvSpPr/>
            <p:nvPr/>
          </p:nvSpPr>
          <p:spPr>
            <a:xfrm>
              <a:off x="2011847" y="0"/>
              <a:ext cx="1005923" cy="1005923"/>
            </a:xfrm>
            <a:prstGeom prst="rect">
              <a:avLst/>
            </a:prstGeom>
            <a:solidFill>
              <a:srgbClr val="BDA565"/>
            </a:solidFill>
          </p:spPr>
          <p:txBody>
            <a:bodyPr/>
            <a:lstStyle/>
            <a:p>
              <a:endParaRPr lang="en-ZA"/>
            </a:p>
          </p:txBody>
        </p:sp>
        <p:sp>
          <p:nvSpPr>
            <p:cNvPr id="17" name="AutoShape 17"/>
            <p:cNvSpPr/>
            <p:nvPr/>
          </p:nvSpPr>
          <p:spPr>
            <a:xfrm>
              <a:off x="9067317" y="1005923"/>
              <a:ext cx="1005923" cy="1005923"/>
            </a:xfrm>
            <a:prstGeom prst="rect">
              <a:avLst/>
            </a:prstGeom>
            <a:solidFill>
              <a:srgbClr val="FCDFDD"/>
            </a:solidFill>
          </p:spPr>
          <p:txBody>
            <a:bodyPr/>
            <a:lstStyle/>
            <a:p>
              <a:endParaRPr lang="en-ZA"/>
            </a:p>
          </p:txBody>
        </p:sp>
        <p:sp>
          <p:nvSpPr>
            <p:cNvPr id="18" name="AutoShape 18"/>
            <p:cNvSpPr/>
            <p:nvPr/>
          </p:nvSpPr>
          <p:spPr>
            <a:xfrm>
              <a:off x="8061393" y="1005923"/>
              <a:ext cx="1005923" cy="1005923"/>
            </a:xfrm>
            <a:prstGeom prst="rect">
              <a:avLst/>
            </a:prstGeom>
            <a:solidFill>
              <a:srgbClr val="BDA565"/>
            </a:solidFill>
          </p:spPr>
          <p:txBody>
            <a:bodyPr/>
            <a:lstStyle/>
            <a:p>
              <a:endParaRPr lang="en-ZA"/>
            </a:p>
          </p:txBody>
        </p:sp>
        <p:sp>
          <p:nvSpPr>
            <p:cNvPr id="19" name="AutoShape 19"/>
            <p:cNvSpPr/>
            <p:nvPr/>
          </p:nvSpPr>
          <p:spPr>
            <a:xfrm>
              <a:off x="0" y="1005923"/>
              <a:ext cx="2011847" cy="1005923"/>
            </a:xfrm>
            <a:prstGeom prst="rect">
              <a:avLst/>
            </a:prstGeom>
            <a:solidFill>
              <a:srgbClr val="BDA565"/>
            </a:solidFill>
          </p:spPr>
          <p:txBody>
            <a:bodyPr/>
            <a:lstStyle/>
            <a:p>
              <a:endParaRPr lang="en-ZA"/>
            </a:p>
          </p:txBody>
        </p:sp>
      </p:grpSp>
      <p:sp>
        <p:nvSpPr>
          <p:cNvPr id="20" name="Freeform 20"/>
          <p:cNvSpPr/>
          <p:nvPr/>
        </p:nvSpPr>
        <p:spPr>
          <a:xfrm>
            <a:off x="11313345" y="0"/>
            <a:ext cx="1493457" cy="1493457"/>
          </a:xfrm>
          <a:custGeom>
            <a:avLst/>
            <a:gdLst/>
            <a:ahLst/>
            <a:cxnLst/>
            <a:rect l="l" t="t" r="r" b="b"/>
            <a:pathLst>
              <a:path w="1493457" h="1493457">
                <a:moveTo>
                  <a:pt x="0" y="0"/>
                </a:moveTo>
                <a:lnTo>
                  <a:pt x="1493457" y="0"/>
                </a:lnTo>
                <a:lnTo>
                  <a:pt x="1493457" y="1493457"/>
                </a:lnTo>
                <a:lnTo>
                  <a:pt x="0" y="14934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ZA"/>
          </a:p>
        </p:txBody>
      </p:sp>
      <p:sp>
        <p:nvSpPr>
          <p:cNvPr id="21" name="Freeform 21"/>
          <p:cNvSpPr/>
          <p:nvPr/>
        </p:nvSpPr>
        <p:spPr>
          <a:xfrm>
            <a:off x="16794543" y="8793543"/>
            <a:ext cx="1493457" cy="1493457"/>
          </a:xfrm>
          <a:custGeom>
            <a:avLst/>
            <a:gdLst/>
            <a:ahLst/>
            <a:cxnLst/>
            <a:rect l="l" t="t" r="r" b="b"/>
            <a:pathLst>
              <a:path w="1493457" h="1493457">
                <a:moveTo>
                  <a:pt x="0" y="0"/>
                </a:moveTo>
                <a:lnTo>
                  <a:pt x="1493457" y="0"/>
                </a:lnTo>
                <a:lnTo>
                  <a:pt x="1493457" y="1493457"/>
                </a:lnTo>
                <a:lnTo>
                  <a:pt x="0" y="14934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ZA"/>
          </a:p>
        </p:txBody>
      </p:sp>
      <p:grpSp>
        <p:nvGrpSpPr>
          <p:cNvPr id="22" name="Group 22"/>
          <p:cNvGrpSpPr/>
          <p:nvPr/>
        </p:nvGrpSpPr>
        <p:grpSpPr>
          <a:xfrm>
            <a:off x="1204877" y="2937804"/>
            <a:ext cx="9093040" cy="5840589"/>
            <a:chOff x="0" y="0"/>
            <a:chExt cx="12124054" cy="7787452"/>
          </a:xfrm>
        </p:grpSpPr>
        <p:sp>
          <p:nvSpPr>
            <p:cNvPr id="23" name="TextBox 23"/>
            <p:cNvSpPr txBox="1"/>
            <p:nvPr/>
          </p:nvSpPr>
          <p:spPr>
            <a:xfrm>
              <a:off x="0" y="0"/>
              <a:ext cx="12124054" cy="2819400"/>
            </a:xfrm>
            <a:prstGeom prst="rect">
              <a:avLst/>
            </a:prstGeom>
          </p:spPr>
          <p:txBody>
            <a:bodyPr lIns="0" tIns="0" rIns="0" bIns="0" rtlCol="0" anchor="t">
              <a:spAutoFit/>
            </a:bodyPr>
            <a:lstStyle/>
            <a:p>
              <a:pPr marL="0" lvl="0" indent="0" algn="l">
                <a:lnSpc>
                  <a:spcPts val="8399"/>
                </a:lnSpc>
              </a:pPr>
              <a:r>
                <a:rPr lang="en-US" sz="6999" b="1" u="none" spc="139">
                  <a:solidFill>
                    <a:srgbClr val="201702"/>
                  </a:solidFill>
                  <a:latin typeface="Roboto Mono Bold"/>
                  <a:ea typeface="Roboto Mono Bold"/>
                  <a:cs typeface="Roboto Mono Bold"/>
                  <a:sym typeface="Roboto Mono Bold"/>
                </a:rPr>
                <a:t>Future Work in Campus Safety</a:t>
              </a:r>
            </a:p>
          </p:txBody>
        </p:sp>
        <p:sp>
          <p:nvSpPr>
            <p:cNvPr id="24" name="TextBox 24"/>
            <p:cNvSpPr txBox="1"/>
            <p:nvPr/>
          </p:nvSpPr>
          <p:spPr>
            <a:xfrm>
              <a:off x="0" y="3386853"/>
              <a:ext cx="12124054" cy="1387475"/>
            </a:xfrm>
            <a:prstGeom prst="rect">
              <a:avLst/>
            </a:prstGeom>
          </p:spPr>
          <p:txBody>
            <a:bodyPr lIns="0" tIns="0" rIns="0" bIns="0" rtlCol="0" anchor="t">
              <a:spAutoFit/>
            </a:bodyPr>
            <a:lstStyle/>
            <a:p>
              <a:pPr marL="0" lvl="0" indent="0" algn="l">
                <a:lnSpc>
                  <a:spcPts val="4200"/>
                </a:lnSpc>
              </a:pPr>
              <a:r>
                <a:rPr lang="en-US" sz="3000" b="1" u="none">
                  <a:solidFill>
                    <a:srgbClr val="201702"/>
                  </a:solidFill>
                  <a:latin typeface="Lekton Bold"/>
                  <a:ea typeface="Lekton Bold"/>
                  <a:cs typeface="Lekton Bold"/>
                  <a:sym typeface="Lekton Bold"/>
                </a:rPr>
                <a:t>Enhancing strategies for onboarding, monitoring engagement, and using ML for risk prediction</a:t>
              </a:r>
            </a:p>
          </p:txBody>
        </p:sp>
        <p:sp>
          <p:nvSpPr>
            <p:cNvPr id="25" name="TextBox 25"/>
            <p:cNvSpPr txBox="1"/>
            <p:nvPr/>
          </p:nvSpPr>
          <p:spPr>
            <a:xfrm>
              <a:off x="0" y="5334447"/>
              <a:ext cx="12124054" cy="2453005"/>
            </a:xfrm>
            <a:prstGeom prst="rect">
              <a:avLst/>
            </a:prstGeom>
          </p:spPr>
          <p:txBody>
            <a:bodyPr lIns="0" tIns="0" rIns="0" bIns="0" rtlCol="0" anchor="t">
              <a:spAutoFit/>
            </a:bodyPr>
            <a:lstStyle/>
            <a:p>
              <a:pPr marL="0" lvl="0" indent="0" algn="l">
                <a:lnSpc>
                  <a:spcPts val="2940"/>
                </a:lnSpc>
                <a:spcBef>
                  <a:spcPct val="0"/>
                </a:spcBef>
              </a:pPr>
              <a:r>
                <a:rPr lang="en-US" sz="2100" u="none">
                  <a:solidFill>
                    <a:srgbClr val="201702"/>
                  </a:solidFill>
                  <a:latin typeface="Lekton"/>
                  <a:ea typeface="Lekton"/>
                  <a:cs typeface="Lekton"/>
                  <a:sym typeface="Lekton"/>
                </a:rPr>
                <a:t>Our future work includes developing </a:t>
              </a:r>
              <a:r>
                <a:rPr lang="en-US" sz="2100" b="1" u="none">
                  <a:solidFill>
                    <a:srgbClr val="201702"/>
                  </a:solidFill>
                  <a:latin typeface="Lekton Bold"/>
                  <a:ea typeface="Lekton Bold"/>
                  <a:cs typeface="Lekton Bold"/>
                  <a:sym typeface="Lekton Bold"/>
                </a:rPr>
                <a:t>effective onboarding strategies</a:t>
              </a:r>
              <a:r>
                <a:rPr lang="en-US" sz="2100" u="none">
                  <a:solidFill>
                    <a:srgbClr val="201702"/>
                  </a:solidFill>
                  <a:latin typeface="Lekton"/>
                  <a:ea typeface="Lekton"/>
                  <a:cs typeface="Lekton"/>
                  <a:sym typeface="Lekton"/>
                </a:rPr>
                <a:t> to ensure user familiarity, monitoring engagement levels for continuous improvement, implementing </a:t>
              </a:r>
              <a:r>
                <a:rPr lang="en-US" sz="2100" b="1" u="none">
                  <a:solidFill>
                    <a:srgbClr val="201702"/>
                  </a:solidFill>
                  <a:latin typeface="Lekton Bold"/>
                  <a:ea typeface="Lekton Bold"/>
                  <a:cs typeface="Lekton Bold"/>
                  <a:sym typeface="Lekton Bold"/>
                </a:rPr>
                <a:t>temporal access denial</a:t>
              </a:r>
              <a:r>
                <a:rPr lang="en-US" sz="2100" u="none">
                  <a:solidFill>
                    <a:srgbClr val="201702"/>
                  </a:solidFill>
                  <a:latin typeface="Lekton"/>
                  <a:ea typeface="Lekton"/>
                  <a:cs typeface="Lekton"/>
                  <a:sym typeface="Lekton"/>
                </a:rPr>
                <a:t> for balanced usage, and utilizing machine learning to </a:t>
              </a:r>
              <a:r>
                <a:rPr lang="en-US" sz="2100" b="1" u="none">
                  <a:solidFill>
                    <a:srgbClr val="201702"/>
                  </a:solidFill>
                  <a:latin typeface="Lekton Bold"/>
                  <a:ea typeface="Lekton Bold"/>
                  <a:cs typeface="Lekton Bold"/>
                  <a:sym typeface="Lekton Bold"/>
                </a:rPr>
                <a:t>predict risks</a:t>
              </a:r>
              <a:r>
                <a:rPr lang="en-US" sz="2100" u="none">
                  <a:solidFill>
                    <a:srgbClr val="201702"/>
                  </a:solidFill>
                  <a:latin typeface="Lekton"/>
                  <a:ea typeface="Lekton"/>
                  <a:cs typeface="Lekton"/>
                  <a:sym typeface="Lekton"/>
                </a:rPr>
                <a:t>, enhancing campus safety measures.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0C4D8"/>
        </a:solidFill>
        <a:effectLst/>
      </p:bgPr>
    </p:bg>
    <p:spTree>
      <p:nvGrpSpPr>
        <p:cNvPr id="1" name=""/>
        <p:cNvGrpSpPr/>
        <p:nvPr/>
      </p:nvGrpSpPr>
      <p:grpSpPr>
        <a:xfrm>
          <a:off x="0" y="0"/>
          <a:ext cx="0" cy="0"/>
          <a:chOff x="0" y="0"/>
          <a:chExt cx="0" cy="0"/>
        </a:xfrm>
      </p:grpSpPr>
      <p:sp>
        <p:nvSpPr>
          <p:cNvPr id="2" name="TextBox 2"/>
          <p:cNvSpPr txBox="1"/>
          <p:nvPr/>
        </p:nvSpPr>
        <p:spPr>
          <a:xfrm>
            <a:off x="843847" y="936602"/>
            <a:ext cx="12035270" cy="1047750"/>
          </a:xfrm>
          <a:prstGeom prst="rect">
            <a:avLst/>
          </a:prstGeom>
        </p:spPr>
        <p:txBody>
          <a:bodyPr lIns="0" tIns="0" rIns="0" bIns="0" rtlCol="0" anchor="t">
            <a:spAutoFit/>
          </a:bodyPr>
          <a:lstStyle/>
          <a:p>
            <a:pPr marL="0" lvl="0" indent="0" algn="l">
              <a:lnSpc>
                <a:spcPts val="8294"/>
              </a:lnSpc>
            </a:pPr>
            <a:r>
              <a:rPr lang="en-US" sz="6912" b="1" dirty="0">
                <a:solidFill>
                  <a:srgbClr val="201702"/>
                </a:solidFill>
                <a:latin typeface="Roboto Mono Bold"/>
                <a:ea typeface="Roboto Mono Bold"/>
                <a:cs typeface="Roboto Mono Bold"/>
                <a:sym typeface="Roboto Mono Bold"/>
              </a:rPr>
              <a:t>References:</a:t>
            </a:r>
          </a:p>
        </p:txBody>
      </p:sp>
      <p:grpSp>
        <p:nvGrpSpPr>
          <p:cNvPr id="3" name="Group 3"/>
          <p:cNvGrpSpPr/>
          <p:nvPr/>
        </p:nvGrpSpPr>
        <p:grpSpPr>
          <a:xfrm>
            <a:off x="14635485" y="-84574"/>
            <a:ext cx="3652515" cy="10391775"/>
            <a:chOff x="0" y="0"/>
            <a:chExt cx="961979" cy="2736928"/>
          </a:xfrm>
        </p:grpSpPr>
        <p:sp>
          <p:nvSpPr>
            <p:cNvPr id="4" name="Freeform 4"/>
            <p:cNvSpPr/>
            <p:nvPr/>
          </p:nvSpPr>
          <p:spPr>
            <a:xfrm>
              <a:off x="0" y="0"/>
              <a:ext cx="961979" cy="2736928"/>
            </a:xfrm>
            <a:custGeom>
              <a:avLst/>
              <a:gdLst/>
              <a:ahLst/>
              <a:cxnLst/>
              <a:rect l="l" t="t" r="r" b="b"/>
              <a:pathLst>
                <a:path w="961979" h="2736928">
                  <a:moveTo>
                    <a:pt x="0" y="0"/>
                  </a:moveTo>
                  <a:lnTo>
                    <a:pt x="961979" y="0"/>
                  </a:lnTo>
                  <a:lnTo>
                    <a:pt x="961979" y="2736928"/>
                  </a:lnTo>
                  <a:lnTo>
                    <a:pt x="0" y="2736928"/>
                  </a:lnTo>
                  <a:close/>
                </a:path>
              </a:pathLst>
            </a:custGeom>
            <a:solidFill>
              <a:srgbClr val="FCDFDD"/>
            </a:solidFill>
          </p:spPr>
          <p:txBody>
            <a:bodyPr/>
            <a:lstStyle/>
            <a:p>
              <a:endParaRPr lang="en-ZA"/>
            </a:p>
          </p:txBody>
        </p:sp>
        <p:sp>
          <p:nvSpPr>
            <p:cNvPr id="5" name="TextBox 5"/>
            <p:cNvSpPr txBox="1"/>
            <p:nvPr/>
          </p:nvSpPr>
          <p:spPr>
            <a:xfrm>
              <a:off x="0" y="-28575"/>
              <a:ext cx="961979" cy="2765503"/>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rot="-5400000">
            <a:off x="8230871" y="8230871"/>
            <a:ext cx="18288000" cy="1826257"/>
            <a:chOff x="0" y="0"/>
            <a:chExt cx="24384000" cy="2435010"/>
          </a:xfrm>
        </p:grpSpPr>
        <p:sp>
          <p:nvSpPr>
            <p:cNvPr id="7" name="AutoShape 7"/>
            <p:cNvSpPr/>
            <p:nvPr/>
          </p:nvSpPr>
          <p:spPr>
            <a:xfrm>
              <a:off x="8939670" y="1623340"/>
              <a:ext cx="1623340" cy="811670"/>
            </a:xfrm>
            <a:prstGeom prst="rect">
              <a:avLst/>
            </a:prstGeom>
            <a:solidFill>
              <a:srgbClr val="BDA565"/>
            </a:solidFill>
          </p:spPr>
          <p:txBody>
            <a:bodyPr/>
            <a:lstStyle/>
            <a:p>
              <a:endParaRPr lang="en-ZA"/>
            </a:p>
          </p:txBody>
        </p:sp>
        <p:sp>
          <p:nvSpPr>
            <p:cNvPr id="8" name="AutoShape 8"/>
            <p:cNvSpPr/>
            <p:nvPr/>
          </p:nvSpPr>
          <p:spPr>
            <a:xfrm>
              <a:off x="12192000" y="1623340"/>
              <a:ext cx="1634641" cy="811670"/>
            </a:xfrm>
            <a:prstGeom prst="rect">
              <a:avLst/>
            </a:prstGeom>
            <a:solidFill>
              <a:srgbClr val="BDA565"/>
            </a:solidFill>
          </p:spPr>
          <p:txBody>
            <a:bodyPr/>
            <a:lstStyle/>
            <a:p>
              <a:endParaRPr lang="en-ZA"/>
            </a:p>
          </p:txBody>
        </p:sp>
        <p:sp>
          <p:nvSpPr>
            <p:cNvPr id="9" name="AutoShape 9"/>
            <p:cNvSpPr/>
            <p:nvPr/>
          </p:nvSpPr>
          <p:spPr>
            <a:xfrm>
              <a:off x="11380330" y="0"/>
              <a:ext cx="811670" cy="811670"/>
            </a:xfrm>
            <a:prstGeom prst="rect">
              <a:avLst/>
            </a:prstGeom>
            <a:solidFill>
              <a:srgbClr val="BDA565"/>
            </a:solidFill>
          </p:spPr>
          <p:txBody>
            <a:bodyPr/>
            <a:lstStyle/>
            <a:p>
              <a:endParaRPr lang="en-ZA"/>
            </a:p>
          </p:txBody>
        </p:sp>
        <p:sp>
          <p:nvSpPr>
            <p:cNvPr id="10" name="AutoShape 10"/>
            <p:cNvSpPr/>
            <p:nvPr/>
          </p:nvSpPr>
          <p:spPr>
            <a:xfrm>
              <a:off x="13820990" y="0"/>
              <a:ext cx="811670" cy="811670"/>
            </a:xfrm>
            <a:prstGeom prst="rect">
              <a:avLst/>
            </a:prstGeom>
            <a:solidFill>
              <a:srgbClr val="BDA565"/>
            </a:solidFill>
          </p:spPr>
          <p:txBody>
            <a:bodyPr/>
            <a:lstStyle/>
            <a:p>
              <a:endParaRPr lang="en-ZA"/>
            </a:p>
          </p:txBody>
        </p:sp>
        <p:sp>
          <p:nvSpPr>
            <p:cNvPr id="11" name="AutoShape 11"/>
            <p:cNvSpPr/>
            <p:nvPr/>
          </p:nvSpPr>
          <p:spPr>
            <a:xfrm>
              <a:off x="12186350" y="811670"/>
              <a:ext cx="811670" cy="811670"/>
            </a:xfrm>
            <a:prstGeom prst="rect">
              <a:avLst/>
            </a:prstGeom>
            <a:solidFill>
              <a:srgbClr val="F7BDB9"/>
            </a:solidFill>
          </p:spPr>
          <p:txBody>
            <a:bodyPr/>
            <a:lstStyle/>
            <a:p>
              <a:endParaRPr lang="en-ZA"/>
            </a:p>
          </p:txBody>
        </p:sp>
        <p:sp>
          <p:nvSpPr>
            <p:cNvPr id="12" name="AutoShape 12"/>
            <p:cNvSpPr/>
            <p:nvPr/>
          </p:nvSpPr>
          <p:spPr>
            <a:xfrm>
              <a:off x="11380330" y="1623340"/>
              <a:ext cx="811670" cy="811670"/>
            </a:xfrm>
            <a:prstGeom prst="rect">
              <a:avLst/>
            </a:prstGeom>
            <a:solidFill>
              <a:srgbClr val="F7BDB9"/>
            </a:solidFill>
          </p:spPr>
          <p:txBody>
            <a:bodyPr/>
            <a:lstStyle/>
            <a:p>
              <a:endParaRPr lang="en-ZA"/>
            </a:p>
          </p:txBody>
        </p:sp>
        <p:sp>
          <p:nvSpPr>
            <p:cNvPr id="13" name="AutoShape 13"/>
            <p:cNvSpPr/>
            <p:nvPr/>
          </p:nvSpPr>
          <p:spPr>
            <a:xfrm>
              <a:off x="9751340" y="0"/>
              <a:ext cx="811670" cy="811670"/>
            </a:xfrm>
            <a:prstGeom prst="rect">
              <a:avLst/>
            </a:prstGeom>
            <a:solidFill>
              <a:srgbClr val="F7BDB9"/>
            </a:solidFill>
          </p:spPr>
          <p:txBody>
            <a:bodyPr/>
            <a:lstStyle/>
            <a:p>
              <a:endParaRPr lang="en-ZA"/>
            </a:p>
          </p:txBody>
        </p:sp>
        <p:sp>
          <p:nvSpPr>
            <p:cNvPr id="14" name="AutoShape 14"/>
            <p:cNvSpPr/>
            <p:nvPr/>
          </p:nvSpPr>
          <p:spPr>
            <a:xfrm>
              <a:off x="15444330" y="811670"/>
              <a:ext cx="811670" cy="811670"/>
            </a:xfrm>
            <a:prstGeom prst="rect">
              <a:avLst/>
            </a:prstGeom>
            <a:solidFill>
              <a:srgbClr val="BDA565"/>
            </a:solidFill>
          </p:spPr>
          <p:txBody>
            <a:bodyPr/>
            <a:lstStyle/>
            <a:p>
              <a:endParaRPr lang="en-ZA"/>
            </a:p>
          </p:txBody>
        </p:sp>
        <p:sp>
          <p:nvSpPr>
            <p:cNvPr id="15" name="AutoShape 15"/>
            <p:cNvSpPr/>
            <p:nvPr/>
          </p:nvSpPr>
          <p:spPr>
            <a:xfrm>
              <a:off x="14632660" y="811670"/>
              <a:ext cx="811670" cy="811670"/>
            </a:xfrm>
            <a:prstGeom prst="rect">
              <a:avLst/>
            </a:prstGeom>
            <a:solidFill>
              <a:srgbClr val="F7BDB9"/>
            </a:solidFill>
          </p:spPr>
          <p:txBody>
            <a:bodyPr/>
            <a:lstStyle/>
            <a:p>
              <a:endParaRPr lang="en-ZA"/>
            </a:p>
          </p:txBody>
        </p:sp>
        <p:sp>
          <p:nvSpPr>
            <p:cNvPr id="16" name="AutoShape 16"/>
            <p:cNvSpPr/>
            <p:nvPr/>
          </p:nvSpPr>
          <p:spPr>
            <a:xfrm>
              <a:off x="8128000" y="811670"/>
              <a:ext cx="1623340" cy="811670"/>
            </a:xfrm>
            <a:prstGeom prst="rect">
              <a:avLst/>
            </a:prstGeom>
            <a:solidFill>
              <a:srgbClr val="F7BDB9"/>
            </a:solidFill>
          </p:spPr>
          <p:txBody>
            <a:bodyPr/>
            <a:lstStyle/>
            <a:p>
              <a:endParaRPr lang="en-ZA"/>
            </a:p>
          </p:txBody>
        </p:sp>
        <p:sp>
          <p:nvSpPr>
            <p:cNvPr id="17" name="AutoShape 17"/>
            <p:cNvSpPr/>
            <p:nvPr/>
          </p:nvSpPr>
          <p:spPr>
            <a:xfrm>
              <a:off x="811670" y="1623340"/>
              <a:ext cx="1623340" cy="811670"/>
            </a:xfrm>
            <a:prstGeom prst="rect">
              <a:avLst/>
            </a:prstGeom>
            <a:solidFill>
              <a:srgbClr val="BDA565"/>
            </a:solidFill>
          </p:spPr>
          <p:txBody>
            <a:bodyPr/>
            <a:lstStyle/>
            <a:p>
              <a:endParaRPr lang="en-ZA"/>
            </a:p>
          </p:txBody>
        </p:sp>
        <p:sp>
          <p:nvSpPr>
            <p:cNvPr id="18" name="AutoShape 18"/>
            <p:cNvSpPr/>
            <p:nvPr/>
          </p:nvSpPr>
          <p:spPr>
            <a:xfrm>
              <a:off x="4064000" y="1623340"/>
              <a:ext cx="1634641" cy="811670"/>
            </a:xfrm>
            <a:prstGeom prst="rect">
              <a:avLst/>
            </a:prstGeom>
            <a:solidFill>
              <a:srgbClr val="BDA565"/>
            </a:solidFill>
          </p:spPr>
          <p:txBody>
            <a:bodyPr/>
            <a:lstStyle/>
            <a:p>
              <a:endParaRPr lang="en-ZA"/>
            </a:p>
          </p:txBody>
        </p:sp>
        <p:sp>
          <p:nvSpPr>
            <p:cNvPr id="19" name="AutoShape 19"/>
            <p:cNvSpPr/>
            <p:nvPr/>
          </p:nvSpPr>
          <p:spPr>
            <a:xfrm>
              <a:off x="3252330" y="0"/>
              <a:ext cx="811670" cy="811670"/>
            </a:xfrm>
            <a:prstGeom prst="rect">
              <a:avLst/>
            </a:prstGeom>
            <a:solidFill>
              <a:srgbClr val="BDA565"/>
            </a:solidFill>
          </p:spPr>
          <p:txBody>
            <a:bodyPr/>
            <a:lstStyle/>
            <a:p>
              <a:endParaRPr lang="en-ZA"/>
            </a:p>
          </p:txBody>
        </p:sp>
        <p:sp>
          <p:nvSpPr>
            <p:cNvPr id="20" name="AutoShape 20"/>
            <p:cNvSpPr/>
            <p:nvPr/>
          </p:nvSpPr>
          <p:spPr>
            <a:xfrm>
              <a:off x="5692990" y="0"/>
              <a:ext cx="811670" cy="811670"/>
            </a:xfrm>
            <a:prstGeom prst="rect">
              <a:avLst/>
            </a:prstGeom>
            <a:solidFill>
              <a:srgbClr val="BDA565"/>
            </a:solidFill>
          </p:spPr>
          <p:txBody>
            <a:bodyPr/>
            <a:lstStyle/>
            <a:p>
              <a:endParaRPr lang="en-ZA"/>
            </a:p>
          </p:txBody>
        </p:sp>
        <p:sp>
          <p:nvSpPr>
            <p:cNvPr id="21" name="AutoShape 21"/>
            <p:cNvSpPr/>
            <p:nvPr/>
          </p:nvSpPr>
          <p:spPr>
            <a:xfrm>
              <a:off x="4058350" y="811670"/>
              <a:ext cx="811670" cy="811670"/>
            </a:xfrm>
            <a:prstGeom prst="rect">
              <a:avLst/>
            </a:prstGeom>
            <a:solidFill>
              <a:srgbClr val="F7BDB9"/>
            </a:solidFill>
          </p:spPr>
          <p:txBody>
            <a:bodyPr/>
            <a:lstStyle/>
            <a:p>
              <a:endParaRPr lang="en-ZA"/>
            </a:p>
          </p:txBody>
        </p:sp>
        <p:sp>
          <p:nvSpPr>
            <p:cNvPr id="22" name="AutoShape 22"/>
            <p:cNvSpPr/>
            <p:nvPr/>
          </p:nvSpPr>
          <p:spPr>
            <a:xfrm>
              <a:off x="3252330" y="1623340"/>
              <a:ext cx="811670" cy="811670"/>
            </a:xfrm>
            <a:prstGeom prst="rect">
              <a:avLst/>
            </a:prstGeom>
            <a:solidFill>
              <a:srgbClr val="F7BDB9"/>
            </a:solidFill>
          </p:spPr>
          <p:txBody>
            <a:bodyPr/>
            <a:lstStyle/>
            <a:p>
              <a:endParaRPr lang="en-ZA"/>
            </a:p>
          </p:txBody>
        </p:sp>
        <p:sp>
          <p:nvSpPr>
            <p:cNvPr id="23" name="AutoShape 23"/>
            <p:cNvSpPr/>
            <p:nvPr/>
          </p:nvSpPr>
          <p:spPr>
            <a:xfrm>
              <a:off x="1623340" y="0"/>
              <a:ext cx="811670" cy="811670"/>
            </a:xfrm>
            <a:prstGeom prst="rect">
              <a:avLst/>
            </a:prstGeom>
            <a:solidFill>
              <a:srgbClr val="F7BDB9"/>
            </a:solidFill>
          </p:spPr>
          <p:txBody>
            <a:bodyPr/>
            <a:lstStyle/>
            <a:p>
              <a:endParaRPr lang="en-ZA"/>
            </a:p>
          </p:txBody>
        </p:sp>
        <p:sp>
          <p:nvSpPr>
            <p:cNvPr id="24" name="AutoShape 24"/>
            <p:cNvSpPr/>
            <p:nvPr/>
          </p:nvSpPr>
          <p:spPr>
            <a:xfrm>
              <a:off x="7316330" y="811670"/>
              <a:ext cx="811670" cy="811670"/>
            </a:xfrm>
            <a:prstGeom prst="rect">
              <a:avLst/>
            </a:prstGeom>
            <a:solidFill>
              <a:srgbClr val="BDA565"/>
            </a:solidFill>
          </p:spPr>
          <p:txBody>
            <a:bodyPr/>
            <a:lstStyle/>
            <a:p>
              <a:endParaRPr lang="en-ZA"/>
            </a:p>
          </p:txBody>
        </p:sp>
        <p:sp>
          <p:nvSpPr>
            <p:cNvPr id="25" name="AutoShape 25"/>
            <p:cNvSpPr/>
            <p:nvPr/>
          </p:nvSpPr>
          <p:spPr>
            <a:xfrm>
              <a:off x="6504660" y="811670"/>
              <a:ext cx="811670" cy="811670"/>
            </a:xfrm>
            <a:prstGeom prst="rect">
              <a:avLst/>
            </a:prstGeom>
            <a:solidFill>
              <a:srgbClr val="F7BDB9"/>
            </a:solidFill>
          </p:spPr>
          <p:txBody>
            <a:bodyPr/>
            <a:lstStyle/>
            <a:p>
              <a:endParaRPr lang="en-ZA"/>
            </a:p>
          </p:txBody>
        </p:sp>
        <p:sp>
          <p:nvSpPr>
            <p:cNvPr id="26" name="AutoShape 26"/>
            <p:cNvSpPr/>
            <p:nvPr/>
          </p:nvSpPr>
          <p:spPr>
            <a:xfrm>
              <a:off x="0" y="811670"/>
              <a:ext cx="1623340" cy="811670"/>
            </a:xfrm>
            <a:prstGeom prst="rect">
              <a:avLst/>
            </a:prstGeom>
            <a:solidFill>
              <a:srgbClr val="F7BDB9"/>
            </a:solidFill>
          </p:spPr>
          <p:txBody>
            <a:bodyPr/>
            <a:lstStyle/>
            <a:p>
              <a:endParaRPr lang="en-ZA"/>
            </a:p>
          </p:txBody>
        </p:sp>
        <p:sp>
          <p:nvSpPr>
            <p:cNvPr id="27" name="AutoShape 27"/>
            <p:cNvSpPr/>
            <p:nvPr/>
          </p:nvSpPr>
          <p:spPr>
            <a:xfrm>
              <a:off x="17067670" y="1623340"/>
              <a:ext cx="1623340" cy="811670"/>
            </a:xfrm>
            <a:prstGeom prst="rect">
              <a:avLst/>
            </a:prstGeom>
            <a:solidFill>
              <a:srgbClr val="BDA565"/>
            </a:solidFill>
          </p:spPr>
          <p:txBody>
            <a:bodyPr/>
            <a:lstStyle/>
            <a:p>
              <a:endParaRPr lang="en-ZA"/>
            </a:p>
          </p:txBody>
        </p:sp>
        <p:sp>
          <p:nvSpPr>
            <p:cNvPr id="28" name="AutoShape 28"/>
            <p:cNvSpPr/>
            <p:nvPr/>
          </p:nvSpPr>
          <p:spPr>
            <a:xfrm>
              <a:off x="20320000" y="1623340"/>
              <a:ext cx="1634641" cy="811670"/>
            </a:xfrm>
            <a:prstGeom prst="rect">
              <a:avLst/>
            </a:prstGeom>
            <a:solidFill>
              <a:srgbClr val="BDA565"/>
            </a:solidFill>
          </p:spPr>
          <p:txBody>
            <a:bodyPr/>
            <a:lstStyle/>
            <a:p>
              <a:endParaRPr lang="en-ZA"/>
            </a:p>
          </p:txBody>
        </p:sp>
        <p:sp>
          <p:nvSpPr>
            <p:cNvPr id="29" name="AutoShape 29"/>
            <p:cNvSpPr/>
            <p:nvPr/>
          </p:nvSpPr>
          <p:spPr>
            <a:xfrm>
              <a:off x="19508330" y="0"/>
              <a:ext cx="811670" cy="811670"/>
            </a:xfrm>
            <a:prstGeom prst="rect">
              <a:avLst/>
            </a:prstGeom>
            <a:solidFill>
              <a:srgbClr val="BDA565"/>
            </a:solidFill>
          </p:spPr>
          <p:txBody>
            <a:bodyPr/>
            <a:lstStyle/>
            <a:p>
              <a:endParaRPr lang="en-ZA"/>
            </a:p>
          </p:txBody>
        </p:sp>
        <p:sp>
          <p:nvSpPr>
            <p:cNvPr id="30" name="AutoShape 30"/>
            <p:cNvSpPr/>
            <p:nvPr/>
          </p:nvSpPr>
          <p:spPr>
            <a:xfrm>
              <a:off x="21948990" y="0"/>
              <a:ext cx="811670" cy="811670"/>
            </a:xfrm>
            <a:prstGeom prst="rect">
              <a:avLst/>
            </a:prstGeom>
            <a:solidFill>
              <a:srgbClr val="BDA565"/>
            </a:solidFill>
          </p:spPr>
          <p:txBody>
            <a:bodyPr/>
            <a:lstStyle/>
            <a:p>
              <a:endParaRPr lang="en-ZA"/>
            </a:p>
          </p:txBody>
        </p:sp>
        <p:sp>
          <p:nvSpPr>
            <p:cNvPr id="31" name="AutoShape 31"/>
            <p:cNvSpPr/>
            <p:nvPr/>
          </p:nvSpPr>
          <p:spPr>
            <a:xfrm>
              <a:off x="20314350" y="811670"/>
              <a:ext cx="811670" cy="811670"/>
            </a:xfrm>
            <a:prstGeom prst="rect">
              <a:avLst/>
            </a:prstGeom>
            <a:solidFill>
              <a:srgbClr val="F7BDB9"/>
            </a:solidFill>
          </p:spPr>
          <p:txBody>
            <a:bodyPr/>
            <a:lstStyle/>
            <a:p>
              <a:endParaRPr lang="en-ZA"/>
            </a:p>
          </p:txBody>
        </p:sp>
        <p:sp>
          <p:nvSpPr>
            <p:cNvPr id="32" name="AutoShape 32"/>
            <p:cNvSpPr/>
            <p:nvPr/>
          </p:nvSpPr>
          <p:spPr>
            <a:xfrm>
              <a:off x="19508330" y="1623340"/>
              <a:ext cx="811670" cy="811670"/>
            </a:xfrm>
            <a:prstGeom prst="rect">
              <a:avLst/>
            </a:prstGeom>
            <a:solidFill>
              <a:srgbClr val="F7BDB9"/>
            </a:solidFill>
          </p:spPr>
          <p:txBody>
            <a:bodyPr/>
            <a:lstStyle/>
            <a:p>
              <a:endParaRPr lang="en-ZA"/>
            </a:p>
          </p:txBody>
        </p:sp>
        <p:sp>
          <p:nvSpPr>
            <p:cNvPr id="33" name="AutoShape 33"/>
            <p:cNvSpPr/>
            <p:nvPr/>
          </p:nvSpPr>
          <p:spPr>
            <a:xfrm>
              <a:off x="17879340" y="0"/>
              <a:ext cx="811670" cy="811670"/>
            </a:xfrm>
            <a:prstGeom prst="rect">
              <a:avLst/>
            </a:prstGeom>
            <a:solidFill>
              <a:srgbClr val="F7BDB9"/>
            </a:solidFill>
          </p:spPr>
          <p:txBody>
            <a:bodyPr/>
            <a:lstStyle/>
            <a:p>
              <a:endParaRPr lang="en-ZA"/>
            </a:p>
          </p:txBody>
        </p:sp>
        <p:sp>
          <p:nvSpPr>
            <p:cNvPr id="34" name="AutoShape 34"/>
            <p:cNvSpPr/>
            <p:nvPr/>
          </p:nvSpPr>
          <p:spPr>
            <a:xfrm>
              <a:off x="23572330" y="811670"/>
              <a:ext cx="811670" cy="811670"/>
            </a:xfrm>
            <a:prstGeom prst="rect">
              <a:avLst/>
            </a:prstGeom>
            <a:solidFill>
              <a:srgbClr val="BDA565"/>
            </a:solidFill>
          </p:spPr>
          <p:txBody>
            <a:bodyPr/>
            <a:lstStyle/>
            <a:p>
              <a:endParaRPr lang="en-ZA"/>
            </a:p>
          </p:txBody>
        </p:sp>
        <p:sp>
          <p:nvSpPr>
            <p:cNvPr id="35" name="AutoShape 35"/>
            <p:cNvSpPr/>
            <p:nvPr/>
          </p:nvSpPr>
          <p:spPr>
            <a:xfrm>
              <a:off x="22760660" y="811670"/>
              <a:ext cx="811670" cy="811670"/>
            </a:xfrm>
            <a:prstGeom prst="rect">
              <a:avLst/>
            </a:prstGeom>
            <a:solidFill>
              <a:srgbClr val="F7BDB9"/>
            </a:solidFill>
          </p:spPr>
          <p:txBody>
            <a:bodyPr/>
            <a:lstStyle/>
            <a:p>
              <a:endParaRPr lang="en-ZA"/>
            </a:p>
          </p:txBody>
        </p:sp>
        <p:sp>
          <p:nvSpPr>
            <p:cNvPr id="36" name="AutoShape 36"/>
            <p:cNvSpPr/>
            <p:nvPr/>
          </p:nvSpPr>
          <p:spPr>
            <a:xfrm>
              <a:off x="16256000" y="811670"/>
              <a:ext cx="1623340" cy="811670"/>
            </a:xfrm>
            <a:prstGeom prst="rect">
              <a:avLst/>
            </a:prstGeom>
            <a:solidFill>
              <a:srgbClr val="F7BDB9"/>
            </a:solidFill>
          </p:spPr>
          <p:txBody>
            <a:bodyPr/>
            <a:lstStyle/>
            <a:p>
              <a:endParaRPr lang="en-ZA"/>
            </a:p>
          </p:txBody>
        </p:sp>
      </p:grpSp>
      <p:grpSp>
        <p:nvGrpSpPr>
          <p:cNvPr id="37" name="Group 37"/>
          <p:cNvGrpSpPr/>
          <p:nvPr/>
        </p:nvGrpSpPr>
        <p:grpSpPr>
          <a:xfrm rot="-5400000">
            <a:off x="6404614" y="304608"/>
            <a:ext cx="18288000" cy="1826257"/>
            <a:chOff x="0" y="0"/>
            <a:chExt cx="24384000" cy="2435010"/>
          </a:xfrm>
        </p:grpSpPr>
        <p:sp>
          <p:nvSpPr>
            <p:cNvPr id="38" name="AutoShape 38"/>
            <p:cNvSpPr/>
            <p:nvPr/>
          </p:nvSpPr>
          <p:spPr>
            <a:xfrm>
              <a:off x="8939670" y="1623340"/>
              <a:ext cx="1623340" cy="811670"/>
            </a:xfrm>
            <a:prstGeom prst="rect">
              <a:avLst/>
            </a:prstGeom>
            <a:solidFill>
              <a:srgbClr val="BDA565"/>
            </a:solidFill>
          </p:spPr>
          <p:txBody>
            <a:bodyPr/>
            <a:lstStyle/>
            <a:p>
              <a:endParaRPr lang="en-ZA"/>
            </a:p>
          </p:txBody>
        </p:sp>
        <p:sp>
          <p:nvSpPr>
            <p:cNvPr id="39" name="AutoShape 39"/>
            <p:cNvSpPr/>
            <p:nvPr/>
          </p:nvSpPr>
          <p:spPr>
            <a:xfrm>
              <a:off x="12192000" y="1623340"/>
              <a:ext cx="1634641" cy="811670"/>
            </a:xfrm>
            <a:prstGeom prst="rect">
              <a:avLst/>
            </a:prstGeom>
            <a:solidFill>
              <a:srgbClr val="BDA565"/>
            </a:solidFill>
          </p:spPr>
          <p:txBody>
            <a:bodyPr/>
            <a:lstStyle/>
            <a:p>
              <a:endParaRPr lang="en-ZA"/>
            </a:p>
          </p:txBody>
        </p:sp>
        <p:sp>
          <p:nvSpPr>
            <p:cNvPr id="40" name="AutoShape 40"/>
            <p:cNvSpPr/>
            <p:nvPr/>
          </p:nvSpPr>
          <p:spPr>
            <a:xfrm>
              <a:off x="11380330" y="0"/>
              <a:ext cx="811670" cy="811670"/>
            </a:xfrm>
            <a:prstGeom prst="rect">
              <a:avLst/>
            </a:prstGeom>
            <a:solidFill>
              <a:srgbClr val="BDA565"/>
            </a:solidFill>
          </p:spPr>
          <p:txBody>
            <a:bodyPr/>
            <a:lstStyle/>
            <a:p>
              <a:endParaRPr lang="en-ZA"/>
            </a:p>
          </p:txBody>
        </p:sp>
        <p:sp>
          <p:nvSpPr>
            <p:cNvPr id="41" name="AutoShape 41"/>
            <p:cNvSpPr/>
            <p:nvPr/>
          </p:nvSpPr>
          <p:spPr>
            <a:xfrm>
              <a:off x="13820990" y="0"/>
              <a:ext cx="811670" cy="811670"/>
            </a:xfrm>
            <a:prstGeom prst="rect">
              <a:avLst/>
            </a:prstGeom>
            <a:solidFill>
              <a:srgbClr val="BDA565"/>
            </a:solidFill>
          </p:spPr>
          <p:txBody>
            <a:bodyPr/>
            <a:lstStyle/>
            <a:p>
              <a:endParaRPr lang="en-ZA"/>
            </a:p>
          </p:txBody>
        </p:sp>
        <p:sp>
          <p:nvSpPr>
            <p:cNvPr id="42" name="AutoShape 42"/>
            <p:cNvSpPr/>
            <p:nvPr/>
          </p:nvSpPr>
          <p:spPr>
            <a:xfrm>
              <a:off x="12186350" y="811670"/>
              <a:ext cx="811670" cy="811670"/>
            </a:xfrm>
            <a:prstGeom prst="rect">
              <a:avLst/>
            </a:prstGeom>
            <a:solidFill>
              <a:srgbClr val="F7BDB9"/>
            </a:solidFill>
          </p:spPr>
          <p:txBody>
            <a:bodyPr/>
            <a:lstStyle/>
            <a:p>
              <a:endParaRPr lang="en-ZA"/>
            </a:p>
          </p:txBody>
        </p:sp>
        <p:sp>
          <p:nvSpPr>
            <p:cNvPr id="43" name="AutoShape 43"/>
            <p:cNvSpPr/>
            <p:nvPr/>
          </p:nvSpPr>
          <p:spPr>
            <a:xfrm>
              <a:off x="11380330" y="1623340"/>
              <a:ext cx="811670" cy="811670"/>
            </a:xfrm>
            <a:prstGeom prst="rect">
              <a:avLst/>
            </a:prstGeom>
            <a:solidFill>
              <a:srgbClr val="F7BDB9"/>
            </a:solidFill>
          </p:spPr>
          <p:txBody>
            <a:bodyPr/>
            <a:lstStyle/>
            <a:p>
              <a:endParaRPr lang="en-ZA"/>
            </a:p>
          </p:txBody>
        </p:sp>
        <p:sp>
          <p:nvSpPr>
            <p:cNvPr id="44" name="AutoShape 44"/>
            <p:cNvSpPr/>
            <p:nvPr/>
          </p:nvSpPr>
          <p:spPr>
            <a:xfrm>
              <a:off x="9751340" y="0"/>
              <a:ext cx="811670" cy="811670"/>
            </a:xfrm>
            <a:prstGeom prst="rect">
              <a:avLst/>
            </a:prstGeom>
            <a:solidFill>
              <a:srgbClr val="F7BDB9"/>
            </a:solidFill>
          </p:spPr>
          <p:txBody>
            <a:bodyPr/>
            <a:lstStyle/>
            <a:p>
              <a:endParaRPr lang="en-ZA"/>
            </a:p>
          </p:txBody>
        </p:sp>
        <p:sp>
          <p:nvSpPr>
            <p:cNvPr id="45" name="AutoShape 45"/>
            <p:cNvSpPr/>
            <p:nvPr/>
          </p:nvSpPr>
          <p:spPr>
            <a:xfrm>
              <a:off x="15444330" y="811670"/>
              <a:ext cx="811670" cy="811670"/>
            </a:xfrm>
            <a:prstGeom prst="rect">
              <a:avLst/>
            </a:prstGeom>
            <a:solidFill>
              <a:srgbClr val="BDA565"/>
            </a:solidFill>
          </p:spPr>
          <p:txBody>
            <a:bodyPr/>
            <a:lstStyle/>
            <a:p>
              <a:endParaRPr lang="en-ZA"/>
            </a:p>
          </p:txBody>
        </p:sp>
        <p:sp>
          <p:nvSpPr>
            <p:cNvPr id="46" name="AutoShape 46"/>
            <p:cNvSpPr/>
            <p:nvPr/>
          </p:nvSpPr>
          <p:spPr>
            <a:xfrm>
              <a:off x="14632660" y="811670"/>
              <a:ext cx="811670" cy="811670"/>
            </a:xfrm>
            <a:prstGeom prst="rect">
              <a:avLst/>
            </a:prstGeom>
            <a:solidFill>
              <a:srgbClr val="F7BDB9"/>
            </a:solidFill>
          </p:spPr>
          <p:txBody>
            <a:bodyPr/>
            <a:lstStyle/>
            <a:p>
              <a:endParaRPr lang="en-ZA"/>
            </a:p>
          </p:txBody>
        </p:sp>
        <p:sp>
          <p:nvSpPr>
            <p:cNvPr id="47" name="AutoShape 47"/>
            <p:cNvSpPr/>
            <p:nvPr/>
          </p:nvSpPr>
          <p:spPr>
            <a:xfrm>
              <a:off x="8128000" y="811670"/>
              <a:ext cx="1623340" cy="811670"/>
            </a:xfrm>
            <a:prstGeom prst="rect">
              <a:avLst/>
            </a:prstGeom>
            <a:solidFill>
              <a:srgbClr val="F7BDB9"/>
            </a:solidFill>
          </p:spPr>
          <p:txBody>
            <a:bodyPr/>
            <a:lstStyle/>
            <a:p>
              <a:endParaRPr lang="en-ZA"/>
            </a:p>
          </p:txBody>
        </p:sp>
        <p:sp>
          <p:nvSpPr>
            <p:cNvPr id="48" name="AutoShape 48"/>
            <p:cNvSpPr/>
            <p:nvPr/>
          </p:nvSpPr>
          <p:spPr>
            <a:xfrm>
              <a:off x="811670" y="1623340"/>
              <a:ext cx="1623340" cy="811670"/>
            </a:xfrm>
            <a:prstGeom prst="rect">
              <a:avLst/>
            </a:prstGeom>
            <a:solidFill>
              <a:srgbClr val="BDA565"/>
            </a:solidFill>
          </p:spPr>
          <p:txBody>
            <a:bodyPr/>
            <a:lstStyle/>
            <a:p>
              <a:endParaRPr lang="en-ZA"/>
            </a:p>
          </p:txBody>
        </p:sp>
        <p:sp>
          <p:nvSpPr>
            <p:cNvPr id="49" name="AutoShape 49"/>
            <p:cNvSpPr/>
            <p:nvPr/>
          </p:nvSpPr>
          <p:spPr>
            <a:xfrm>
              <a:off x="4064000" y="1623340"/>
              <a:ext cx="1634641" cy="811670"/>
            </a:xfrm>
            <a:prstGeom prst="rect">
              <a:avLst/>
            </a:prstGeom>
            <a:solidFill>
              <a:srgbClr val="BDA565"/>
            </a:solidFill>
          </p:spPr>
          <p:txBody>
            <a:bodyPr/>
            <a:lstStyle/>
            <a:p>
              <a:endParaRPr lang="en-ZA"/>
            </a:p>
          </p:txBody>
        </p:sp>
        <p:sp>
          <p:nvSpPr>
            <p:cNvPr id="50" name="AutoShape 50"/>
            <p:cNvSpPr/>
            <p:nvPr/>
          </p:nvSpPr>
          <p:spPr>
            <a:xfrm>
              <a:off x="3252330" y="0"/>
              <a:ext cx="811670" cy="811670"/>
            </a:xfrm>
            <a:prstGeom prst="rect">
              <a:avLst/>
            </a:prstGeom>
            <a:solidFill>
              <a:srgbClr val="BDA565"/>
            </a:solidFill>
          </p:spPr>
          <p:txBody>
            <a:bodyPr/>
            <a:lstStyle/>
            <a:p>
              <a:endParaRPr lang="en-ZA"/>
            </a:p>
          </p:txBody>
        </p:sp>
        <p:sp>
          <p:nvSpPr>
            <p:cNvPr id="51" name="AutoShape 51"/>
            <p:cNvSpPr/>
            <p:nvPr/>
          </p:nvSpPr>
          <p:spPr>
            <a:xfrm>
              <a:off x="5692990" y="0"/>
              <a:ext cx="811670" cy="811670"/>
            </a:xfrm>
            <a:prstGeom prst="rect">
              <a:avLst/>
            </a:prstGeom>
            <a:solidFill>
              <a:srgbClr val="BDA565"/>
            </a:solidFill>
          </p:spPr>
          <p:txBody>
            <a:bodyPr/>
            <a:lstStyle/>
            <a:p>
              <a:endParaRPr lang="en-ZA"/>
            </a:p>
          </p:txBody>
        </p:sp>
        <p:sp>
          <p:nvSpPr>
            <p:cNvPr id="52" name="AutoShape 52"/>
            <p:cNvSpPr/>
            <p:nvPr/>
          </p:nvSpPr>
          <p:spPr>
            <a:xfrm>
              <a:off x="4058350" y="811670"/>
              <a:ext cx="811670" cy="811670"/>
            </a:xfrm>
            <a:prstGeom prst="rect">
              <a:avLst/>
            </a:prstGeom>
            <a:solidFill>
              <a:srgbClr val="F7BDB9"/>
            </a:solidFill>
          </p:spPr>
          <p:txBody>
            <a:bodyPr/>
            <a:lstStyle/>
            <a:p>
              <a:endParaRPr lang="en-ZA"/>
            </a:p>
          </p:txBody>
        </p:sp>
        <p:sp>
          <p:nvSpPr>
            <p:cNvPr id="53" name="AutoShape 53"/>
            <p:cNvSpPr/>
            <p:nvPr/>
          </p:nvSpPr>
          <p:spPr>
            <a:xfrm>
              <a:off x="3252330" y="1623340"/>
              <a:ext cx="811670" cy="811670"/>
            </a:xfrm>
            <a:prstGeom prst="rect">
              <a:avLst/>
            </a:prstGeom>
            <a:solidFill>
              <a:srgbClr val="F7BDB9"/>
            </a:solidFill>
          </p:spPr>
          <p:txBody>
            <a:bodyPr/>
            <a:lstStyle/>
            <a:p>
              <a:endParaRPr lang="en-ZA"/>
            </a:p>
          </p:txBody>
        </p:sp>
        <p:sp>
          <p:nvSpPr>
            <p:cNvPr id="54" name="AutoShape 54"/>
            <p:cNvSpPr/>
            <p:nvPr/>
          </p:nvSpPr>
          <p:spPr>
            <a:xfrm>
              <a:off x="1623340" y="0"/>
              <a:ext cx="811670" cy="811670"/>
            </a:xfrm>
            <a:prstGeom prst="rect">
              <a:avLst/>
            </a:prstGeom>
            <a:solidFill>
              <a:srgbClr val="F7BDB9"/>
            </a:solidFill>
          </p:spPr>
          <p:txBody>
            <a:bodyPr/>
            <a:lstStyle/>
            <a:p>
              <a:endParaRPr lang="en-ZA"/>
            </a:p>
          </p:txBody>
        </p:sp>
        <p:sp>
          <p:nvSpPr>
            <p:cNvPr id="55" name="AutoShape 55"/>
            <p:cNvSpPr/>
            <p:nvPr/>
          </p:nvSpPr>
          <p:spPr>
            <a:xfrm>
              <a:off x="7316330" y="811670"/>
              <a:ext cx="811670" cy="811670"/>
            </a:xfrm>
            <a:prstGeom prst="rect">
              <a:avLst/>
            </a:prstGeom>
            <a:solidFill>
              <a:srgbClr val="BDA565"/>
            </a:solidFill>
          </p:spPr>
          <p:txBody>
            <a:bodyPr/>
            <a:lstStyle/>
            <a:p>
              <a:endParaRPr lang="en-ZA"/>
            </a:p>
          </p:txBody>
        </p:sp>
        <p:sp>
          <p:nvSpPr>
            <p:cNvPr id="56" name="AutoShape 56"/>
            <p:cNvSpPr/>
            <p:nvPr/>
          </p:nvSpPr>
          <p:spPr>
            <a:xfrm>
              <a:off x="6504660" y="811670"/>
              <a:ext cx="811670" cy="811670"/>
            </a:xfrm>
            <a:prstGeom prst="rect">
              <a:avLst/>
            </a:prstGeom>
            <a:solidFill>
              <a:srgbClr val="F7BDB9"/>
            </a:solidFill>
          </p:spPr>
          <p:txBody>
            <a:bodyPr/>
            <a:lstStyle/>
            <a:p>
              <a:endParaRPr lang="en-ZA"/>
            </a:p>
          </p:txBody>
        </p:sp>
        <p:sp>
          <p:nvSpPr>
            <p:cNvPr id="57" name="AutoShape 57"/>
            <p:cNvSpPr/>
            <p:nvPr/>
          </p:nvSpPr>
          <p:spPr>
            <a:xfrm>
              <a:off x="0" y="811670"/>
              <a:ext cx="1623340" cy="811670"/>
            </a:xfrm>
            <a:prstGeom prst="rect">
              <a:avLst/>
            </a:prstGeom>
            <a:solidFill>
              <a:srgbClr val="F7BDB9"/>
            </a:solidFill>
          </p:spPr>
          <p:txBody>
            <a:bodyPr/>
            <a:lstStyle/>
            <a:p>
              <a:endParaRPr lang="en-ZA"/>
            </a:p>
          </p:txBody>
        </p:sp>
        <p:sp>
          <p:nvSpPr>
            <p:cNvPr id="58" name="AutoShape 58"/>
            <p:cNvSpPr/>
            <p:nvPr/>
          </p:nvSpPr>
          <p:spPr>
            <a:xfrm>
              <a:off x="17067670" y="1623340"/>
              <a:ext cx="1623340" cy="811670"/>
            </a:xfrm>
            <a:prstGeom prst="rect">
              <a:avLst/>
            </a:prstGeom>
            <a:solidFill>
              <a:srgbClr val="BDA565"/>
            </a:solidFill>
          </p:spPr>
          <p:txBody>
            <a:bodyPr/>
            <a:lstStyle/>
            <a:p>
              <a:endParaRPr lang="en-ZA"/>
            </a:p>
          </p:txBody>
        </p:sp>
        <p:sp>
          <p:nvSpPr>
            <p:cNvPr id="59" name="AutoShape 59"/>
            <p:cNvSpPr/>
            <p:nvPr/>
          </p:nvSpPr>
          <p:spPr>
            <a:xfrm>
              <a:off x="20320000" y="1623340"/>
              <a:ext cx="1634641" cy="811670"/>
            </a:xfrm>
            <a:prstGeom prst="rect">
              <a:avLst/>
            </a:prstGeom>
            <a:solidFill>
              <a:srgbClr val="BDA565"/>
            </a:solidFill>
          </p:spPr>
          <p:txBody>
            <a:bodyPr/>
            <a:lstStyle/>
            <a:p>
              <a:endParaRPr lang="en-ZA"/>
            </a:p>
          </p:txBody>
        </p:sp>
        <p:sp>
          <p:nvSpPr>
            <p:cNvPr id="60" name="AutoShape 60"/>
            <p:cNvSpPr/>
            <p:nvPr/>
          </p:nvSpPr>
          <p:spPr>
            <a:xfrm>
              <a:off x="19508330" y="0"/>
              <a:ext cx="811670" cy="811670"/>
            </a:xfrm>
            <a:prstGeom prst="rect">
              <a:avLst/>
            </a:prstGeom>
            <a:solidFill>
              <a:srgbClr val="BDA565"/>
            </a:solidFill>
          </p:spPr>
          <p:txBody>
            <a:bodyPr/>
            <a:lstStyle/>
            <a:p>
              <a:endParaRPr lang="en-ZA"/>
            </a:p>
          </p:txBody>
        </p:sp>
        <p:sp>
          <p:nvSpPr>
            <p:cNvPr id="61" name="AutoShape 61"/>
            <p:cNvSpPr/>
            <p:nvPr/>
          </p:nvSpPr>
          <p:spPr>
            <a:xfrm>
              <a:off x="21948990" y="0"/>
              <a:ext cx="811670" cy="811670"/>
            </a:xfrm>
            <a:prstGeom prst="rect">
              <a:avLst/>
            </a:prstGeom>
            <a:solidFill>
              <a:srgbClr val="BDA565"/>
            </a:solidFill>
          </p:spPr>
          <p:txBody>
            <a:bodyPr/>
            <a:lstStyle/>
            <a:p>
              <a:endParaRPr lang="en-ZA"/>
            </a:p>
          </p:txBody>
        </p:sp>
        <p:sp>
          <p:nvSpPr>
            <p:cNvPr id="62" name="AutoShape 62"/>
            <p:cNvSpPr/>
            <p:nvPr/>
          </p:nvSpPr>
          <p:spPr>
            <a:xfrm>
              <a:off x="20314350" y="811670"/>
              <a:ext cx="811670" cy="811670"/>
            </a:xfrm>
            <a:prstGeom prst="rect">
              <a:avLst/>
            </a:prstGeom>
            <a:solidFill>
              <a:srgbClr val="F7BDB9"/>
            </a:solidFill>
          </p:spPr>
          <p:txBody>
            <a:bodyPr/>
            <a:lstStyle/>
            <a:p>
              <a:endParaRPr lang="en-ZA"/>
            </a:p>
          </p:txBody>
        </p:sp>
        <p:sp>
          <p:nvSpPr>
            <p:cNvPr id="63" name="AutoShape 63"/>
            <p:cNvSpPr/>
            <p:nvPr/>
          </p:nvSpPr>
          <p:spPr>
            <a:xfrm>
              <a:off x="19508330" y="1623340"/>
              <a:ext cx="811670" cy="811670"/>
            </a:xfrm>
            <a:prstGeom prst="rect">
              <a:avLst/>
            </a:prstGeom>
            <a:solidFill>
              <a:srgbClr val="F7BDB9"/>
            </a:solidFill>
          </p:spPr>
          <p:txBody>
            <a:bodyPr/>
            <a:lstStyle/>
            <a:p>
              <a:endParaRPr lang="en-ZA"/>
            </a:p>
          </p:txBody>
        </p:sp>
        <p:sp>
          <p:nvSpPr>
            <p:cNvPr id="64" name="AutoShape 64"/>
            <p:cNvSpPr/>
            <p:nvPr/>
          </p:nvSpPr>
          <p:spPr>
            <a:xfrm>
              <a:off x="17879340" y="0"/>
              <a:ext cx="811670" cy="811670"/>
            </a:xfrm>
            <a:prstGeom prst="rect">
              <a:avLst/>
            </a:prstGeom>
            <a:solidFill>
              <a:srgbClr val="F7BDB9"/>
            </a:solidFill>
          </p:spPr>
          <p:txBody>
            <a:bodyPr/>
            <a:lstStyle/>
            <a:p>
              <a:endParaRPr lang="en-ZA"/>
            </a:p>
          </p:txBody>
        </p:sp>
        <p:sp>
          <p:nvSpPr>
            <p:cNvPr id="65" name="AutoShape 65"/>
            <p:cNvSpPr/>
            <p:nvPr/>
          </p:nvSpPr>
          <p:spPr>
            <a:xfrm>
              <a:off x="23572330" y="811670"/>
              <a:ext cx="811670" cy="811670"/>
            </a:xfrm>
            <a:prstGeom prst="rect">
              <a:avLst/>
            </a:prstGeom>
            <a:solidFill>
              <a:srgbClr val="BDA565"/>
            </a:solidFill>
          </p:spPr>
          <p:txBody>
            <a:bodyPr/>
            <a:lstStyle/>
            <a:p>
              <a:endParaRPr lang="en-ZA"/>
            </a:p>
          </p:txBody>
        </p:sp>
        <p:sp>
          <p:nvSpPr>
            <p:cNvPr id="66" name="AutoShape 66"/>
            <p:cNvSpPr/>
            <p:nvPr/>
          </p:nvSpPr>
          <p:spPr>
            <a:xfrm>
              <a:off x="22760660" y="811670"/>
              <a:ext cx="811670" cy="811670"/>
            </a:xfrm>
            <a:prstGeom prst="rect">
              <a:avLst/>
            </a:prstGeom>
            <a:solidFill>
              <a:srgbClr val="F7BDB9"/>
            </a:solidFill>
          </p:spPr>
          <p:txBody>
            <a:bodyPr/>
            <a:lstStyle/>
            <a:p>
              <a:endParaRPr lang="en-ZA"/>
            </a:p>
          </p:txBody>
        </p:sp>
        <p:sp>
          <p:nvSpPr>
            <p:cNvPr id="67" name="AutoShape 67"/>
            <p:cNvSpPr/>
            <p:nvPr/>
          </p:nvSpPr>
          <p:spPr>
            <a:xfrm>
              <a:off x="16256000" y="811670"/>
              <a:ext cx="1623340" cy="811670"/>
            </a:xfrm>
            <a:prstGeom prst="rect">
              <a:avLst/>
            </a:prstGeom>
            <a:solidFill>
              <a:srgbClr val="F7BDB9"/>
            </a:solidFill>
          </p:spPr>
          <p:txBody>
            <a:bodyPr/>
            <a:lstStyle/>
            <a:p>
              <a:endParaRPr lang="en-ZA"/>
            </a:p>
          </p:txBody>
        </p:sp>
      </p:grpSp>
      <p:sp>
        <p:nvSpPr>
          <p:cNvPr id="68" name="TextBox 68"/>
          <p:cNvSpPr txBox="1"/>
          <p:nvPr/>
        </p:nvSpPr>
        <p:spPr>
          <a:xfrm>
            <a:off x="9139238" y="4819967"/>
            <a:ext cx="9525" cy="580390"/>
          </a:xfrm>
          <a:prstGeom prst="rect">
            <a:avLst/>
          </a:prstGeom>
        </p:spPr>
        <p:txBody>
          <a:bodyPr lIns="0" tIns="0" rIns="0" bIns="0" rtlCol="0" anchor="t">
            <a:spAutoFit/>
          </a:bodyPr>
          <a:lstStyle/>
          <a:p>
            <a:pPr algn="ctr">
              <a:lnSpc>
                <a:spcPts val="4759"/>
              </a:lnSpc>
            </a:pPr>
            <a:endParaRPr/>
          </a:p>
        </p:txBody>
      </p:sp>
      <p:sp>
        <p:nvSpPr>
          <p:cNvPr id="69" name="TextBox 69"/>
          <p:cNvSpPr txBox="1"/>
          <p:nvPr/>
        </p:nvSpPr>
        <p:spPr>
          <a:xfrm>
            <a:off x="176218" y="2364510"/>
            <a:ext cx="18111782" cy="7924542"/>
          </a:xfrm>
          <a:prstGeom prst="rect">
            <a:avLst/>
          </a:prstGeom>
        </p:spPr>
        <p:txBody>
          <a:bodyPr lIns="0" tIns="0" rIns="0" bIns="0" rtlCol="0" anchor="t">
            <a:spAutoFit/>
          </a:bodyPr>
          <a:lstStyle/>
          <a:p>
            <a:pPr marL="489503" lvl="1" indent="-244751" algn="ctr">
              <a:lnSpc>
                <a:spcPts val="3174"/>
              </a:lnSpc>
              <a:buFont typeface="Arial"/>
              <a:buChar char="•"/>
            </a:pPr>
            <a:r>
              <a:rPr lang="en-US" sz="2267" dirty="0">
                <a:solidFill>
                  <a:srgbClr val="201702"/>
                </a:solidFill>
                <a:latin typeface="Canva Sans"/>
                <a:ea typeface="Canva Sans"/>
                <a:cs typeface="Canva Sans"/>
                <a:sym typeface="Canva Sans"/>
              </a:rPr>
              <a:t>Han, Y., Guo, L. and Guo, Y., 2024. Interactive medical and safety monitoring in clinical trials. Contemporary Clinical Trials Communications, 36, p.101228. Available at: </a:t>
            </a:r>
            <a:r>
              <a:rPr lang="en-US" sz="2267" u="sng" dirty="0">
                <a:solidFill>
                  <a:srgbClr val="201702"/>
                </a:solidFill>
                <a:latin typeface="Canva Sans"/>
                <a:ea typeface="Canva Sans"/>
                <a:cs typeface="Canva Sans"/>
                <a:sym typeface="Canva Sans"/>
                <a:hlinkClick r:id="rId2" tooltip="https://pmc.ncbi.nlm.nih.gov/articles/PMC11271019/?utm_source=chatgpt.com"/>
              </a:rPr>
              <a:t>https://pmc.ncbi.nlm.nih.gov/articles/PMC11271019/</a:t>
            </a:r>
            <a:r>
              <a:rPr lang="en-US" sz="2267" dirty="0">
                <a:solidFill>
                  <a:srgbClr val="201702"/>
                </a:solidFill>
                <a:latin typeface="Canva Sans"/>
                <a:ea typeface="Canva Sans"/>
                <a:cs typeface="Canva Sans"/>
                <a:sym typeface="Canva Sans"/>
              </a:rPr>
              <a:t> .</a:t>
            </a:r>
          </a:p>
          <a:p>
            <a:pPr marL="489503" lvl="1" indent="-244751" algn="ctr">
              <a:lnSpc>
                <a:spcPts val="3174"/>
              </a:lnSpc>
              <a:buFont typeface="Arial"/>
              <a:buChar char="•"/>
            </a:pPr>
            <a:r>
              <a:rPr lang="en-US" sz="2267" dirty="0">
                <a:solidFill>
                  <a:srgbClr val="201702"/>
                </a:solidFill>
                <a:latin typeface="Canva Sans"/>
                <a:ea typeface="Canva Sans"/>
                <a:cs typeface="Canva Sans"/>
                <a:sym typeface="Canva Sans"/>
              </a:rPr>
              <a:t>Liu, A., Wong, W.K. and Zhao, Y., 2023. The evolving role of data and safety monitoring boards for modern clinical trials. Contemporary Clinical Trials, 129, p.107218. Available at: </a:t>
            </a:r>
            <a:r>
              <a:rPr lang="en-US" sz="2267" u="sng" dirty="0">
                <a:solidFill>
                  <a:srgbClr val="201702"/>
                </a:solidFill>
                <a:latin typeface="Canva Sans"/>
                <a:ea typeface="Canva Sans"/>
                <a:cs typeface="Canva Sans"/>
                <a:sym typeface="Canva Sans"/>
                <a:hlinkClick r:id="rId3" tooltip="https://pmc.ncbi.nlm.nih.gov/articles/PMC10514684/?utm_source=chatgpt.com"/>
              </a:rPr>
              <a:t>https://pmc.ncbi.nlm.nih.gov/articles/PMC10514684/</a:t>
            </a:r>
            <a:r>
              <a:rPr lang="en-US" sz="2267" dirty="0">
                <a:solidFill>
                  <a:srgbClr val="201702"/>
                </a:solidFill>
                <a:latin typeface="Canva Sans"/>
                <a:ea typeface="Canva Sans"/>
                <a:cs typeface="Canva Sans"/>
                <a:sym typeface="Canva Sans"/>
              </a:rPr>
              <a:t> </a:t>
            </a:r>
          </a:p>
          <a:p>
            <a:pPr marL="489503" lvl="1" indent="-244751" algn="ctr">
              <a:lnSpc>
                <a:spcPts val="3174"/>
              </a:lnSpc>
              <a:buFont typeface="Arial"/>
              <a:buChar char="•"/>
            </a:pPr>
            <a:r>
              <a:rPr lang="en-US" sz="2267" dirty="0">
                <a:solidFill>
                  <a:srgbClr val="201702"/>
                </a:solidFill>
                <a:latin typeface="Canva Sans"/>
                <a:ea typeface="Canva Sans"/>
                <a:cs typeface="Canva Sans"/>
                <a:sym typeface="Canva Sans"/>
              </a:rPr>
              <a:t>UCLA Research Administration, 2023. Data and Safety Monitoring for Clinical Trials. University of California Los Angeles. Available at: </a:t>
            </a:r>
            <a:r>
              <a:rPr lang="en-US" sz="2267" u="sng" dirty="0">
                <a:solidFill>
                  <a:srgbClr val="201702"/>
                </a:solidFill>
                <a:latin typeface="Canva Sans"/>
                <a:ea typeface="Canva Sans"/>
                <a:cs typeface="Canva Sans"/>
                <a:sym typeface="Canva Sans"/>
                <a:hlinkClick r:id="rId4" tooltip="https://www.researchgo.ucla.edu/data-safety-monitoring-clinical-trials?utm_source=chatgpt.com"/>
              </a:rPr>
              <a:t>https://www.researchgo.ucla.edu/data-safety-monitoring-clinical-tria</a:t>
            </a:r>
          </a:p>
          <a:p>
            <a:pPr marL="489503" lvl="1" indent="-244751" algn="ctr">
              <a:lnSpc>
                <a:spcPts val="3174"/>
              </a:lnSpc>
              <a:buFont typeface="Arial"/>
              <a:buChar char="•"/>
            </a:pPr>
            <a:r>
              <a:rPr lang="en-US" sz="2267" dirty="0">
                <a:solidFill>
                  <a:srgbClr val="201702"/>
                </a:solidFill>
                <a:latin typeface="Canva Sans"/>
                <a:ea typeface="Canva Sans"/>
                <a:cs typeface="Canva Sans"/>
                <a:sym typeface="Canva Sans"/>
              </a:rPr>
              <a:t>University of California Irvine, 2023. Data and Safety Monitoring for Clinical Research. Available at: </a:t>
            </a:r>
            <a:r>
              <a:rPr lang="en-US" sz="2267" u="sng" dirty="0">
                <a:solidFill>
                  <a:srgbClr val="201702"/>
                </a:solidFill>
                <a:latin typeface="Canva Sans"/>
                <a:ea typeface="Canva Sans"/>
                <a:cs typeface="Canva Sans"/>
                <a:sym typeface="Canva Sans"/>
                <a:hlinkClick r:id="rId5" tooltip="https://research.uci.edu/human-research-protections/clinical-research/data-and-safety-monitoring-for-clinical-research/?utm_source=chatgpt.com"/>
              </a:rPr>
              <a:t>https://research.uci.edu/human-research-protections/clinical-research/data-and-safety-monitoring-for-clinical-research</a:t>
            </a:r>
          </a:p>
          <a:p>
            <a:pPr marL="489503" lvl="1" indent="-244751" algn="ctr">
              <a:lnSpc>
                <a:spcPts val="3174"/>
              </a:lnSpc>
              <a:buFont typeface="Arial"/>
              <a:buChar char="•"/>
            </a:pPr>
            <a:r>
              <a:rPr lang="en-US" sz="2267" dirty="0">
                <a:solidFill>
                  <a:srgbClr val="201702"/>
                </a:solidFill>
                <a:latin typeface="Canva Sans"/>
                <a:ea typeface="Canva Sans"/>
                <a:cs typeface="Canva Sans"/>
                <a:sym typeface="Canva Sans"/>
              </a:rPr>
              <a:t>Mayo Clinic, 2023. Data and Safety Monitoring Guidelines. Mayo Clinic Research. Available at: </a:t>
            </a:r>
            <a:r>
              <a:rPr lang="en-US" sz="2267" u="sng" dirty="0">
                <a:solidFill>
                  <a:srgbClr val="201702"/>
                </a:solidFill>
                <a:latin typeface="Canva Sans"/>
                <a:ea typeface="Canva Sans"/>
                <a:cs typeface="Canva Sans"/>
                <a:sym typeface="Canva Sans"/>
                <a:hlinkClick r:id="rId6" tooltip="https://www.mayo.edu/research/documents/43-data-and-safety-monitoring-guidelinespdf/doc-10026780?utm_source=chatgpt.com"/>
              </a:rPr>
              <a:t>https://www.mayo.edu/research/documents/43-data-and-safety-monitoring-guidelinespdf/doc-10026780</a:t>
            </a:r>
            <a:r>
              <a:rPr lang="en-US" sz="2267" dirty="0">
                <a:solidFill>
                  <a:srgbClr val="201702"/>
                </a:solidFill>
                <a:latin typeface="Canva Sans"/>
                <a:ea typeface="Canva Sans"/>
                <a:cs typeface="Canva Sans"/>
                <a:sym typeface="Canva Sans"/>
              </a:rPr>
              <a:t> </a:t>
            </a:r>
          </a:p>
          <a:p>
            <a:pPr marL="489503" lvl="1" indent="-244751" algn="ctr">
              <a:lnSpc>
                <a:spcPts val="3174"/>
              </a:lnSpc>
              <a:buFont typeface="Arial"/>
              <a:buChar char="•"/>
            </a:pPr>
            <a:r>
              <a:rPr lang="en-US" sz="2267" dirty="0">
                <a:solidFill>
                  <a:srgbClr val="201702"/>
                </a:solidFill>
                <a:latin typeface="Canva Sans"/>
                <a:ea typeface="Canva Sans"/>
                <a:cs typeface="Canva Sans"/>
                <a:sym typeface="Canva Sans"/>
              </a:rPr>
              <a:t>Hawkins, A.J., 2023. AAA study finds drivers improve after using smartphone monitoring apps. The Verge. Available at: </a:t>
            </a:r>
            <a:r>
              <a:rPr lang="en-US" sz="2267" u="sng" dirty="0">
                <a:solidFill>
                  <a:srgbClr val="201702"/>
                </a:solidFill>
                <a:latin typeface="Canva Sans"/>
                <a:ea typeface="Canva Sans"/>
                <a:cs typeface="Canva Sans"/>
                <a:sym typeface="Canva Sans"/>
                <a:hlinkClick r:id="rId7" tooltip="https://www.theverge.com/news/642121/driving-smartphone-app-track-safety-ubi-aaa-research?utm_source=chatgpt.com"/>
              </a:rPr>
              <a:t>https://www.theverge.com/news/642121/driving-smartphone-app-track-safety-ubi-aaa-resear</a:t>
            </a:r>
            <a:r>
              <a:rPr lang="en-US" sz="2267" dirty="0">
                <a:solidFill>
                  <a:srgbClr val="201702"/>
                </a:solidFill>
                <a:latin typeface="Canva Sans"/>
                <a:ea typeface="Canva Sans"/>
                <a:cs typeface="Canva Sans"/>
                <a:sym typeface="Canva Sans"/>
              </a:rPr>
              <a:t>.</a:t>
            </a:r>
          </a:p>
          <a:p>
            <a:pPr marL="489503" lvl="1" indent="-244751" algn="ctr">
              <a:lnSpc>
                <a:spcPts val="3174"/>
              </a:lnSpc>
              <a:buFont typeface="Arial"/>
              <a:buChar char="•"/>
            </a:pPr>
            <a:r>
              <a:rPr lang="en-US" sz="2267" dirty="0" err="1">
                <a:solidFill>
                  <a:srgbClr val="201702"/>
                </a:solidFill>
                <a:latin typeface="Canva Sans"/>
                <a:ea typeface="Canva Sans"/>
                <a:cs typeface="Canva Sans"/>
                <a:sym typeface="Canva Sans"/>
              </a:rPr>
              <a:t>Huckvale</a:t>
            </a:r>
            <a:r>
              <a:rPr lang="en-US" sz="2267" dirty="0">
                <a:solidFill>
                  <a:srgbClr val="201702"/>
                </a:solidFill>
                <a:latin typeface="Canva Sans"/>
                <a:ea typeface="Canva Sans"/>
                <a:cs typeface="Canva Sans"/>
                <a:sym typeface="Canva Sans"/>
              </a:rPr>
              <a:t>, K., </a:t>
            </a:r>
            <a:r>
              <a:rPr lang="en-US" sz="2267" dirty="0" err="1">
                <a:solidFill>
                  <a:srgbClr val="201702"/>
                </a:solidFill>
                <a:latin typeface="Canva Sans"/>
                <a:ea typeface="Canva Sans"/>
                <a:cs typeface="Canva Sans"/>
                <a:sym typeface="Canva Sans"/>
              </a:rPr>
              <a:t>Torous</a:t>
            </a:r>
            <a:r>
              <a:rPr lang="en-US" sz="2267" dirty="0">
                <a:solidFill>
                  <a:srgbClr val="201702"/>
                </a:solidFill>
                <a:latin typeface="Canva Sans"/>
                <a:ea typeface="Canva Sans"/>
                <a:cs typeface="Canva Sans"/>
                <a:sym typeface="Canva Sans"/>
              </a:rPr>
              <a:t>, J. and Larsen, M.E., 2020. Assessment of the clinical risks of mobile health apps: a systematic review. Journal of the American Medical Informatics Association, 27(2), pp.330–340. Available at: </a:t>
            </a:r>
            <a:r>
              <a:rPr lang="en-US" sz="2267" u="sng" dirty="0">
                <a:solidFill>
                  <a:srgbClr val="201702"/>
                </a:solidFill>
                <a:latin typeface="Canva Sans"/>
                <a:ea typeface="Canva Sans"/>
                <a:cs typeface="Canva Sans"/>
                <a:sym typeface="Canva Sans"/>
                <a:hlinkClick r:id="rId8" tooltip="https://academic.oup.com/jamia/article/27/2/330/5585394?utm_source=chatgpt.com"/>
              </a:rPr>
              <a:t>https://academic.oup.com/jamia/article/27/2/330/5585</a:t>
            </a:r>
          </a:p>
          <a:p>
            <a:pPr marL="726987" lvl="1" indent="-363493" algn="ctr">
              <a:lnSpc>
                <a:spcPts val="4714"/>
              </a:lnSpc>
              <a:buFont typeface="Arial"/>
              <a:buChar char="•"/>
            </a:pPr>
            <a:r>
              <a:rPr lang="en-US" sz="3367" dirty="0">
                <a:solidFill>
                  <a:srgbClr val="201702"/>
                </a:solidFill>
                <a:latin typeface="Canva Sans"/>
                <a:ea typeface="Canva Sans"/>
                <a:cs typeface="Canva Sans"/>
                <a:sym typeface="Canva Sans"/>
              </a:rPr>
              <a:t> </a:t>
            </a:r>
            <a:r>
              <a:rPr lang="en-US" sz="2267" dirty="0">
                <a:solidFill>
                  <a:srgbClr val="201702"/>
                </a:solidFill>
                <a:latin typeface="Canva Sans"/>
                <a:sym typeface="Canva Sans"/>
              </a:rPr>
              <a:t>compliance in Android mHealth apps: a cross-sectional study. </a:t>
            </a:r>
            <a:r>
              <a:rPr lang="en-US" sz="2267" dirty="0" err="1">
                <a:solidFill>
                  <a:srgbClr val="201702"/>
                </a:solidFill>
                <a:latin typeface="Canva Sans"/>
                <a:sym typeface="Canva Sans"/>
              </a:rPr>
              <a:t>arXiv</a:t>
            </a:r>
            <a:r>
              <a:rPr lang="en-US" sz="2267" dirty="0">
                <a:solidFill>
                  <a:srgbClr val="201702"/>
                </a:solidFill>
                <a:latin typeface="Canva Sans"/>
                <a:sym typeface="Canva Sans"/>
              </a:rPr>
              <a:t> preprint arXiv:2008.05864. Available at: </a:t>
            </a:r>
            <a:r>
              <a:rPr lang="en-US" sz="2267" dirty="0">
                <a:solidFill>
                  <a:srgbClr val="201702"/>
                </a:solidFill>
                <a:latin typeface="Canva Sans"/>
                <a:sym typeface="Canva Sans"/>
                <a:hlinkClick r:id="rId9" tooltip="https://arxiv.org/abs/2008.05864?utm_source=chatgpt.com">
                  <a:extLst>
                    <a:ext uri="{A12FA001-AC4F-418D-AE19-62706E023703}">
                      <ahyp:hlinkClr xmlns:ahyp="http://schemas.microsoft.com/office/drawing/2018/hyperlinkcolor" val="tx"/>
                    </a:ext>
                  </a:extLst>
                </a:hlinkClick>
              </a:rPr>
              <a:t>https://arxiv.org/abs/2008.05864</a:t>
            </a:r>
            <a:r>
              <a:rPr lang="en-US" sz="2267" dirty="0">
                <a:solidFill>
                  <a:srgbClr val="201702"/>
                </a:solidFill>
                <a:latin typeface="Canva Sans"/>
                <a:sym typeface="Canva Sans"/>
              </a:rPr>
              <a:t> [Accessed 1 September 2025].</a:t>
            </a:r>
          </a:p>
          <a:p>
            <a:pPr algn="ctr">
              <a:lnSpc>
                <a:spcPts val="4714"/>
              </a:lnSpc>
            </a:pPr>
            <a:endParaRPr lang="en-US" sz="3367" dirty="0">
              <a:solidFill>
                <a:srgbClr val="201702"/>
              </a:solidFill>
              <a:latin typeface="Canva Sans"/>
              <a:ea typeface="Canva Sans"/>
              <a:cs typeface="Canva Sans"/>
              <a:sym typeface="Canva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TotalTime>
  <Words>867</Words>
  <Application>Microsoft Office PowerPoint</Application>
  <PresentationFormat>Custom</PresentationFormat>
  <Paragraphs>59</Paragraphs>
  <Slides>10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Roboto Mono Bold</vt:lpstr>
      <vt:lpstr>Canva Sans</vt:lpstr>
      <vt:lpstr>Canva Sans Bold</vt:lpstr>
      <vt:lpstr>Lekton Bold</vt:lpstr>
      <vt:lpstr>Lekton</vt: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Campus Safety Monitoring System</dc:title>
  <dc:description>Presentation - Campus Safety Monitoring System</dc:description>
  <cp:lastModifiedBy>Mahlatsi Malise Mashilo</cp:lastModifiedBy>
  <cp:revision>2</cp:revision>
  <dcterms:created xsi:type="dcterms:W3CDTF">2006-08-16T00:00:00Z</dcterms:created>
  <dcterms:modified xsi:type="dcterms:W3CDTF">2025-10-13T13:39:22Z</dcterms:modified>
  <dc:identifier>DAGxvCRx74A</dc:identifier>
</cp:coreProperties>
</file>